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Úvod a epidemiologie" id="{9bcbf7f5-795b-32e7-b436-29f2e2db80cb}">
          <p14:sldIdLst>
            <p14:sldId id="256"/>
            <p14:sldId id="257"/>
            <p14:sldId id="258"/>
          </p14:sldIdLst>
        </p14:section>
        <p14:section name="Patofyziologie a obousměrnost" id="{e360843a-299d-38c2-9112-b8107b27b98b}">
          <p14:sldIdLst>
            <p14:sldId id="259"/>
            <p14:sldId id="260"/>
            <p14:sldId id="261"/>
          </p14:sldIdLst>
        </p14:section>
        <p14:section name="Observační evidence" id="{ba41a615-86c4-345a-7c94-3707b523b336}">
          <p14:sldIdLst>
            <p14:sldId id="262"/>
            <p14:sldId id="263"/>
            <p14:sldId id="264"/>
          </p14:sldIdLst>
        </p14:section>
        <p14:section name="Intervence" id="{db0010f2-19a4-a600-fa98-4c3c923a8dbf}">
          <p14:sldIdLst>
            <p14:sldId id="265"/>
            <p14:sldId id="266"/>
            <p14:sldId id="267"/>
            <p14:sldId id="268"/>
            <p14:sldId id="269"/>
          </p14:sldIdLst>
        </p14:section>
        <p14:section name="Tvrdé KV outcomy" id="{9bf2a84d-c4d9-43c4-7cb4-fb4d7ec881f2}">
          <p14:sldIdLst>
            <p14:sldId id="270"/>
            <p14:sldId id="271"/>
            <p14:sldId id="272"/>
          </p14:sldIdLst>
        </p14:section>
        <p14:section name="Klinická praxe" id="{082f539f-c96b-4781-1092-efb606865210}">
          <p14:sldIdLst>
            <p14:sldId id="273"/>
            <p14:sldId id="274"/>
          </p14:sldIdLst>
        </p14:section>
        <p14:section name="Vlastní data CPM" id="{35cd5a96-9e69-ab42-7352-058a53c1aad2}">
          <p14:sldIdLst>
            <p14:sldId id="275"/>
            <p14:sldId id="276"/>
          </p14:sldIdLst>
        </p14:section>
        <p14:section name="Závěr" id="{d82b5fb0-7490-c605-b4d6-4ddc47dcc3a4}">
          <p14:sldIdLst>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Prevalence (%)</c:v>
                </c:pt>
              </c:strCache>
            </c:strRef>
          </c:tx>
          <c:spPr>
            <a:solidFill>
              <a:srgbClr val="C8553D"/>
            </a:solidFill>
            <a:effectLst/>
          </c:spPr>
          <c:invertIfNegative val="0"/>
          <c:dLbls>
            <c:numFmt formatCode="0&quot;%&quot;"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C8553D"/>
              </a:solidFill>
              <a:effectLst/>
            </c:spPr>
          </c:dPt>
          <c:dPt>
            <c:idx val="2"/>
            <c:invertIfNegative val="0"/>
            <c:bubble3D val="0"/>
            <c:spPr>
              <a:solidFill>
                <a:srgbClr val="2A9D8F"/>
              </a:solidFill>
              <a:effectLst/>
            </c:spPr>
          </c:dPt>
          <c:dPt>
            <c:idx val="3"/>
            <c:invertIfNegative val="0"/>
            <c:bubble3D val="0"/>
            <c:spPr>
              <a:solidFill>
                <a:srgbClr val="8D99AE"/>
              </a:solidFill>
              <a:effectLst/>
            </c:spPr>
          </c:dPt>
          <c:dPt>
            <c:idx val="4"/>
            <c:invertIfNegative val="0"/>
            <c:bubble3D val="0"/>
            <c:spPr>
              <a:solidFill>
                <a:srgbClr val="3D5A80"/>
              </a:solidFill>
              <a:effectLst/>
            </c:spPr>
          </c:dPt>
          <c:dPt>
            <c:idx val="5"/>
            <c:invertIfNegative val="0"/>
            <c:bubble3D val="0"/>
            <c:spPr>
              <a:solidFill>
                <a:srgbClr val="8D99AE"/>
              </a:solidFill>
              <a:effectLst/>
            </c:spPr>
          </c:dPt>
          <c:cat>
            <c:multiLvlStrRef>
              <c:f>Sheet1!$A$2:$A$7</c:f>
              <c:multiLvlStrCache>
                <c:ptCount val="6"/>
                <c:lvl>
                  <c:pt idx="0">
                    <c:v>Rezistentní HTN, AHI &gt; 15 (Pedrosa 2011, n = 125)</c:v>
                  </c:pt>
                  <c:pt idx="1">
                    <c:v>Rezistentní HTN, AHI ≥ 10 (Logan 2001, n = 41)</c:v>
                  </c:pt>
                  <c:pt idx="2">
                    <c:v>FS před kardioverzí, Berlin dotazník (Gami 2004, n = 151)</c:v>
                  </c:pt>
                  <c:pt idx="3">
                    <c:v>Kardiologická kontrola, stejný BMI (Gami 2004, n = 312)</c:v>
                  </c:pt>
                  <c:pt idx="4">
                    <c:v>HFrEF – obstrukční SA (Oldenburg 2007, n = 700)</c:v>
                  </c:pt>
                  <c:pt idx="5">
                    <c:v>HFrEF – centrální SA (Oldenburg 2007, n = 700)</c:v>
                  </c:pt>
                </c:lvl>
              </c:multiLvlStrCache>
            </c:multiLvlStrRef>
          </c:cat>
          <c:val>
            <c:numRef>
              <c:f>Sheet1!$B$2:$B$7</c:f>
              <c:numCache>
                <c:formatCode>General</c:formatCode>
                <c:ptCount val="6"/>
                <c:pt idx="0">
                  <c:v>64</c:v>
                </c:pt>
                <c:pt idx="1">
                  <c:v>83</c:v>
                </c:pt>
                <c:pt idx="2">
                  <c:v>49</c:v>
                </c:pt>
                <c:pt idx="3">
                  <c:v>32</c:v>
                </c:pt>
                <c:pt idx="4">
                  <c:v>36</c:v>
                </c:pt>
                <c:pt idx="5">
                  <c:v>40</c:v>
                </c:pt>
              </c:numCache>
            </c:numRef>
          </c:val>
        </c:ser>
        <c:dLbls>
          <c:numFmt formatCode="0&quot;%&quot;"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DE3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D99AE"/>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D5A80"/>
                </a:solidFill>
                <a:latin typeface="+mn-lt"/>
              </a:defRPr>
            </a:pPr>
            <a:r>
              <a:rPr sz="1100" b="0" i="0" u="none" strike="noStrike">
                <a:solidFill>
                  <a:srgbClr val="3D5A80"/>
                </a:solidFill>
                <a:latin typeface="+mn-lt"/>
              </a:rPr>
              <a:t>Prevalence OSA u diabetiků 2. typu</a:t>
            </a:r>
          </a:p>
        </c:rich>
      </c:tx>
      <c:layout/>
      <c:overlay val="0"/>
    </c:title>
    <c:autoTitleDeleted val="0"/>
    <c:plotArea>
      <c:layout/>
      <c:barChart>
        <c:barDir val="bar"/>
        <c:grouping val="clustered"/>
        <c:varyColors val="0"/>
        <c:ser>
          <c:idx val="0"/>
          <c:order val="0"/>
          <c:tx>
            <c:strRef>
              <c:f>Sheet1!$B$1</c:f>
              <c:strCache>
                <c:ptCount val="1"/>
                <c:pt idx="0">
                  <c:v>Prevalence OSA u DM2 (%)</c:v>
                </c:pt>
              </c:strCache>
            </c:strRef>
          </c:tx>
          <c:spPr>
            <a:solidFill>
              <a:srgbClr val="C8553D"/>
            </a:solidFill>
            <a:effectLst/>
          </c:spPr>
          <c:invertIfNegative val="0"/>
          <c:dLbls>
            <c:numFmt formatCode="0&quot;%&quot;"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3D5A80"/>
              </a:solidFill>
              <a:effectLst/>
            </c:spPr>
          </c:dPt>
          <c:dPt>
            <c:idx val="2"/>
            <c:invertIfNegative val="0"/>
            <c:bubble3D val="0"/>
            <c:spPr>
              <a:solidFill>
                <a:srgbClr val="2A9D8F"/>
              </a:solidFill>
              <a:effectLst/>
            </c:spPr>
          </c:dPt>
          <c:dPt>
            <c:idx val="3"/>
            <c:invertIfNegative val="0"/>
            <c:bubble3D val="0"/>
            <c:spPr>
              <a:solidFill>
                <a:srgbClr val="2A9D8F"/>
              </a:solidFill>
              <a:effectLst/>
            </c:spPr>
          </c:dPt>
          <c:cat>
            <c:multiLvlStrRef>
              <c:f>Sheet1!$A$2:$A$5</c:f>
              <c:multiLvlStrCache>
                <c:ptCount val="4"/>
                <c:lvl>
                  <c:pt idx="0">
                    <c:v>Sleep AHEAD, obézní DM2, BMI 36,5, PSG (Foster 2009, n = 305)</c:v>
                  </c:pt>
                  <c:pt idx="1">
                    <c:v>Diabetologická ambulance, AHI ≥ 15 (Einhorn 2007, n = 279)</c:v>
                  </c:pt>
                  <c:pt idx="2">
                    <c:v>MA 23 studií, objektivně potvrzená OSA (Sun 2026)</c:v>
                  </c:pt>
                  <c:pt idx="3">
                    <c:v>MA 23 studií – jen PSG-potvrzená (Sun 2026)</c:v>
                  </c:pt>
                </c:lvl>
              </c:multiLvlStrCache>
            </c:multiLvlStrRef>
          </c:cat>
          <c:val>
            <c:numRef>
              <c:f>Sheet1!$B$2:$B$5</c:f>
              <c:numCache>
                <c:formatCode>General</c:formatCode>
                <c:ptCount val="4"/>
                <c:pt idx="0">
                  <c:v>86.6</c:v>
                </c:pt>
                <c:pt idx="1">
                  <c:v>36</c:v>
                </c:pt>
                <c:pt idx="2">
                  <c:v>37</c:v>
                </c:pt>
                <c:pt idx="3">
                  <c:v>54</c:v>
                </c:pt>
              </c:numCache>
            </c:numRef>
          </c:val>
        </c:ser>
        <c:dLbls>
          <c:numFmt formatCode="0&quot;%&quot;"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DE3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D99AE"/>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3D5A80"/>
                </a:solidFill>
                <a:latin typeface="+mn-lt"/>
              </a:defRPr>
            </a:pPr>
            <a:r>
              <a:rPr sz="1000" b="0" i="0" u="none" strike="noStrike">
                <a:solidFill>
                  <a:srgbClr val="3D5A80"/>
                </a:solidFill>
                <a:latin typeface="+mn-lt"/>
              </a:rPr>
              <a:t>Inzulinová senzitivita S_I (IVGTT, minimal model), (mU/l)⁻¹·min⁻¹</a:t>
            </a:r>
          </a:p>
        </c:rich>
      </c:tx>
      <c:layout/>
      <c:overlay val="0"/>
    </c:title>
    <c:autoTitleDeleted val="0"/>
    <c:plotArea>
      <c:layout/>
      <c:barChart>
        <c:barDir val="col"/>
        <c:grouping val="clustered"/>
        <c:varyColors val="0"/>
        <c:ser>
          <c:idx val="0"/>
          <c:order val="0"/>
          <c:tx>
            <c:strRef>
              <c:f>Sheet1!$B$1</c:f>
              <c:strCache>
                <c:ptCount val="1"/>
                <c:pt idx="0">
                  <c:v>Kontrola / baseline</c:v>
                </c:pt>
              </c:strCache>
            </c:strRef>
          </c:tx>
          <c:spPr>
            <a:solidFill>
              <a:srgbClr val="8D99AE"/>
            </a:solidFill>
            <a:effectLst/>
          </c:spPr>
          <c:invertIfNegative val="0"/>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5 h intermitentní hypoxie
v bdění, n = 13 (Louis 2009)</c:v>
                  </c:pt>
                  <c:pt idx="1">
                    <c:v>2 noci fragmentace spánku,
n = 11 (Stamatakis 2010)</c:v>
                  </c:pt>
                </c:lvl>
              </c:multiLvlStrCache>
            </c:multiLvlStrRef>
          </c:cat>
          <c:val>
            <c:numRef>
              <c:f>Sheet1!$B$2:$B$3</c:f>
              <c:numCache>
                <c:formatCode>General</c:formatCode>
                <c:ptCount val="2"/>
                <c:pt idx="0">
                  <c:v>4.1</c:v>
                </c:pt>
                <c:pt idx="1">
                  <c:v>5.02</c:v>
                </c:pt>
              </c:numCache>
            </c:numRef>
          </c:val>
        </c:ser>
        <c:ser>
          <c:idx val="1"/>
          <c:order val="1"/>
          <c:tx>
            <c:strRef>
              <c:f>Sheet1!$C$1</c:f>
              <c:strCache>
                <c:ptCount val="1"/>
                <c:pt idx="0">
                  <c:v>Expozice</c:v>
                </c:pt>
              </c:strCache>
            </c:strRef>
          </c:tx>
          <c:spPr>
            <a:solidFill>
              <a:srgbClr val="C8553D"/>
            </a:solidFill>
            <a:effectLst/>
          </c:spPr>
          <c:invertIfNegative val="0"/>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5 h intermitentní hypoxie
v bdění, n = 13 (Louis 2009)</c:v>
                  </c:pt>
                  <c:pt idx="1">
                    <c:v>2 noci fragmentace spánku,
n = 11 (Stamatakis 2010)</c:v>
                  </c:pt>
                </c:lvl>
              </c:multiLvlStrCache>
            </c:multiLvlStrRef>
          </c:cat>
          <c:val>
            <c:numRef>
              <c:f>Sheet1!$C$2:$C$3</c:f>
              <c:numCache>
                <c:formatCode>General</c:formatCode>
                <c:ptCount val="2"/>
                <c:pt idx="0">
                  <c:v>3.4</c:v>
                </c:pt>
                <c:pt idx="1">
                  <c:v>3.76</c:v>
                </c:pt>
              </c:numCache>
            </c:numRef>
          </c:val>
        </c:ser>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D99A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3D5A80"/>
                </a:solidFill>
                <a:latin typeface="+mn-lt"/>
              </a:defRPr>
            </a:pPr>
            <a:r>
              <a:rPr sz="1000" b="0" i="0" u="none" strike="noStrike">
                <a:solidFill>
                  <a:srgbClr val="3D5A80"/>
                </a:solidFill>
                <a:latin typeface="+mn-lt"/>
              </a:rPr>
              <a:t>Chirinos 2014 · hmotnost, 24 týdnů (kg)</a:t>
            </a:r>
          </a:p>
        </c:rich>
      </c:tx>
      <c:layout/>
      <c:overlay val="0"/>
    </c:title>
    <c:autoTitleDeleted val="0"/>
    <c:plotArea>
      <c:layout/>
      <c:barChart>
        <c:barDir val="col"/>
        <c:grouping val="clustered"/>
        <c:varyColors val="0"/>
        <c:ser>
          <c:idx val="0"/>
          <c:order val="0"/>
          <c:tx>
            <c:strRef>
              <c:f>Sheet1!$B$1</c:f>
              <c:strCache>
                <c:ptCount val="1"/>
                <c:pt idx="0">
                  <c:v>Změna hmotnosti (kg)</c:v>
                </c:pt>
              </c:strCache>
            </c:strRef>
          </c:tx>
          <c:spPr>
            <a:solidFill>
              <a:srgbClr val="8D99AE"/>
            </a:solidFill>
            <a:effectLst/>
          </c:spPr>
          <c:invertIfNegative val="0"/>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8D99AE"/>
              </a:solidFill>
              <a:effectLst/>
            </c:spPr>
          </c:dPt>
          <c:dPt>
            <c:idx val="1"/>
            <c:invertIfNegative val="0"/>
            <c:bubble3D val="0"/>
            <c:spPr>
              <a:solidFill>
                <a:srgbClr val="2A9D8F"/>
              </a:solidFill>
              <a:effectLst/>
            </c:spPr>
          </c:dPt>
          <c:dPt>
            <c:idx val="2"/>
            <c:invertIfNegative val="0"/>
            <c:bubble3D val="0"/>
            <c:spPr>
              <a:solidFill>
                <a:srgbClr val="3D5A80"/>
              </a:solidFill>
              <a:effectLst/>
            </c:spPr>
          </c:dPt>
          <c:cat>
            <c:multiLvlStrRef>
              <c:f>Sheet1!$A$2:$A$4</c:f>
              <c:multiLvlStrCache>
                <c:ptCount val="3"/>
                <c:lvl>
                  <c:pt idx="0">
                    <c:v>CPAP</c:v>
                  </c:pt>
                  <c:pt idx="1">
                    <c:v>Redukce hmotnosti</c:v>
                  </c:pt>
                  <c:pt idx="2">
                    <c:v>Obojí</c:v>
                  </c:pt>
                </c:lvl>
              </c:multiLvlStrCache>
            </c:multiLvlStrRef>
          </c:cat>
          <c:val>
            <c:numRef>
              <c:f>Sheet1!$B$2:$B$4</c:f>
              <c:numCache>
                <c:formatCode>General</c:formatCode>
                <c:ptCount val="3"/>
                <c:pt idx="0">
                  <c:v>0</c:v>
                </c:pt>
                <c:pt idx="1">
                  <c:v>-6.8</c:v>
                </c:pt>
                <c:pt idx="2">
                  <c:v>-7</c:v>
                </c:pt>
              </c:numCache>
            </c:numRef>
          </c:val>
        </c:ser>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
          <c:min val="-8"/>
        </c:scaling>
        <c:delete val="0"/>
        <c:axPos val="l"/>
        <c:majorGridlines>
          <c:spPr>
            <a:ln w="635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D99A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3D5A80"/>
                </a:solidFill>
                <a:latin typeface="+mn-lt"/>
              </a:defRPr>
            </a:pPr>
            <a:r>
              <a:rPr sz="1000" b="0" i="0" u="none" strike="noStrike">
                <a:solidFill>
                  <a:srgbClr val="3D5A80"/>
                </a:solidFill>
                <a:latin typeface="+mn-lt"/>
              </a:rPr>
              <a:t>Chirinos 2014 · STK per-protokol (mm Hg)</a:t>
            </a:r>
          </a:p>
        </c:rich>
      </c:tx>
      <c:layout/>
      <c:overlay val="0"/>
    </c:title>
    <c:autoTitleDeleted val="0"/>
    <c:plotArea>
      <c:layout/>
      <c:barChart>
        <c:barDir val="col"/>
        <c:grouping val="clustered"/>
        <c:varyColors val="0"/>
        <c:ser>
          <c:idx val="0"/>
          <c:order val="0"/>
          <c:tx>
            <c:strRef>
              <c:f>Sheet1!$B$1</c:f>
              <c:strCache>
                <c:ptCount val="1"/>
                <c:pt idx="0">
                  <c:v>Změna STK (mm Hg)</c:v>
                </c:pt>
              </c:strCache>
            </c:strRef>
          </c:tx>
          <c:spPr>
            <a:solidFill>
              <a:srgbClr val="8D99AE"/>
            </a:solidFill>
            <a:effectLst/>
          </c:spPr>
          <c:invertIfNegative val="0"/>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8D99AE"/>
              </a:solidFill>
              <a:effectLst/>
            </c:spPr>
          </c:dPt>
          <c:dPt>
            <c:idx val="1"/>
            <c:invertIfNegative val="0"/>
            <c:bubble3D val="0"/>
            <c:spPr>
              <a:solidFill>
                <a:srgbClr val="2A9D8F"/>
              </a:solidFill>
              <a:effectLst/>
            </c:spPr>
          </c:dPt>
          <c:dPt>
            <c:idx val="2"/>
            <c:invertIfNegative val="0"/>
            <c:bubble3D val="0"/>
            <c:spPr>
              <a:solidFill>
                <a:srgbClr val="3D5A80"/>
              </a:solidFill>
              <a:effectLst/>
            </c:spPr>
          </c:dPt>
          <c:cat>
            <c:multiLvlStrRef>
              <c:f>Sheet1!$A$2:$A$4</c:f>
              <c:multiLvlStrCache>
                <c:ptCount val="3"/>
                <c:lvl>
                  <c:pt idx="0">
                    <c:v>CPAP</c:v>
                  </c:pt>
                  <c:pt idx="1">
                    <c:v>Redukce hmotnosti</c:v>
                  </c:pt>
                  <c:pt idx="2">
                    <c:v>Obojí</c:v>
                  </c:pt>
                </c:lvl>
              </c:multiLvlStrCache>
            </c:multiLvlStrRef>
          </c:cat>
          <c:val>
            <c:numRef>
              <c:f>Sheet1!$B$2:$B$4</c:f>
              <c:numCache>
                <c:formatCode>General</c:formatCode>
                <c:ptCount val="3"/>
                <c:pt idx="0">
                  <c:v>-3</c:v>
                </c:pt>
                <c:pt idx="1">
                  <c:v>-6.8</c:v>
                </c:pt>
                <c:pt idx="2">
                  <c:v>-14.1</c:v>
                </c:pt>
              </c:numCache>
            </c:numRef>
          </c:val>
        </c:ser>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
          <c:min val="-16"/>
        </c:scaling>
        <c:delete val="0"/>
        <c:axPos val="l"/>
        <c:majorGridlines>
          <c:spPr>
            <a:ln w="635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D99A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Dobrý den, děkuji za pozvání. Dnes bych chtěl mluvit o obstrukční spánkové apnoi z pohledu, který kardiologům často uniká: jako o metabolickém onemocnění, které se potkává s inzulinovou rezistencí a diabetem přímo v našich ambulancích. Proč bychom to měli řešit právě my? Tři čísla. Podle modelového odhadu z roku 2019 má OSA s AHI nad 5 přibližně 936 milionů dospělých ve věku 30 až 69 let a 425 milionů má středně těžkou až těžkou formu (Benjafield 2019). Je to odhad financovaný výrobcem CPAP a závisí na přepočtu mezi skórovacími kritérii, ale řádově ho nikdo nezpochybňuje. Druhé číslo: ve Wisconsinské kohortě z devadesátých let nebylo klinicky diagnostikováno 82 procent mužů a 93 procent žen se středně těžkou až těžkou apnoí, a to v populaci bez bariér přístupu k péči (Young 1997). A třetí: podle stanoviska AHA z roku 2021 se prevalence OSA u pacientů s hypertenzí, srdečním selháním, ischemickou chorobou, plicní hypertenzí, fibrilací síní a po cévní mozkové příhodě pohybuje mezi 40 a 80 procenty (Yeghiazarians 2021). Těmito pacienty je plná každá naše ambulance. Pojďme se nejdřív podívat, o kterých diagnózách konkrétně mluvíme.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Podívejme se na konkrétní kardiologické populace; všechna čísla jsou z průřezových studií, tedy asociace, ne příčina. U rezistentní hypertenze našlo systematické vyšetření 125 pacientů OSA s AHI nad 15 u 64 procent, zatímco primární hyperaldosteronismus jen u 5,6 procenta (Pedrosa 2011). Starší práce na 41 pacientech udává 83 procent, ale při BMI 34 a prahu AHI 10 (Logan 2001). U fibrilace síní měla OSA podle Berlínského dotazníku 49 procent pacientů před kardioverzí oproti 32 procentům v kardiologické ambulanci se stejným BMI, adjustované OR 2,19 (Gami 2004). U 700 pacientů se srdečním selháním s ejekční frakcí pod 40 procent mělo poruchu dýchání ve spánku 76 procent, 36 procent obstrukční a 40 procent centrální (Oldenburg 2007); centrální apnoe se léčí jinak, proto ji musíme rozlišit. Limity: malé vzorky, dotazník místo polysomnografie, obézní populace. Sdělení ale drží: u našich pacientů je OSA pravidlem. A většina z nich má zároveň poruchu glukózového metabolismu.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 silný je překryv s diabetem? Záleží, koho a jak měříme. Ve Sleep AHEAD mělo z 305 obézních diabetiků s BMI 36,5 apnoi 86,6 procenta a žádný symptom ji nepredikoval (Foster 2009). V běžné diabetologické ambulanci to bylo 36 procent při AHI nad 15 (Einhorn 2007). Letošní metaanalýza 23 studií dává 37 procent objektivně potvrzené OSA, 54 procent při polysomnografii, s heterogenitou 99 procent; severoamerických 86 procent označuje za nereprezentativní (Sun 2026). Obousměrně je diabetes u OSA 2,3krát a OSA u diabetu 2,1krát častější (Huang a Chen 2024). Klíčová otázka: kolik z toho je obezita? Ve Sleep Heart Health Study rozdíly v obstrukčních parametrech po adjustaci na BMI a obvod krku vymizely; nezávislé zůstalo jen periodické dýchání (Resnick 2003). V Oxfordu zůstal diabetes nezávislým prediktorem, ale vysvětloval jen 8 procent variance oproti 13 u BMI (West 2006), a asociace s poruchou glukózové tolerance platila i u neobézních (Seicean 2008). Obezita vysvětluje hodně, ne všechno. Jak by apnoe sama zhoršovala inzulinovou senzitivitu?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 má dvě složky, intermitentní hypoxii a fragmentaci spánku, a obě lze u lidí navodit odděleně. Třináct zdravých dobrovolníků dýchalo pět hodin v bdění hypoxickou směs s 24 desaturacemi za hodinu; inzulinová senzitivita z intravenózního glukózového testu klesla ze 4,1 na 3,4 bez kompenzace sekrecí inzulinu a s posunem k sympatiku (Louis a Punjabi 2009). Jedenáct dobrovolníků mělo dvě noci fragmentovaný spánek bez hypoxie; senzitivita klesla z 5,02 na 3,76 a stoupl ranní kortizol (Stamatakis a Punjabi 2010). Selektivní potlačení hlubokého spánku vedlo k výraznému poklesu inzulinové senzitivity úměrnému redukci hlubokého spánku (Tasali 2008); procento neuvádím, nemám ho ověřené z plného textu. U myší snížila intermitentní hypoxie clampem měřenou senzitivitu ze 49,4 na 38,8 mg/kg/min a blokáda autonomního systému to neodvrátila, tedy přímý tkáňový efekt (Iiyori 2007). Pozor: akutní expozice, malé skupiny zdravých; dokládají mechanismus, ne klinický efekt. Které mediátory to spojují s kardiologií?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Mediátory znáte. Sympatikus: pacienti s OSA mají vysokou svalovou sympatickou aktivitu i v bdění a na konci apnoe stoupá na trojnásobek (Somers 1995). Obezita sama ji nezvyšuje: obézní bez OSA měli 42 vzruchů na 100 tepů jako štíhlí, obézní se skrytou apnoí 61 (Narkiewicz 1998). Osa HPA: 24hodinový kortizol byl u OSA vyšší než u kontrol a CPAP ho snížil proti výchozí hodnotě, ale ne signifikantně proti sham (Kritikou 2016); metaanalýza šesti RCT dává SMD minus 0,39 (Ken-Dror 2021). Jedna noc bez CPAP zvýší volné mastné kyseliny, glykémii, kortizol i systolický tlak úměrně počtu událostí (Chopra 2017). Zánět: hypoxie in vitro aktivuje NF-kappa B, u pacientů byl TNF-alfa 2,56 oproti 1,25 pg/ml a po CPAP se normalizoval (Ryan 2005). Adipokiny: leptin 13,7 oproti 9,2 u stejně obézních (Phillips 2000), adiponektin SMD minus 0,71 (Lu 2019). Játra: OR steatotické choroby 2,01 až 2,99 nezávisle na BMI (Musso 2013), vázané na noční hypoxémii (Mesarwi 2019). Většina dat je průřezová; berte je jako rámec. Kterým směrem vztah běží?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Vztah je obousměrný, ale asymetrický. Obezita k apnoi: desetiprocentní přírůstek hmotnosti předpovídal nárůst AHI o 32 procent a šestinásobné riziko středně těžké až těžké apnoe, s intervalem 2,2 až 17 (Peppard 2000); mendelovská randomizace kauzalitu BMI k OSA podporuje, genetická korelace je 0,72 (Strausz 2021). Oba směry najednou ukazují tři americké kohorty se 146 tisíci osobami: OSA zvyšovala riziko diabetu s HR 2,06, po adjustaci na BMI a pas 1,37; diabetes zvyšoval riziko OSA s HR 1,53, po adjustaci jen 1,08, jasně pouze u inzulinem léčených, 1,43 (Huang 2018). Mechanismem může být autonomní neuropatie: u neobézních diabetiků s dysautonomií měla obstrukční události více než třetina, bez neuropatie nikdo (Bottini 2003; Ficker 1998). Mendelovská randomizace pro směr OSA k diabetu je rozporná: OR 2,34 (Hrytsenko 2025) versus signál mizející po odstranění obezitního lokusu FTO (Ding 2023). Kauzalitu u lidí považujme za pravděpodobnou, ne prokázanou. Podívejme se na prospektivní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Předchází apnoe vzniku diabetu? Máme tři metaanalýzy kohort. První, šest kohort, necelých šest tisíc osob a 332 nových diabetiků: středně těžká až těžká OSA RR 1,63, mírná 1,22 a nesignifikantní (Wang 2013). Druhá srovnala poruchy spánku s tradičními faktory: OSA 2,02, nadváha 2,99, rodinná anamnéza 2,33, fyzická inaktivita 1,20 (Anothaisintawee 2016). Největší, 16 kohort a 339 tisíc osob sledovaných v mediánu 10,5 roku: RR 1,40 s úzkým intervalem a lineární vztah, každých pět událostí za hodinu zvyšuje riziko o 8 procent (Qie 2020). Pro kardiologa je to riziko srovnatelné s faktory ve skórovacích systémech. Dva limity musím říct nahlas: u žádné z těchto metaanalýz nemám z abstraktu heterogenitu ani informaci o adjustaci na BMI, plné texty nebyly dostupné; a jde o asociaci, kterou může reziduální confounding obezitou částečně vysvětlit. Proto se podívejme na kohorty, které na adipozitu adjustovaly důsledně.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Nejsilnější populační důkaz nezávislosti na obezitě: kohorta ARIC a SHHS, 1453 nediabetiků sledovaných 13 let. Těžká OSA měla pro nový diabetes HR 2,75, po adjustaci na BMI i obvod pasu 1,71, a mezi obézními 2,03 (Nagayoshi 2016). Francouzská průřezová data u 1599 pacientů bez diabetu ukazují gradient: OR pro HbA1c nad 6 procent 1,80, 2,02 a 2,96 při AHI nad 50, po adjustaci na BMI i pas (Priou 2012). U 118 nediabetiků měřených metodou FSIVGTT klesla inzulinová senzitivita o 27, 37 a 44 procent podle tíže nezávisle na procentu tuku a klesala i funkce beta-buněk (Punjabi 2009). Asociace platila i u neobézních, OR 1,7 pro okultní diabetes (Seicean 2008). A protiváha: ve Wisconsinské kohortě byla průřezová asociace jasná, OR 2,30, ale čtyřleté sledování dalo OR 1,62 s intervalem 0,67 až 3,65, nesignifikantní (Reichmuth 2005). Důvodem je krátké sledování a málo událostí, ale kauzalita není uzavřená. A možná měříme špatnou veličinu.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AHI počítá události, ne hloubku a trvání desaturací. Hypoxic burden je plocha pod desaturační křivkou vázaná na respirační události. V kohortách MrOS a SHHS predikoval kardiovaskulární mortalitu tam, kde AHI ne: nejvyšší kvintily HR 1,81 a 2,73 u starších mužů, 1,96 v SHHS (Azarbarzin 2019); outcome je mortalita, ne diabetes. Pro diabetes je obraz podobný, ale evidence čerstvá a omezená. V torontské kohortě 8678 pacientů měli ti s AHI nad 30 o 30 procent vyšší hazard diabetu a nezávisle predikoval i čas se saturací pod 90 procent (Kendzerska 2014). U 650 veteránů predikovaly diabetes T90 a průměrná saturace, AHI ne (Wojeck 2023). V australské mužské kohortě byl nejnižší kvartil průměrné saturace spojen s 4,2násobným rizikem a kontinuální hypoxic burden byl signifikantní, kategorické AHI ani ODI nikoli, při 52 událostech (Appleton 2025). V Uppsale predikovalo ODI nad 5 diabetes s OR 4,4 (Lindberg 2012). Metaanalýza neexistuje. Prakticky: v polygrafickém nálezu se dívejte i na ODI, T90 a průměrnou saturaci. Je to léčitelné? Přejdeme k intervencím.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Pokud apnoe zhoršuje inzulinovou rezistenci, měl by ji CPAP zlepšit. U nediabetiků to metaanalýzy RCT naznačují: HOMA-IR klesl o 0,44 v pěti RCT bez heterogenity (Iftikhar 2013), o 0,43 v aktualizaci bez změny viscerálního tuku a adiponektinu (Iftikhar 2015), o 0,55 (Yang 2013) a o 0,39 v devíti RCT s heterogenitou 57 procent a nízkou jistotou (Abud 2019). Glykémie nalačno se nezměnila v žádné. Pokles HOMA o 0,4 autoři přirovnávají k thiazolidindionům, ale to je interpretace. Dvě studie výsledek zpochybňují. Metaanalýza individuálních dat ze tří sham-kontrolovaných RCT u 128 osob nenašla efekt CPAP ani jeho dávky na metabolické parametry, zato přírůstek 1,17 kilogramu (Hoyos 2019). A RCT se 181 obézními pacienty s metodou FSIVGTT: senzitivita se zlepšila jen při redukci hmotnosti, nikoli u samotného CPAP, ani u adherentních při 4 hodinách (Chirinos 2014). Zlepšení je tedy malé a nekonzistentní. A u diabetiků, kde by na tom záleželo nejvíc?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diabetiků je odpověď nejrozpornější. Starší metaanalýzy jsou negativní: HbA1c plus 0,05 (Zhu 2018) a minus 0,10 procenta, bez efektu i při adherenci nad 4 hodiny (Labarca 2018). Pozitivní metaanalýza 11 RCT s 964 pacienty dala minus 0,24 procenta, ale s heterogenitou 71 procent a publikačním biasem; bez odlehlé studie s adherencí 8,3 hodiny minus 0,16 (Herth 2023). Letošní největší metaanalýza 14 RCT s 1273 pacienty je pro HbA1c negativní ve všech délkách léčby; HOMA-IR nad 24 týdnů klesl o 1,67 ve dvou RCT a BMI stoupl o 0,74, adherenci nebylo možné adjustovat (Wu 2026). Velká pragmatická RCT to potvrzují: 298 diabetiků s dobře kontrolovaným HbA1c po šesti měsících bez rozdílu, ani u adherentních (Shaw 2016); substudie SAVE po 4,3 letech bez rozdílu v HbA1c ani v nových diagnózách (Loffler 2020); kontinuální monitorace u 184 pacientů při 5,4 hodinách bez rozdílu (Aurora 2023) a u 72 pacientů negativní i u adherentních (Banghøj 2021). Závěr: CPAP sám u běžného diabetika HbA1c klinicky významně nesníží. Proč se studie liší?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Odpověď se jmenuje dávka. Jediné RCT s hyperinzulinemickým clampem, sham-kontrolované, 42 diabetiků, tři měsíce, bylo negativní při 3,6 hodinách za noc (West 2007). Největší RCT bylo negativní při 4,9 hodinách i u adherentních (Shaw 2016; adherence dle metaanalýzy Herth 2023). Pozitivní španělské RCT s 50 pacienty mělo 5,2 hodiny, ale vyšší výchozí HbA1c 7,6 procenta a jediné centrum (Martínez-Cerón 2016). Sham-kontrolované RCT u 98 diabetiků bylo v ITT negativní, ale pokles HbA1c rostl s hodinami a užívání nad 7 hodin bylo spojeno se signifikantním poklesem (Chasens 2022). Obě laboratorní studie s CPAP po celou osmihodinovou noc byly pozitivní: u prediabetiků se za dva týdny zlepšila glukózová tolerance i senzitivita (Pamidi 2015), u diabetiků klesla 24hodinová glykémie o 13,5 mg/dl za týden (Mokhlesi 2017). Meta-regrese: každá hodina navíc znamená o 0,17 procenta HbA1c méně (Herth 2023). Hypotéza: metabolický efekt vyžaduje vyšší dávku než efekt na spavost; práh 4 hodiny ho neodhalí. Pokud je cílem metabolismus, máme silnější nástroj.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Tím nástrojem je hmotnost. V RCT bylo 181 obézních pacientů s apnoí rozděleno k CPAP, redukci hmotnosti nebo obojímu na 24 týdnů: hmotnost klesla o 6,8 a 7,0 kilogramu v ramenech s redukcí, u CPAP vůbec; CRP, inzulinová rezistence a triglyceridy klesly jen při hubnutí; tlak klesl všude, per-protokolově nejvíce u kombinace, o 14,1 mm Hg (Chirinos 2014). Opačně: hubnutí snižuje apnoi. Intenzivní životní styl u obézních diabetiků snížil hmotnost o 10,8 kilogramu a AHI o 9,7 za hodinu (Foster 2009) a efekt přetrval čtyři roky i přes návrat poloviny hmotnosti, s remisí 20,7 oproti 3,6 procenta (Kuna 2013). Nízkoenergetická dieta u mužů snížila hmotnost o 20 kilogramů a AHI o 23 (Johansson 2009). Metaanalýzy dávají pokles AHI o 16 při intenzivní intervenci (Mitchell 2014), ale jen o 6 v sedmi RCT s heterogenitou 86 procent (Araghi 2013). Bariatrie sníží AHI z 55 na 16, stále středně těžká apnoe (Greenburg 2009); v jediném RCT nebyl rozdíl proti konzervativní léčbě signifikantní (Dixon 2012). Hubnutí pomáhá, zřídka vyléčí. A tím k inkretinům.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Farmakoterapie obezity změnila i spánkovou medicínu. Liraglutid 3 mg snížil za 32 týdnů AHI o 12,2 oproti 6,1 na placebu, rozdíl 6,1, při rozdílu hmotnosti 4,2 procenta (Blackman 2016). SURMOUNT-OSA s tirzepatidem je první velké RCT s AHI jako primárním cílem: u 469 obézních nediabetiků klesl AHI za 52 týdnů o 20,0 proti placebu bez PAP a o 23,8 s PAP (Malhotra 2024). Sekundární analýza: hmotnost minus 16 až 17 procent, hypoxic burden minus 61 až 70, systolický tlak minus 7,9 a 4,3 mm Hg, hsCRP minus 29 až 45 procent a HOMA-IR minus 48 až 55 procent; změny apnoických metrik nezávisle mediovaly část efektu na hsCRP, HOMA-IR a triglyceridy, tlak byl mediován hmotností (Malhotra 2026). Retatrutid dává u nediabetiků rozdíl AHI až minus 24, u diabetiků menší, minus 14 (Grunstein 2026). Metaanalýza šesti RCT: minus 10 s heterogenitou 87 procent (Carvalhal 2026). Limity: efekt proti placebu až od 20. týdne, CPAP působí okamžitě (Malhotra 2025); chybí tvrdé KV outcomy u OSA, přímé srovnání s CPAP i guideline AASM. Teď k tvrdým outcomům CPAP.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Tři RCT testovaly, zda CPAP sníží příhody u pacientů, které léčíme my. SAVE: 2717 pacientů s koronárním nebo cerebrovaskulárním onemocněním, 3,7 roku; primární endpoint 17,0 oproti 15,4 procenta, HR 1,10, při adherenci 3,3 hodiny; AHI přitom klesl z 29 na 3,7 a zlepšila se spavost i kvalita života (McEvoy 2016). ISAACC: 1264 nespavých pacientů po akutním koronárním syndromu, HR 0,89, adherence 2,78 hodiny; pacienti s apnoí neměli více příhod než bez ní, HR 1,01 (Sánchez-de-la-Torre 2020). RICCADSA: 244 pacientů po revaskularizaci bez spavosti, v ITT HR 0,80, nesignifikantní; v adjustované on-treatment analýze měli pacienti nad 4 hodiny HR 0,29 (Peker 2016). To číslo láká, ale je nerandomizované: kdo přístroj používá, liší se od toho, kdo ne, i v tom, co neumíme změřit. Shrnutí pro kardiologa: v ITT žádná studie prevenci příhod neprokázala; CPAP zatím nelze předepisovat jako kardioprotektivum. Co metaanalýzy a adherence?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Metaanalýzy ITT dat jsou nulové: RR 0,77 v deseti RCT bez vlivu adherence v meta-regresi (Yu 2017), 0,74 v sedmi RCT (Khan 2018), 0,87 v osmi RCT bez modifikace spavostí, adherencí ani tíží (Labarca 2020). Nejkvalitnější je metaanalýza individuálních dat SAVE, ISAACC a RICCADSA, 4186 pacientů, průměrná adherence 3,1 hodiny: v ITT HR 1,01; v on-treatment analýze marginálními strukturálními modely měli pacienti nad 4 hodiny HR 0,69 (Sánchez-de-la-Torre 2023). Khan 2018 dává u adherentních 0,43 a letošní metaanalýza 11 RCT 0,71 pro MACE a 0,36 pro kardiovaskulární mortalitu (Almuzainy 2026). Všechny adherenční analýzy jsou nerandomizované a metaanalýzy se v modifikaci adherencí rozcházejí; to je třeba říct otevřeně. Observační data odpovídají intuici: neléčená těžká OSA měla u mužů za deset let 2,9krát vyšší riziko fatálních příhod (Marin 2005) a ve francouzské kohortě 5138 pacientů klesalo riziko MACE s hodinami PAP, HR 0,75 při šesti až sedmi hodinách (Gervès-Pinquié 2022). Adherující pacient je ale jiný pacient. Proč tedy RCT vyšly neutrálně?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Čtyři důvody, které nejsou výmluvou ani důkazem přínosu. Selekce: kritéria pěti RCT by splnilo jen 1,2 až 20,9 procenta pacientů s těžkou apnoí ze spánkové laboratoře; vylučovala spavost, kardiovaskulární onemocnění a noční hypoxémii (Reynor 2022). Fenotyp: nadměrně spaví pacienti, z etických důvodů vyloučení, měli ve SHHS 1,7 až 2,4krát vyšší riziko incidentního kardiovaskulárního onemocnění (Mazzotti 2019); jiná kohorta to po adjustaci nepotvrdila (Trzepizur 2022). Adherence 2,8 až 3,3 hodiny, hluboko pod klinickou praxí; RCT byly na detekci efektu u adherentních podhodnocené (Pack 2021). Metrika: zařazovalo se podle AHI, zatímco riziko nese hypoxic burden a T90, HR 1,21 a 1,34 pro MACE (Trzepizur 2022). Prakticky, jak říká guideline AASM 2019: CPAP indikujeme pro spavost, kvalitu života a podmíněně pro hypertenzi, ne abychom zabránili infarktu (Patil 2019); kardiometabolické riziko řešíme hmotností. Koho máme v ambulanci aktivně hledat?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Doporučení jsou konzistentní, liší se silou. AHA 2021 doporučuje screening OSA u rezistentní nebo špatně kontrolované hypertenze, plicní hypertenze a rekurentní fibrilace síní po kardioverzi či ablaci; u srdečního selhání NYHA II až IV s podezřením na poruchu dýchání ve spánku je spánkové vyšetření „reasonable“ (Yeghiazarians 2021). ESC guideline pro fibrilaci síní 2024: management OSA lze zvážit v rámci kontroly rizikových faktorů ke snížení rekurence, třída IIb, a screening jen symptomovým dotazníkem se nedoporučuje (Van Gelder 2024); úroveň evidence jsem z plného textu neověřil. ESC guideline pro hypertenzi 2024: na OSA myslet u všech s rezistentní hypertenzí a u non-dipperů (McEvoy 2024), bez samostatné třídy. Standardy ADA 2026 zahrnují screening zdraví spánku včetně poruch spánku; přesné znění a stupeň ověříme z plného textu. IDF doporučila oboustranný screening už v roce 2008 (Shaw 2008). U metabolického syndromu měl horní kvartil AHI OR 2,80 (Heinzer 2015). Varování: u obézních diabetiků nepredikoval OSA žádný symptom včetně spavosti (Foster 2009). Nespoléhejte na ospalost. Jak screenovat?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Nástrojem první linie je STOP-BANG: osm otázek na chrápání, únavu, pozorované apnoe, tlak, BMI, věk, obvod krku a pohlaví, původně validovaných u chirurgických pacientů (Chung 2008). Metaanalýza 17 studií s 9206 pacienty dává při skóre 3 a více ve spánkových laboratořích senzitivitu 90, 94 a 96 procent pro AHI nad 5, 15 a 30, ale specificitu jen 49, 34 a 25 procent; negativní prediktivní hodnota pro těžkou apnoi je 90 procent, pozitivní pro středně těžkou až těžkou v obecné populaci jen 16 procent (Nagappa 2015). STOP-BANG vylučuje, nepotvrzuje. Pravděpodobnost těžké apnoe roste se skóre: 25 procent při 3, 45 při 5, 75 při 7 až 8 (Nagappa 2015). Stratifikace: 0 až 2 nízké riziko, 5 až 8 vysoké, u 3 až 4 doplnit BMI nad 35, obvod krku nebo mužské pohlaví (Chung 2016). AASM 2017: dotazníky nesmějí nahradit test; nekomplikovaným stačí domácí test, ale u významného kardiorespiračního onemocnění, hypoventilace, po CMP nebo na opioidech polysomnografie; negativní domácí test při podezření vyžaduje polysomnografii (Kapur 2017). Pro srdeční selhání tedy rovnou spánková laboratoř. A jak to vypadá u našich pacientů?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DOPLNIT: vlastní data CPM (slide A).
Návrh typu dat (pouze návrh, nikoli obsah): prevalence vysokého rizika OSA podle STOP-BANG (skóre ≥ 3 a ≥ 5) u pacientů CPM s inzulinovou rezistencí, prediabetem nebo DM2, případně podle kategorií BMI. Logicky navazuje na slide 3 (prevalence OSA u DM2: 36–87 %, Sun 2026; Foster 2009) a na slide 19 (vlastnosti STOP-BANG, Nagappa 2015) a umožní srovnání našich pacientů s literaturou.
Můstek k dalšímu slidu: „Druhá věc, kterou jsme se u našich pacientů dívali…“
Čas: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DOPLNIT: vlastní data CPM (slide B).
Návrh typu dat (pouze návrh, nikoli obsah): vztah ODI nebo AHI z domácí polygrafie k HOMA-IR či HbA1c v kohortě CPM, ideálně s adjustací na BMI a obvod pasu (srovnání s gradientem Priou 2012 a Punjabi 2009 ze slidu 8 a s hypoxemickými metrikami ze slidu 9); alternativně podíl pacientů, u kterých screening vedl k potvrzení OSA a k zahájení léčby (uzavírá algoritmus ze slidu 19).
Můstek k take-home: „Co si z toho tedy odnést do ambulance?“
Čas: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Dovolte mi pět závěrů. Zaprvé: OSA je u kardiologických a metabolických pacientů pravidlem, ne výjimkou, a většina z nich o ní neví (Yeghiazarians 2021; Young 1997). Zadruhé: asociace apnoe s inzulinovou rezistencí a diabetem je konzistentní a dávkově závislá a přetrvává po adjustaci na BMI i obvod pasu (Nagayoshi 2016; Priou 2012), ale kauzalita u lidí není dokázána a obezita zůstává hlavním confounderem (Resnick 2003; Ding 2023). Zatřetí: CPAP spolehlivě zlepšuje spavost a tlak a mírně inzulinovou rezistenci u nediabetiků, ale HbA1c ani tvrdé kardiovaskulární outcomy v ITT analýzách nemění (Wu 2026; Sánchez-de-la-Torre 2023); efekt zřejmě závisí na dávce vysoko nad čtyřmi hodinami (Herth 2023). Začtvrté: redukce hmotnosti včetně inkretinů je metabolicky silnější než CPAP (Chirinos 2014; Malhotra 2024), u populace s apnoí ale zatím bez tvrdých kardiovaskulárních outcomů a bez přímého srovnání s CPAP. Zapáté: screenujte cíleně, dotazníkem vylučujte a testem potvrzujte; u srdečního selhání rovnou polysomnografií a nespoléhejte na spavost (Nagappa 2015; Kapur 2017; Foster 2009). A otevřené otázky, které zůstávají: které fenotypy apnoe profitují z léčby, zda je hypoxic burden lepší cíl než AHI, jaká je prahová dávka CPAP pro metabolický efekt a zda inkretiny obstojí proti CPAP v přímém srovnání. Děkuji za pozornost a těším se na diskusi.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Seznam literatury – není součástí mluveného času. Všechna PMID/DOI ověřena v PubMedu 25. 10. 2026; podrobná tabulka evidence viz FAZE1_tabulka_evidence.md.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Seznam literatury – pokračování.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Seznam literatury – pokračování.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Seznam literatury – pokračování.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Seznam literatury – pokračování.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Seznam literatury – pokračování.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Seznam literatury – pokračování.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10881360" cy="201168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640080" y="3566160"/>
            <a:ext cx="10881360" cy="822960"/>
          </a:xfrm>
          <a:prstGeom prst="rect">
            <a:avLst/>
          </a:prstGeom>
          <a:noFill/>
          <a:ln/>
        </p:spPr>
        <p:txBody>
          <a:bodyPr wrap="square" rtlCol="0"/>
          <a:lstStyle>
            <a:lvl1pPr algn="l" indent="0" marL="0">
              <a:buNone/>
              <a:defRPr lang="en-US" sz="2000" dirty="0">
                <a:solidFill>
                  <a:srgbClr val="EEF2F7"/>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rtlCol="0"/>
          <a:lstStyle>
            <a:lvl1pPr algn="l" indent="0" marL="0">
              <a:buNone/>
              <a:defRPr lang="en-US" sz="2500" b="1" dirty="0">
                <a:solidFill>
                  <a:srgbClr val="1B2A41"/>
                </a:solidFill>
              </a:defRPr>
            </a:lvl1pPr>
          </a:lstStyle>
          <a:p>
            <a:pPr algn="l" indent="0" marL="0">
              <a:buNone/>
            </a:pPr>
            <a:endParaRPr lang="en-US" sz="2500" dirty="0"/>
          </a:p>
        </p:txBody>
      </p:sp>
      <p:sp>
        <p:nvSpPr>
          <p:cNvPr id="3" name="Text 0"/>
          <p:cNvSpPr/>
          <p:nvPr/>
        </p:nvSpPr>
        <p:spPr>
          <a:xfrm>
            <a:off x="457200" y="6446520"/>
            <a:ext cx="8686800" cy="274320"/>
          </a:xfrm>
          <a:prstGeom prst="rect">
            <a:avLst/>
          </a:prstGeom>
          <a:noFill/>
          <a:ln/>
        </p:spPr>
        <p:txBody>
          <a:bodyPr wrap="square" lIns="0" tIns="0" rIns="0" bIns="0" rtlCol="0" anchor="ctr"/>
          <a:lstStyle/>
          <a:p>
            <a:pPr algn="l" indent="0" marL="0">
              <a:buNone/>
            </a:pPr>
            <a:r>
              <a:rPr lang="en-US" sz="900" dirty="0">
                <a:solidFill>
                  <a:srgbClr val="8D99AE"/>
                </a:solidFill>
              </a:rPr>
              <a:t>OSA a inzulinová rezistence – pohled kardiologa · rešerše PubMed 25. 10. 2026</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rtlCol="0"/>
          <a:lstStyle>
            <a:lvl1pPr algn="l" indent="0" marL="0">
              <a:buNone/>
              <a:defRPr lang="en-US" sz="2500" b="1" dirty="0">
                <a:solidFill>
                  <a:srgbClr val="FFFFFF"/>
                </a:solidFill>
              </a:defRPr>
            </a:lvl1pPr>
          </a:lstStyle>
          <a:p>
            <a:pPr algn="l" indent="0" marL="0">
              <a:buNone/>
            </a:pPr>
            <a:endParaRPr lang="en-US" sz="2500" dirty="0"/>
          </a:p>
        </p:txBody>
      </p:sp>
      <p:sp>
        <p:nvSpPr>
          <p:cNvPr id="3" name="Text 0"/>
          <p:cNvSpPr/>
          <p:nvPr/>
        </p:nvSpPr>
        <p:spPr>
          <a:xfrm>
            <a:off x="457200" y="6446520"/>
            <a:ext cx="8686800" cy="274320"/>
          </a:xfrm>
          <a:prstGeom prst="rect">
            <a:avLst/>
          </a:prstGeom>
          <a:noFill/>
          <a:ln/>
        </p:spPr>
        <p:txBody>
          <a:bodyPr wrap="square" lIns="0" tIns="0" rIns="0" bIns="0" rtlCol="0" anchor="ctr"/>
          <a:lstStyle/>
          <a:p>
            <a:pPr algn="l" indent="0" marL="0">
              <a:buNone/>
            </a:pPr>
            <a:r>
              <a:rPr lang="en-US" sz="900" dirty="0">
                <a:solidFill>
                  <a:srgbClr val="8D99AE"/>
                </a:solidFill>
              </a:rPr>
              <a:t>OSA a inzulinová rezistence – pohled kardiologa · rešerše PubMed 25. 10. 2026</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10881360" cy="2011680"/>
          </a:xfrm>
          <a:prstGeom prst="rect">
            <a:avLst/>
          </a:prstGeom>
          <a:noFill/>
          <a:ln/>
        </p:spPr>
        <p:txBody>
          <a:bodyPr wrap="square" lIns="0" tIns="0" rIns="0" bIns="0" rtlCol="0" anchor="b"/>
          <a:lstStyle/>
          <a:p>
            <a:pPr algn="l" indent="0" marL="0">
              <a:buNone/>
            </a:pPr>
            <a:r>
              <a:rPr lang="en-US" sz="4000" b="1" dirty="0">
                <a:solidFill>
                  <a:srgbClr val="FFFFFF"/>
                </a:solidFill>
              </a:rPr>
              <a:t>OSA a inzulinová rezistence</a:t>
            </a:r>
            <a:endParaRPr lang="en-US" sz="4000" dirty="0"/>
          </a:p>
        </p:txBody>
      </p:sp>
      <p:sp>
        <p:nvSpPr>
          <p:cNvPr id="3" name="Text 0"/>
          <p:cNvSpPr/>
          <p:nvPr>
            <p:ph idx="101" type="body" hasCustomPrompt="1"/>
          </p:nvPr>
        </p:nvSpPr>
        <p:spPr>
          <a:xfrm>
            <a:off x="640080" y="3566160"/>
            <a:ext cx="10881360" cy="822960"/>
          </a:xfrm>
          <a:prstGeom prst="rect">
            <a:avLst/>
          </a:prstGeom>
          <a:noFill/>
          <a:ln/>
        </p:spPr>
        <p:txBody>
          <a:bodyPr wrap="square" lIns="0" tIns="0" rIns="0" bIns="0" rtlCol="0" anchor="t"/>
          <a:lstStyle/>
          <a:p>
            <a:pPr algn="l" indent="0" marL="0">
              <a:buNone/>
            </a:pPr>
            <a:r>
              <a:rPr lang="en-US" sz="2000" dirty="0">
                <a:solidFill>
                  <a:srgbClr val="EEF2F7"/>
                </a:solidFill>
              </a:rPr>
              <a:t>Mechanismy, evidence a klinické důsledky pro kardiologa</a:t>
            </a:r>
            <a:endParaRPr lang="en-US" sz="2000" dirty="0"/>
          </a:p>
        </p:txBody>
      </p:sp>
      <p:sp>
        <p:nvSpPr>
          <p:cNvPr id="4" name="autor"/>
          <p:cNvSpPr txBox="1"/>
          <p:nvPr/>
        </p:nvSpPr>
        <p:spPr>
          <a:xfrm>
            <a:off x="640080" y="4297680"/>
            <a:ext cx="10881360" cy="365760"/>
          </a:xfrm>
          <a:prstGeom prst="rect">
            <a:avLst/>
          </a:prstGeom>
          <a:noFill/>
          <a:ln/>
        </p:spPr>
        <p:txBody>
          <a:bodyPr wrap="square" lIns="0" tIns="0" rIns="0" bIns="0" rtlCol="0" anchor="ctr"/>
          <a:lstStyle/>
          <a:p>
            <a:pPr indent="0" marL="0">
              <a:buNone/>
            </a:pPr>
            <a:r>
              <a:rPr lang="en-US" sz="1400" dirty="0">
                <a:solidFill>
                  <a:srgbClr val="8D99AE"/>
                </a:solidFill>
              </a:rPr>
              <a:t>Centrum preventivní medicíny · [jméno přednášejícího – doplnit]</a:t>
            </a:r>
            <a:endParaRPr lang="en-US" sz="1400" dirty="0"/>
          </a:p>
        </p:txBody>
      </p:sp>
      <p:sp>
        <p:nvSpPr>
          <p:cNvPr id="5" name="stat-~936 mil."/>
          <p:cNvSpPr txBox="1"/>
          <p:nvPr/>
        </p:nvSpPr>
        <p:spPr>
          <a:xfrm>
            <a:off x="640080" y="4892040"/>
            <a:ext cx="3291840" cy="822960"/>
          </a:xfrm>
          <a:prstGeom prst="rect">
            <a:avLst/>
          </a:prstGeom>
          <a:noFill/>
          <a:ln/>
        </p:spPr>
        <p:txBody>
          <a:bodyPr wrap="square" lIns="0" tIns="0" rIns="0" bIns="0" rtlCol="0" anchor="b"/>
          <a:lstStyle/>
          <a:p>
            <a:pPr algn="l" indent="0" marL="0">
              <a:buNone/>
            </a:pPr>
            <a:r>
              <a:rPr lang="en-US" sz="4000" b="1" dirty="0">
                <a:solidFill>
                  <a:srgbClr val="E9C46A"/>
                </a:solidFill>
              </a:rPr>
              <a:t>~936 mil.</a:t>
            </a:r>
            <a:endParaRPr lang="en-US" sz="4000" dirty="0"/>
          </a:p>
        </p:txBody>
      </p:sp>
      <p:sp>
        <p:nvSpPr>
          <p:cNvPr id="6" name="stat-l-~936 mil."/>
          <p:cNvSpPr txBox="1"/>
          <p:nvPr/>
        </p:nvSpPr>
        <p:spPr>
          <a:xfrm>
            <a:off x="640080" y="5733288"/>
            <a:ext cx="3291840" cy="685800"/>
          </a:xfrm>
          <a:prstGeom prst="rect">
            <a:avLst/>
          </a:prstGeom>
          <a:noFill/>
          <a:ln/>
        </p:spPr>
        <p:txBody>
          <a:bodyPr wrap="square" lIns="0" tIns="0" rIns="0" bIns="0" rtlCol="0" anchor="t"/>
          <a:lstStyle/>
          <a:p>
            <a:pPr algn="l" indent="0" marL="0">
              <a:buNone/>
            </a:pPr>
            <a:r>
              <a:rPr lang="en-US" sz="1200" dirty="0">
                <a:solidFill>
                  <a:srgbClr val="EEF2F7"/>
                </a:solidFill>
              </a:rPr>
              <a:t>dospělých 30–69 let s OSA (AHI ≥ 5) celosvětově</a:t>
            </a:r>
            <a:endParaRPr lang="en-US" sz="1200" dirty="0"/>
          </a:p>
          <a:p>
            <a:pPr algn="l" indent="0" marL="0">
              <a:buNone/>
            </a:pPr>
            <a:r>
              <a:rPr lang="en-US" sz="1200" dirty="0">
                <a:solidFill>
                  <a:srgbClr val="EEF2F7"/>
                </a:solidFill>
              </a:rPr>
              <a:t>Benjafield, Lancet Respir Med 2019 · modelový odhad</a:t>
            </a:r>
            <a:endParaRPr lang="en-US" sz="1200" dirty="0"/>
          </a:p>
        </p:txBody>
      </p:sp>
      <p:sp>
        <p:nvSpPr>
          <p:cNvPr id="7" name="stat-82–93 %"/>
          <p:cNvSpPr txBox="1"/>
          <p:nvPr/>
        </p:nvSpPr>
        <p:spPr>
          <a:xfrm>
            <a:off x="4297680" y="4892040"/>
            <a:ext cx="3291840" cy="822960"/>
          </a:xfrm>
          <a:prstGeom prst="rect">
            <a:avLst/>
          </a:prstGeom>
          <a:noFill/>
          <a:ln/>
        </p:spPr>
        <p:txBody>
          <a:bodyPr wrap="square" lIns="0" tIns="0" rIns="0" bIns="0" rtlCol="0" anchor="b"/>
          <a:lstStyle/>
          <a:p>
            <a:pPr algn="l" indent="0" marL="0">
              <a:buNone/>
            </a:pPr>
            <a:r>
              <a:rPr lang="en-US" sz="4000" b="1" dirty="0">
                <a:solidFill>
                  <a:srgbClr val="C8553D"/>
                </a:solidFill>
              </a:rPr>
              <a:t>82–93 %</a:t>
            </a:r>
            <a:endParaRPr lang="en-US" sz="4000" dirty="0"/>
          </a:p>
        </p:txBody>
      </p:sp>
      <p:sp>
        <p:nvSpPr>
          <p:cNvPr id="8" name="stat-l-82–93 %"/>
          <p:cNvSpPr txBox="1"/>
          <p:nvPr/>
        </p:nvSpPr>
        <p:spPr>
          <a:xfrm>
            <a:off x="4297680" y="5733288"/>
            <a:ext cx="3291840" cy="685800"/>
          </a:xfrm>
          <a:prstGeom prst="rect">
            <a:avLst/>
          </a:prstGeom>
          <a:noFill/>
          <a:ln/>
        </p:spPr>
        <p:txBody>
          <a:bodyPr wrap="square" lIns="0" tIns="0" rIns="0" bIns="0" rtlCol="0" anchor="t"/>
          <a:lstStyle/>
          <a:p>
            <a:pPr algn="l" indent="0" marL="0">
              <a:buNone/>
            </a:pPr>
            <a:r>
              <a:rPr lang="en-US" sz="1200" dirty="0">
                <a:solidFill>
                  <a:srgbClr val="EEF2F7"/>
                </a:solidFill>
              </a:rPr>
              <a:t>mužů / žen se středně těžkou–těžkou OSA bez diagnózy</a:t>
            </a:r>
            <a:endParaRPr lang="en-US" sz="1200" dirty="0"/>
          </a:p>
          <a:p>
            <a:pPr algn="l" indent="0" marL="0">
              <a:buNone/>
            </a:pPr>
            <a:r>
              <a:rPr lang="en-US" sz="1200" dirty="0">
                <a:solidFill>
                  <a:srgbClr val="EEF2F7"/>
                </a:solidFill>
              </a:rPr>
              <a:t>Young, Sleep 1997 · průřez</a:t>
            </a:r>
            <a:endParaRPr lang="en-US" sz="1200" dirty="0"/>
          </a:p>
        </p:txBody>
      </p:sp>
      <p:sp>
        <p:nvSpPr>
          <p:cNvPr id="9" name="stat-40–80 %"/>
          <p:cNvSpPr txBox="1"/>
          <p:nvPr/>
        </p:nvSpPr>
        <p:spPr>
          <a:xfrm>
            <a:off x="7955280" y="4892040"/>
            <a:ext cx="3657600" cy="822960"/>
          </a:xfrm>
          <a:prstGeom prst="rect">
            <a:avLst/>
          </a:prstGeom>
          <a:noFill/>
          <a:ln/>
        </p:spPr>
        <p:txBody>
          <a:bodyPr wrap="square" lIns="0" tIns="0" rIns="0" bIns="0" rtlCol="0" anchor="b"/>
          <a:lstStyle/>
          <a:p>
            <a:pPr algn="l" indent="0" marL="0">
              <a:buNone/>
            </a:pPr>
            <a:r>
              <a:rPr lang="en-US" sz="4000" b="1" dirty="0">
                <a:solidFill>
                  <a:srgbClr val="2A9D8F"/>
                </a:solidFill>
              </a:rPr>
              <a:t>40–80 %</a:t>
            </a:r>
            <a:endParaRPr lang="en-US" sz="4000" dirty="0"/>
          </a:p>
        </p:txBody>
      </p:sp>
      <p:sp>
        <p:nvSpPr>
          <p:cNvPr id="10" name="stat-l-40–80 %"/>
          <p:cNvSpPr txBox="1"/>
          <p:nvPr/>
        </p:nvSpPr>
        <p:spPr>
          <a:xfrm>
            <a:off x="7955280" y="5733288"/>
            <a:ext cx="3657600" cy="685800"/>
          </a:xfrm>
          <a:prstGeom prst="rect">
            <a:avLst/>
          </a:prstGeom>
          <a:noFill/>
          <a:ln/>
        </p:spPr>
        <p:txBody>
          <a:bodyPr wrap="square" lIns="0" tIns="0" rIns="0" bIns="0" rtlCol="0" anchor="t"/>
          <a:lstStyle/>
          <a:p>
            <a:pPr algn="l" indent="0" marL="0">
              <a:buNone/>
            </a:pPr>
            <a:r>
              <a:rPr lang="en-US" sz="1200" dirty="0">
                <a:solidFill>
                  <a:srgbClr val="EEF2F7"/>
                </a:solidFill>
              </a:rPr>
              <a:t>prevalence OSA u hypertenze, HF, ICHS, FS, CMP</a:t>
            </a:r>
            <a:endParaRPr lang="en-US" sz="1200" dirty="0"/>
          </a:p>
          <a:p>
            <a:pPr algn="l" indent="0" marL="0">
              <a:buNone/>
            </a:pPr>
            <a:r>
              <a:rPr lang="en-US" sz="1200" dirty="0">
                <a:solidFill>
                  <a:srgbClr val="EEF2F7"/>
                </a:solidFill>
              </a:rPr>
              <a:t>AHA scientific statement, Circulation 2021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OSA u našich pacientů: rezistentní hypertenze, fibrilace síní, srdeční selhání</a:t>
            </a:r>
            <a:endParaRPr lang="en-US" sz="2500" dirty="0"/>
          </a:p>
        </p:txBody>
      </p:sp>
      <p:sp>
        <p:nvSpPr>
          <p:cNvPr id="3" name="tag-průřez"/>
          <p:cNvSpPr/>
          <p:nvPr/>
        </p:nvSpPr>
        <p:spPr>
          <a:xfrm>
            <a:off x="10863072" y="384048"/>
            <a:ext cx="886968" cy="310896"/>
          </a:xfrm>
          <a:prstGeom prst="roundRect">
            <a:avLst>
              <a:gd name="adj" fmla="val 23529"/>
            </a:avLst>
          </a:prstGeom>
          <a:solidFill>
            <a:srgbClr val="8D99AE"/>
          </a:solidFill>
          <a:ln w="12700">
            <a:solidFill>
              <a:srgbClr val="8D99AE"/>
            </a:solidFill>
            <a:prstDash val="solid"/>
          </a:ln>
        </p:spPr>
      </p:sp>
      <p:sp>
        <p:nvSpPr>
          <p:cNvPr id="4" name="tag-text-průřez"/>
          <p:cNvSpPr txBox="1"/>
          <p:nvPr/>
        </p:nvSpPr>
        <p:spPr>
          <a:xfrm>
            <a:off x="10863072"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průřez</a:t>
            </a:r>
            <a:endParaRPr lang="en-US" sz="1000" dirty="0"/>
          </a:p>
        </p:txBody>
      </p:sp>
      <p:sp>
        <p:nvSpPr>
          <p:cNvPr id="5"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U rezistentní hypertenze je OSA nejčastější „sekundární“ nález, u FS je 2× častější než u ostatních kardiaků se stejným BMI, u HFrEF má SDB tři čtvrtiny pacientů.</a:t>
            </a:r>
            <a:endParaRPr lang="en-US" sz="1500" dirty="0"/>
          </a:p>
        </p:txBody>
      </p:sp>
      <p:graphicFrame>
        <p:nvGraphicFramePr>
          <p:cNvPr id="6" name="Chart 0" descr=""/>
          <p:cNvGraphicFramePr/>
          <p:nvPr/>
        </p:nvGraphicFramePr>
        <p:xfrm>
          <a:off x="457200" y="1828800"/>
          <a:ext cx="7589520" cy="4069080"/>
        </p:xfrm>
        <a:graphic xmlns:a="http://schemas.openxmlformats.org/drawingml/2006/main">
          <a:graphicData uri="http://schemas.openxmlformats.org/drawingml/2006/chart">
            <c:chart xmlns:c="http://schemas.openxmlformats.org/drawingml/2006/chart" r:id="rId1"/>
          </a:graphicData>
        </a:graphic>
      </p:graphicFrame>
      <p:sp>
        <p:nvSpPr>
          <p:cNvPr id="7" name="box-Co je za čísly"/>
          <p:cNvSpPr/>
          <p:nvPr/>
        </p:nvSpPr>
        <p:spPr>
          <a:xfrm>
            <a:off x="8321040" y="1828800"/>
            <a:ext cx="3429000" cy="4069080"/>
          </a:xfrm>
          <a:prstGeom prst="roundRect">
            <a:avLst>
              <a:gd name="adj" fmla="val 2667"/>
            </a:avLst>
          </a:prstGeom>
          <a:solidFill>
            <a:srgbClr val="EEF2F7"/>
          </a:solidFill>
          <a:ln w="12700">
            <a:solidFill>
              <a:srgbClr val="EEF2F7"/>
            </a:solidFill>
            <a:prstDash val="solid"/>
          </a:ln>
        </p:spPr>
      </p:sp>
      <p:sp>
        <p:nvSpPr>
          <p:cNvPr id="8" name="box-title-Co je za čísly"/>
          <p:cNvSpPr txBox="1"/>
          <p:nvPr/>
        </p:nvSpPr>
        <p:spPr>
          <a:xfrm>
            <a:off x="8458200" y="1920240"/>
            <a:ext cx="3154680" cy="329184"/>
          </a:xfrm>
          <a:prstGeom prst="rect">
            <a:avLst/>
          </a:prstGeom>
          <a:noFill/>
          <a:ln/>
        </p:spPr>
        <p:txBody>
          <a:bodyPr wrap="square" lIns="0" tIns="0" rIns="0" bIns="0" rtlCol="0" anchor="t"/>
          <a:lstStyle/>
          <a:p>
            <a:pPr indent="0" marL="0">
              <a:buNone/>
            </a:pPr>
            <a:r>
              <a:rPr lang="en-US" sz="1250" b="1" dirty="0">
                <a:solidFill>
                  <a:srgbClr val="1B2A41"/>
                </a:solidFill>
              </a:rPr>
              <a:t>Co je za čísly</a:t>
            </a:r>
            <a:endParaRPr lang="en-US" sz="1250" dirty="0"/>
          </a:p>
        </p:txBody>
      </p:sp>
      <p:sp>
        <p:nvSpPr>
          <p:cNvPr id="9" name="box-body-Co je za čísly"/>
          <p:cNvSpPr txBox="1"/>
          <p:nvPr/>
        </p:nvSpPr>
        <p:spPr>
          <a:xfrm>
            <a:off x="8458200" y="2267712"/>
            <a:ext cx="3154680" cy="3538728"/>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1B2A41"/>
                </a:solidFill>
              </a:rPr>
              <a:t>Pedrosa 2011: systematické hledání sekundárních příčin; OSA 64,0 % vs. primární hyperaldosteronismus 5,6 %</a:t>
            </a:r>
            <a:endParaRPr lang="en-US" sz="1100" dirty="0"/>
          </a:p>
          <a:p>
            <a:pPr marL="127000" indent="-127000">
              <a:spcAft>
                <a:spcPts val="300"/>
              </a:spcAft>
              <a:buSzPct val="100000"/>
              <a:buChar char="•"/>
            </a:pPr>
            <a:r>
              <a:rPr lang="en-US" sz="1100" dirty="0">
                <a:solidFill>
                  <a:srgbClr val="1B2A41"/>
                </a:solidFill>
              </a:rPr>
              <a:t>Logan 2001: n = 41, BMI 34, terciární centrum – číslo uvádět s n</a:t>
            </a:r>
            <a:endParaRPr lang="en-US" sz="1100" dirty="0"/>
          </a:p>
          <a:p>
            <a:pPr marL="127000" indent="-127000">
              <a:spcAft>
                <a:spcPts val="300"/>
              </a:spcAft>
              <a:buSzPct val="100000"/>
              <a:buChar char="•"/>
            </a:pPr>
            <a:r>
              <a:rPr lang="en-US" sz="1100" dirty="0">
                <a:solidFill>
                  <a:srgbClr val="1B2A41"/>
                </a:solidFill>
              </a:rPr>
              <a:t>Gami 2004: OSA dle dotazníku, ne PSG; adj. OR FS–OSA 2,19 (1,40–3,42)</a:t>
            </a:r>
            <a:endParaRPr lang="en-US" sz="1100" dirty="0"/>
          </a:p>
          <a:p>
            <a:pPr marL="127000" indent="-127000">
              <a:spcAft>
                <a:spcPts val="300"/>
              </a:spcAft>
              <a:buSzPct val="100000"/>
              <a:buChar char="•"/>
            </a:pPr>
            <a:r>
              <a:rPr lang="en-US" sz="1100" dirty="0">
                <a:solidFill>
                  <a:srgbClr val="1B2A41"/>
                </a:solidFill>
              </a:rPr>
              <a:t>Oldenburg 2007: SDB celkem 76 %; u HF je CSA stejně častá jako OSA – rozlišovat</a:t>
            </a:r>
            <a:endParaRPr lang="en-US" sz="1100" dirty="0"/>
          </a:p>
          <a:p>
            <a:pPr marL="127000" indent="-127000">
              <a:spcAft>
                <a:spcPts val="300"/>
              </a:spcAft>
              <a:buSzPct val="100000"/>
              <a:buChar char="•"/>
            </a:pPr>
            <a:r>
              <a:rPr lang="en-US" sz="1100" dirty="0">
                <a:solidFill>
                  <a:srgbClr val="1B2A41"/>
                </a:solidFill>
              </a:rPr>
              <a:t>Všechny studie průřezové → asociace, ne kauzalita</a:t>
            </a:r>
            <a:endParaRPr lang="en-US" sz="1100" dirty="0"/>
          </a:p>
        </p:txBody>
      </p:sp>
      <p:sp>
        <p:nvSpPr>
          <p:cNvPr id="10"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Pedrosa, Hypertension 2011 · Logan, J Hypertens 2001 · Gami, Circulation 2004 · Oldenburg, Eur J Heart Fail 2007</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Překryv OSA – obezita – DM2: kolik z toho je obezita?</a:t>
            </a:r>
            <a:endParaRPr lang="en-US" sz="2500" dirty="0"/>
          </a:p>
        </p:txBody>
      </p:sp>
      <p:sp>
        <p:nvSpPr>
          <p:cNvPr id="3" name="tag-MA obs."/>
          <p:cNvSpPr/>
          <p:nvPr/>
        </p:nvSpPr>
        <p:spPr>
          <a:xfrm>
            <a:off x="10753344" y="384048"/>
            <a:ext cx="996696" cy="310896"/>
          </a:xfrm>
          <a:prstGeom prst="roundRect">
            <a:avLst>
              <a:gd name="adj" fmla="val 23529"/>
            </a:avLst>
          </a:prstGeom>
          <a:solidFill>
            <a:srgbClr val="3D5A80"/>
          </a:solidFill>
          <a:ln w="12700">
            <a:solidFill>
              <a:srgbClr val="3D5A80"/>
            </a:solidFill>
            <a:prstDash val="solid"/>
          </a:ln>
        </p:spPr>
      </p:sp>
      <p:sp>
        <p:nvSpPr>
          <p:cNvPr id="4" name="tag-text-MA obs."/>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MA obs.</a:t>
            </a:r>
            <a:endParaRPr lang="en-US" sz="1000" dirty="0"/>
          </a:p>
        </p:txBody>
      </p:sp>
      <p:sp>
        <p:nvSpPr>
          <p:cNvPr id="5" name="tag-průřez"/>
          <p:cNvSpPr/>
          <p:nvPr/>
        </p:nvSpPr>
        <p:spPr>
          <a:xfrm>
            <a:off x="9793224" y="384048"/>
            <a:ext cx="886968" cy="310896"/>
          </a:xfrm>
          <a:prstGeom prst="roundRect">
            <a:avLst>
              <a:gd name="adj" fmla="val 23529"/>
            </a:avLst>
          </a:prstGeom>
          <a:solidFill>
            <a:srgbClr val="8D99AE"/>
          </a:solidFill>
          <a:ln w="12700">
            <a:solidFill>
              <a:srgbClr val="8D99AE"/>
            </a:solidFill>
            <a:prstDash val="solid"/>
          </a:ln>
        </p:spPr>
      </p:sp>
      <p:sp>
        <p:nvSpPr>
          <p:cNvPr id="6" name="tag-text-průřez"/>
          <p:cNvSpPr txBox="1"/>
          <p:nvPr/>
        </p:nvSpPr>
        <p:spPr>
          <a:xfrm>
            <a:off x="9793224"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průřez</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OSA má 36–87 % diabetiků podle BMI a metody; po adjustaci na BMI a obvod krku část asociace mizí, část přetrvává – obezita vysvětluje hodně, ne vše.</a:t>
            </a:r>
            <a:endParaRPr lang="en-US" sz="1500" dirty="0"/>
          </a:p>
        </p:txBody>
      </p:sp>
      <p:graphicFrame>
        <p:nvGraphicFramePr>
          <p:cNvPr id="8" name="Chart 0" descr=""/>
          <p:cNvGraphicFramePr/>
          <p:nvPr/>
        </p:nvGraphicFramePr>
        <p:xfrm>
          <a:off x="457200" y="1828800"/>
          <a:ext cx="6035040" cy="3291840"/>
        </p:xfrm>
        <a:graphic xmlns:a="http://schemas.openxmlformats.org/drawingml/2006/main">
          <a:graphicData uri="http://schemas.openxmlformats.org/drawingml/2006/chart">
            <c:chart xmlns:c="http://schemas.openxmlformats.org/drawingml/2006/chart" r:id="rId1"/>
          </a:graphicData>
        </a:graphic>
      </p:graphicFrame>
      <p:sp>
        <p:nvSpPr>
          <p:cNvPr id="9" name="ma-pozn"/>
          <p:cNvSpPr txBox="1"/>
          <p:nvPr/>
        </p:nvSpPr>
        <p:spPr>
          <a:xfrm>
            <a:off x="457200" y="5166360"/>
            <a:ext cx="6035040" cy="777240"/>
          </a:xfrm>
          <a:prstGeom prst="rect">
            <a:avLst/>
          </a:prstGeom>
          <a:noFill/>
          <a:ln/>
        </p:spPr>
        <p:txBody>
          <a:bodyPr wrap="square" lIns="0" tIns="0" rIns="0" bIns="0" rtlCol="0" anchor="t"/>
          <a:lstStyle/>
          <a:p>
            <a:pPr indent="0" marL="0">
              <a:buNone/>
            </a:pPr>
            <a:r>
              <a:rPr lang="en-US" sz="1050" dirty="0">
                <a:solidFill>
                  <a:srgbClr val="3D5A80"/>
                </a:solidFill>
              </a:rPr>
              <a:t>MA 2026: pooled 37 % (95 % CI 27–49), I² ≈ 99 %; severoamerických 86 % pochází z jediné studie (Sun 2026). Obousměrně: DM u OSA OR 2,29 (1,93–2,72), OSA u DM OR 2,12 (1,73–2,60) (Huang &amp; Chen 2024).</a:t>
            </a:r>
            <a:endParaRPr lang="en-US" sz="1050" dirty="0"/>
          </a:p>
        </p:txBody>
      </p:sp>
      <p:sp>
        <p:nvSpPr>
          <p:cNvPr id="10" name="box-Asociace po adjustaci MIZÍ"/>
          <p:cNvSpPr/>
          <p:nvPr/>
        </p:nvSpPr>
        <p:spPr>
          <a:xfrm>
            <a:off x="6766560" y="1828800"/>
            <a:ext cx="2423160" cy="4114800"/>
          </a:xfrm>
          <a:prstGeom prst="roundRect">
            <a:avLst>
              <a:gd name="adj" fmla="val 3774"/>
            </a:avLst>
          </a:prstGeom>
          <a:solidFill>
            <a:srgbClr val="EEF2F7"/>
          </a:solidFill>
          <a:ln w="12700">
            <a:solidFill>
              <a:srgbClr val="EEF2F7"/>
            </a:solidFill>
            <a:prstDash val="solid"/>
          </a:ln>
        </p:spPr>
      </p:sp>
      <p:sp>
        <p:nvSpPr>
          <p:cNvPr id="11" name="box-title-Asociace po adjustaci MIZÍ"/>
          <p:cNvSpPr txBox="1"/>
          <p:nvPr/>
        </p:nvSpPr>
        <p:spPr>
          <a:xfrm>
            <a:off x="6903720" y="1920240"/>
            <a:ext cx="2148840" cy="329184"/>
          </a:xfrm>
          <a:prstGeom prst="rect">
            <a:avLst/>
          </a:prstGeom>
          <a:noFill/>
          <a:ln/>
        </p:spPr>
        <p:txBody>
          <a:bodyPr wrap="square" lIns="0" tIns="0" rIns="0" bIns="0" rtlCol="0" anchor="t"/>
          <a:lstStyle/>
          <a:p>
            <a:pPr indent="0" marL="0">
              <a:buNone/>
            </a:pPr>
            <a:r>
              <a:rPr lang="en-US" sz="1250" b="1" dirty="0">
                <a:solidFill>
                  <a:srgbClr val="C8553D"/>
                </a:solidFill>
              </a:rPr>
              <a:t>Asociace po adjustaci MIZÍ</a:t>
            </a:r>
            <a:endParaRPr lang="en-US" sz="1250" dirty="0"/>
          </a:p>
        </p:txBody>
      </p:sp>
      <p:sp>
        <p:nvSpPr>
          <p:cNvPr id="12" name="box-body-Asociace po adjustaci MIZÍ"/>
          <p:cNvSpPr txBox="1"/>
          <p:nvPr/>
        </p:nvSpPr>
        <p:spPr>
          <a:xfrm>
            <a:off x="6903720" y="2267712"/>
            <a:ext cx="2148840" cy="3584448"/>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B2A41"/>
                </a:solidFill>
              </a:rPr>
              <a:t>Sleep Heart Health Study, n = 5 874 (Resnick 2003)</a:t>
            </a:r>
            <a:endParaRPr lang="en-US" sz="1050" dirty="0"/>
          </a:p>
          <a:p>
            <a:pPr marL="127000" indent="-127000">
              <a:spcAft>
                <a:spcPts val="300"/>
              </a:spcAft>
              <a:buSzPct val="100000"/>
              <a:buChar char="•"/>
            </a:pPr>
            <a:r>
              <a:rPr lang="en-US" sz="1050" dirty="0">
                <a:solidFill>
                  <a:srgbClr val="1B2A41"/>
                </a:solidFill>
              </a:rPr>
              <a:t>Po adjustaci na věk, pohlaví, BMI, rasu a obvod krku rozdíly v RDI a hypoxémii mezi diabetiky a nediabetiky vymizely</a:t>
            </a:r>
            <a:endParaRPr lang="en-US" sz="1050" dirty="0"/>
          </a:p>
          <a:p>
            <a:pPr marL="127000" indent="-127000">
              <a:spcAft>
                <a:spcPts val="300"/>
              </a:spcAft>
              <a:buSzPct val="100000"/>
              <a:buChar char="•"/>
            </a:pPr>
            <a:r>
              <a:rPr lang="en-US" sz="1050" dirty="0">
                <a:solidFill>
                  <a:srgbClr val="1B2A41"/>
                </a:solidFill>
              </a:rPr>
              <a:t>Nezávislé zůstalo jen periodické dýchání: OR 1,80 (1,02–3,15)</a:t>
            </a:r>
            <a:endParaRPr lang="en-US" sz="1050" dirty="0"/>
          </a:p>
          <a:p>
            <a:pPr marL="127000" indent="-127000">
              <a:spcAft>
                <a:spcPts val="300"/>
              </a:spcAft>
              <a:buSzPct val="100000"/>
              <a:buChar char="•"/>
            </a:pPr>
            <a:r>
              <a:rPr lang="en-US" sz="1050" dirty="0">
                <a:solidFill>
                  <a:srgbClr val="1B2A41"/>
                </a:solidFill>
              </a:rPr>
              <a:t>„largely explained by obesity“</a:t>
            </a:r>
            <a:endParaRPr lang="en-US" sz="1050" dirty="0"/>
          </a:p>
        </p:txBody>
      </p:sp>
      <p:sp>
        <p:nvSpPr>
          <p:cNvPr id="13" name="box-Asociace po adjustaci PŘETRVÁVÁ"/>
          <p:cNvSpPr/>
          <p:nvPr/>
        </p:nvSpPr>
        <p:spPr>
          <a:xfrm>
            <a:off x="9326880" y="1828800"/>
            <a:ext cx="2423160" cy="4114800"/>
          </a:xfrm>
          <a:prstGeom prst="roundRect">
            <a:avLst>
              <a:gd name="adj" fmla="val 3774"/>
            </a:avLst>
          </a:prstGeom>
          <a:solidFill>
            <a:srgbClr val="EEF2F7"/>
          </a:solidFill>
          <a:ln w="12700">
            <a:solidFill>
              <a:srgbClr val="EEF2F7"/>
            </a:solidFill>
            <a:prstDash val="solid"/>
          </a:ln>
        </p:spPr>
      </p:sp>
      <p:sp>
        <p:nvSpPr>
          <p:cNvPr id="14" name="box-title-Asociace po adjustaci PŘETRVÁVÁ"/>
          <p:cNvSpPr txBox="1"/>
          <p:nvPr/>
        </p:nvSpPr>
        <p:spPr>
          <a:xfrm>
            <a:off x="9464040" y="1920240"/>
            <a:ext cx="2148840" cy="329184"/>
          </a:xfrm>
          <a:prstGeom prst="rect">
            <a:avLst/>
          </a:prstGeom>
          <a:noFill/>
          <a:ln/>
        </p:spPr>
        <p:txBody>
          <a:bodyPr wrap="square" lIns="0" tIns="0" rIns="0" bIns="0" rtlCol="0" anchor="t"/>
          <a:lstStyle/>
          <a:p>
            <a:pPr indent="0" marL="0">
              <a:buNone/>
            </a:pPr>
            <a:r>
              <a:rPr lang="en-US" sz="1250" b="1" dirty="0">
                <a:solidFill>
                  <a:srgbClr val="2A9D8F"/>
                </a:solidFill>
              </a:rPr>
              <a:t>Asociace po adjustaci PŘETRVÁVÁ</a:t>
            </a:r>
            <a:endParaRPr lang="en-US" sz="1250" dirty="0"/>
          </a:p>
        </p:txBody>
      </p:sp>
      <p:sp>
        <p:nvSpPr>
          <p:cNvPr id="15" name="box-body-Asociace po adjustaci PŘETRVÁVÁ"/>
          <p:cNvSpPr txBox="1"/>
          <p:nvPr/>
        </p:nvSpPr>
        <p:spPr>
          <a:xfrm>
            <a:off x="9464040" y="2267712"/>
            <a:ext cx="2148840" cy="3584448"/>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B2A41"/>
                </a:solidFill>
              </a:rPr>
              <a:t>Oxford, muži s DM2, oxymetrie (West 2006): OSA 17 % vs. 6 % v obecné populaci</a:t>
            </a:r>
            <a:endParaRPr lang="en-US" sz="1050" dirty="0"/>
          </a:p>
          <a:p>
            <a:pPr marL="127000" indent="-127000">
              <a:spcAft>
                <a:spcPts val="300"/>
              </a:spcAft>
              <a:buSzPct val="100000"/>
              <a:buChar char="•"/>
            </a:pPr>
            <a:r>
              <a:rPr lang="en-US" sz="1050" dirty="0">
                <a:solidFill>
                  <a:srgbClr val="1B2A41"/>
                </a:solidFill>
              </a:rPr>
              <a:t>BMI vysvětlil 13 % variance, diabetes dalších 8 % – nezávislý, ale malý příspěvek</a:t>
            </a:r>
            <a:endParaRPr lang="en-US" sz="1050" dirty="0"/>
          </a:p>
          <a:p>
            <a:pPr marL="127000" indent="-127000">
              <a:spcAft>
                <a:spcPts val="300"/>
              </a:spcAft>
              <a:buSzPct val="100000"/>
              <a:buChar char="•"/>
            </a:pPr>
            <a:r>
              <a:rPr lang="en-US" sz="1050" dirty="0">
                <a:solidFill>
                  <a:srgbClr val="1B2A41"/>
                </a:solidFill>
              </a:rPr>
              <a:t>SHHS, OGTT (Seicean 2008): asociace SDB s IGT/okultním DM podobná u ne-nadvážných i nadvážných</a:t>
            </a:r>
            <a:endParaRPr lang="en-US" sz="1050" dirty="0"/>
          </a:p>
        </p:txBody>
      </p:sp>
      <p:sp>
        <p:nvSpPr>
          <p:cNvPr id="16"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Foster, Diabetes Care 2009 · Einhorn, Endocr Pract 2007 · Sun, Can J Diabetes 2026 · Huang &amp; Chen, J Diabetes Investig 2024 · Resnick, Diabetes Care 2003 · West, Thorax 2006 · Seicean, Diabetes Care 2008</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Mechanismy I: intermitentní hypoxie a fragmentace spánku snižují inzulinovou senzitivitu – i u zdravých</a:t>
            </a:r>
            <a:endParaRPr lang="en-US" sz="2500" dirty="0"/>
          </a:p>
        </p:txBody>
      </p:sp>
      <p:sp>
        <p:nvSpPr>
          <p:cNvPr id="3" name="tag-zvířecí"/>
          <p:cNvSpPr/>
          <p:nvPr/>
        </p:nvSpPr>
        <p:spPr>
          <a:xfrm>
            <a:off x="10753344" y="384048"/>
            <a:ext cx="996696" cy="310896"/>
          </a:xfrm>
          <a:prstGeom prst="roundRect">
            <a:avLst>
              <a:gd name="adj" fmla="val 23529"/>
            </a:avLst>
          </a:prstGeom>
          <a:solidFill>
            <a:srgbClr val="C8553D"/>
          </a:solidFill>
          <a:ln w="12700">
            <a:solidFill>
              <a:srgbClr val="C8553D"/>
            </a:solidFill>
            <a:prstDash val="solid"/>
          </a:ln>
        </p:spPr>
      </p:sp>
      <p:sp>
        <p:nvSpPr>
          <p:cNvPr id="4" name="tag-text-zvířecí"/>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zvířecí</a:t>
            </a:r>
            <a:endParaRPr lang="en-US" sz="1000" dirty="0"/>
          </a:p>
        </p:txBody>
      </p:sp>
      <p:sp>
        <p:nvSpPr>
          <p:cNvPr id="5" name="tag-mechanistické (lidé)"/>
          <p:cNvSpPr/>
          <p:nvPr/>
        </p:nvSpPr>
        <p:spPr>
          <a:xfrm>
            <a:off x="8257032" y="384048"/>
            <a:ext cx="2423160" cy="310896"/>
          </a:xfrm>
          <a:prstGeom prst="roundRect">
            <a:avLst>
              <a:gd name="adj" fmla="val 23529"/>
            </a:avLst>
          </a:prstGeom>
          <a:solidFill>
            <a:srgbClr val="C8553D"/>
          </a:solidFill>
          <a:ln w="12700">
            <a:solidFill>
              <a:srgbClr val="C8553D"/>
            </a:solidFill>
            <a:prstDash val="solid"/>
          </a:ln>
        </p:spPr>
      </p:sp>
      <p:sp>
        <p:nvSpPr>
          <p:cNvPr id="6" name="tag-text-mechanistické (lidé)"/>
          <p:cNvSpPr txBox="1"/>
          <p:nvPr/>
        </p:nvSpPr>
        <p:spPr>
          <a:xfrm>
            <a:off x="8257032" y="384048"/>
            <a:ext cx="2423160" cy="310896"/>
          </a:xfrm>
          <a:prstGeom prst="rect">
            <a:avLst/>
          </a:prstGeom>
          <a:noFill/>
          <a:ln/>
        </p:spPr>
        <p:txBody>
          <a:bodyPr wrap="square" lIns="0" tIns="0" rIns="0" bIns="0" rtlCol="0" anchor="ctr"/>
          <a:lstStyle/>
          <a:p>
            <a:pPr algn="ctr" indent="0" marL="0">
              <a:buNone/>
            </a:pPr>
            <a:r>
              <a:rPr lang="en-US" sz="1000" b="1" dirty="0">
                <a:solidFill>
                  <a:srgbClr val="FFFFFF"/>
                </a:solidFill>
              </a:rPr>
              <a:t>mechanistické (lidé)</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Dvě experimentální expozice u zdravých dobrovolníků sníží inzulinovou senzitivitu bez kompenzačního vzestupu sekrece inzulinu; zvířecí clamp ukazuje přímý tkáňový efekt hypoxie.</a:t>
            </a:r>
            <a:endParaRPr lang="en-US" sz="1500" dirty="0"/>
          </a:p>
        </p:txBody>
      </p:sp>
      <p:sp>
        <p:nvSpPr>
          <p:cNvPr id="8" name="n-Obstrukční spánková apnoe"/>
          <p:cNvSpPr/>
          <p:nvPr/>
        </p:nvSpPr>
        <p:spPr>
          <a:xfrm>
            <a:off x="457200" y="2468880"/>
            <a:ext cx="1554480" cy="822960"/>
          </a:xfrm>
          <a:prstGeom prst="roundRect">
            <a:avLst>
              <a:gd name="adj" fmla="val 13333"/>
            </a:avLst>
          </a:prstGeom>
          <a:solidFill>
            <a:srgbClr val="1B2A41"/>
          </a:solidFill>
          <a:ln w="12700">
            <a:solidFill>
              <a:srgbClr val="1B2A41"/>
            </a:solidFill>
            <a:prstDash val="solid"/>
          </a:ln>
        </p:spPr>
      </p:sp>
      <p:sp>
        <p:nvSpPr>
          <p:cNvPr id="9" name="nt-Obstrukční spánková apnoe"/>
          <p:cNvSpPr txBox="1"/>
          <p:nvPr/>
        </p:nvSpPr>
        <p:spPr>
          <a:xfrm>
            <a:off x="457200" y="2468880"/>
            <a:ext cx="1554480" cy="822960"/>
          </a:xfrm>
          <a:prstGeom prst="rect">
            <a:avLst/>
          </a:prstGeom>
          <a:noFill/>
          <a:ln/>
        </p:spPr>
        <p:txBody>
          <a:bodyPr wrap="square" lIns="635" tIns="635" rIns="635" bIns="635" rtlCol="0" anchor="ctr"/>
          <a:lstStyle/>
          <a:p>
            <a:pPr algn="ctr" indent="0" marL="0">
              <a:buNone/>
            </a:pPr>
            <a:r>
              <a:rPr lang="en-US" sz="1200" b="1" dirty="0">
                <a:solidFill>
                  <a:srgbClr val="FFFFFF"/>
                </a:solidFill>
              </a:rPr>
              <a:t>Obstrukční</a:t>
            </a:r>
            <a:endParaRPr lang="en-US" sz="1200" dirty="0"/>
          </a:p>
          <a:p>
            <a:pPr algn="ctr" indent="0" marL="0">
              <a:buNone/>
            </a:pPr>
            <a:r>
              <a:rPr lang="en-US" sz="1200" b="1" dirty="0">
                <a:solidFill>
                  <a:srgbClr val="FFFFFF"/>
                </a:solidFill>
              </a:rPr>
              <a:t>spánková apnoe</a:t>
            </a:r>
            <a:endParaRPr lang="en-US" sz="1200" dirty="0"/>
          </a:p>
        </p:txBody>
      </p:sp>
      <p:sp>
        <p:nvSpPr>
          <p:cNvPr id="10" name="arr2.33"/>
          <p:cNvSpPr/>
          <p:nvPr/>
        </p:nvSpPr>
        <p:spPr>
          <a:xfrm>
            <a:off x="2103120" y="2743200"/>
            <a:ext cx="457200" cy="274320"/>
          </a:xfrm>
          <a:prstGeom prst="rightArrow">
            <a:avLst/>
          </a:prstGeom>
          <a:solidFill>
            <a:srgbClr val="8D99AE"/>
          </a:solidFill>
          <a:ln w="12700">
            <a:solidFill>
              <a:srgbClr val="8D99AE"/>
            </a:solidFill>
            <a:prstDash val="solid"/>
          </a:ln>
        </p:spPr>
      </p:sp>
      <p:sp>
        <p:nvSpPr>
          <p:cNvPr id="11" name="n-Intermitentní hypoxie (desaturace / reoxygenace)"/>
          <p:cNvSpPr/>
          <p:nvPr/>
        </p:nvSpPr>
        <p:spPr>
          <a:xfrm>
            <a:off x="2651760" y="1965960"/>
            <a:ext cx="1920240" cy="731520"/>
          </a:xfrm>
          <a:prstGeom prst="roundRect">
            <a:avLst>
              <a:gd name="adj" fmla="val 15000"/>
            </a:avLst>
          </a:prstGeom>
          <a:solidFill>
            <a:srgbClr val="C8553D"/>
          </a:solidFill>
          <a:ln w="12700">
            <a:solidFill>
              <a:srgbClr val="C8553D"/>
            </a:solidFill>
            <a:prstDash val="solid"/>
          </a:ln>
        </p:spPr>
      </p:sp>
      <p:sp>
        <p:nvSpPr>
          <p:cNvPr id="12" name="nt-Intermitentní hypoxie (desaturace / reoxygenace)"/>
          <p:cNvSpPr txBox="1"/>
          <p:nvPr/>
        </p:nvSpPr>
        <p:spPr>
          <a:xfrm>
            <a:off x="2651760" y="1965960"/>
            <a:ext cx="1920240" cy="731520"/>
          </a:xfrm>
          <a:prstGeom prst="rect">
            <a:avLst/>
          </a:prstGeom>
          <a:noFill/>
          <a:ln/>
        </p:spPr>
        <p:txBody>
          <a:bodyPr wrap="square" lIns="635" tIns="635" rIns="635" bIns="635" rtlCol="0" anchor="ctr"/>
          <a:lstStyle/>
          <a:p>
            <a:pPr algn="ctr" indent="0" marL="0">
              <a:buNone/>
            </a:pPr>
            <a:r>
              <a:rPr lang="en-US" sz="1200" b="1" dirty="0">
                <a:solidFill>
                  <a:srgbClr val="FFFFFF"/>
                </a:solidFill>
              </a:rPr>
              <a:t>Intermitentní hypoxie</a:t>
            </a:r>
            <a:endParaRPr lang="en-US" sz="1200" dirty="0"/>
          </a:p>
          <a:p>
            <a:pPr algn="ctr" indent="0" marL="0">
              <a:buNone/>
            </a:pPr>
            <a:r>
              <a:rPr lang="en-US" sz="1200" b="1" dirty="0">
                <a:solidFill>
                  <a:srgbClr val="FFFFFF"/>
                </a:solidFill>
              </a:rPr>
              <a:t>(desaturace / reoxygenace)</a:t>
            </a:r>
            <a:endParaRPr lang="en-US" sz="1200" dirty="0"/>
          </a:p>
        </p:txBody>
      </p:sp>
      <p:sp>
        <p:nvSpPr>
          <p:cNvPr id="13" name="n-Fragmentace spánku (arousaly, ↓ SWS)"/>
          <p:cNvSpPr/>
          <p:nvPr/>
        </p:nvSpPr>
        <p:spPr>
          <a:xfrm>
            <a:off x="2651760" y="3063240"/>
            <a:ext cx="1920240" cy="731520"/>
          </a:xfrm>
          <a:prstGeom prst="roundRect">
            <a:avLst>
              <a:gd name="adj" fmla="val 15000"/>
            </a:avLst>
          </a:prstGeom>
          <a:solidFill>
            <a:srgbClr val="E9C46A"/>
          </a:solidFill>
          <a:ln w="12700">
            <a:solidFill>
              <a:srgbClr val="E9C46A"/>
            </a:solidFill>
            <a:prstDash val="solid"/>
          </a:ln>
        </p:spPr>
      </p:sp>
      <p:sp>
        <p:nvSpPr>
          <p:cNvPr id="14" name="nt-Fragmentace spánku (arousaly, ↓ SWS)"/>
          <p:cNvSpPr txBox="1"/>
          <p:nvPr/>
        </p:nvSpPr>
        <p:spPr>
          <a:xfrm>
            <a:off x="2651760" y="3063240"/>
            <a:ext cx="1920240" cy="731520"/>
          </a:xfrm>
          <a:prstGeom prst="rect">
            <a:avLst/>
          </a:prstGeom>
          <a:noFill/>
          <a:ln/>
        </p:spPr>
        <p:txBody>
          <a:bodyPr wrap="square" lIns="635" tIns="635" rIns="635" bIns="635" rtlCol="0" anchor="ctr"/>
          <a:lstStyle/>
          <a:p>
            <a:pPr algn="ctr" indent="0" marL="0">
              <a:buNone/>
            </a:pPr>
            <a:r>
              <a:rPr lang="en-US" sz="1200" b="1" dirty="0">
                <a:solidFill>
                  <a:srgbClr val="1B2A41"/>
                </a:solidFill>
              </a:rPr>
              <a:t>Fragmentace spánku</a:t>
            </a:r>
            <a:endParaRPr lang="en-US" sz="1200" dirty="0"/>
          </a:p>
          <a:p>
            <a:pPr algn="ctr" indent="0" marL="0">
              <a:buNone/>
            </a:pPr>
            <a:r>
              <a:rPr lang="en-US" sz="1200" b="1" dirty="0">
                <a:solidFill>
                  <a:srgbClr val="1B2A41"/>
                </a:solidFill>
              </a:rPr>
              <a:t>(arousaly, ↓ SWS)</a:t>
            </a:r>
            <a:endParaRPr lang="en-US" sz="1200" dirty="0"/>
          </a:p>
        </p:txBody>
      </p:sp>
      <p:sp>
        <p:nvSpPr>
          <p:cNvPr id="15" name="arr5.12.4"/>
          <p:cNvSpPr/>
          <p:nvPr/>
        </p:nvSpPr>
        <p:spPr>
          <a:xfrm>
            <a:off x="4663440" y="2194560"/>
            <a:ext cx="457200" cy="274320"/>
          </a:xfrm>
          <a:prstGeom prst="rightArrow">
            <a:avLst/>
          </a:prstGeom>
          <a:solidFill>
            <a:srgbClr val="8D99AE"/>
          </a:solidFill>
          <a:ln w="12700">
            <a:solidFill>
              <a:srgbClr val="8D99AE"/>
            </a:solidFill>
            <a:prstDash val="solid"/>
          </a:ln>
        </p:spPr>
      </p:sp>
      <p:sp>
        <p:nvSpPr>
          <p:cNvPr id="16" name="arr5.13.5999999999999996"/>
          <p:cNvSpPr/>
          <p:nvPr/>
        </p:nvSpPr>
        <p:spPr>
          <a:xfrm>
            <a:off x="4663440" y="3291840"/>
            <a:ext cx="457200" cy="274320"/>
          </a:xfrm>
          <a:prstGeom prst="rightArrow">
            <a:avLst/>
          </a:prstGeom>
          <a:solidFill>
            <a:srgbClr val="8D99AE"/>
          </a:solidFill>
          <a:ln w="12700">
            <a:solidFill>
              <a:srgbClr val="8D99AE"/>
            </a:solidFill>
            <a:prstDash val="solid"/>
          </a:ln>
        </p:spPr>
      </p:sp>
      <p:sp>
        <p:nvSpPr>
          <p:cNvPr id="17" name="n-↓ inzulinová senzitivita bez ↑ sekrece inzulinu"/>
          <p:cNvSpPr/>
          <p:nvPr/>
        </p:nvSpPr>
        <p:spPr>
          <a:xfrm>
            <a:off x="5212080" y="2468880"/>
            <a:ext cx="1737360" cy="822960"/>
          </a:xfrm>
          <a:prstGeom prst="roundRect">
            <a:avLst>
              <a:gd name="adj" fmla="val 13333"/>
            </a:avLst>
          </a:prstGeom>
          <a:solidFill>
            <a:srgbClr val="2A9D8F"/>
          </a:solidFill>
          <a:ln w="12700">
            <a:solidFill>
              <a:srgbClr val="2A9D8F"/>
            </a:solidFill>
            <a:prstDash val="solid"/>
          </a:ln>
        </p:spPr>
      </p:sp>
      <p:sp>
        <p:nvSpPr>
          <p:cNvPr id="18" name="nt-↓ inzulinová senzitivita bez ↑ sekrece inzulinu"/>
          <p:cNvSpPr txBox="1"/>
          <p:nvPr/>
        </p:nvSpPr>
        <p:spPr>
          <a:xfrm>
            <a:off x="5212080" y="2468880"/>
            <a:ext cx="1737360" cy="822960"/>
          </a:xfrm>
          <a:prstGeom prst="rect">
            <a:avLst/>
          </a:prstGeom>
          <a:noFill/>
          <a:ln/>
        </p:spPr>
        <p:txBody>
          <a:bodyPr wrap="square" lIns="635" tIns="635" rIns="635" bIns="635" rtlCol="0" anchor="ctr"/>
          <a:lstStyle/>
          <a:p>
            <a:pPr algn="ctr" indent="0" marL="0">
              <a:buNone/>
            </a:pPr>
            <a:r>
              <a:rPr lang="en-US" sz="1200" b="1" dirty="0">
                <a:solidFill>
                  <a:srgbClr val="FFFFFF"/>
                </a:solidFill>
              </a:rPr>
              <a:t>↓ inzulinová senzitivita</a:t>
            </a:r>
            <a:endParaRPr lang="en-US" sz="1200" dirty="0"/>
          </a:p>
          <a:p>
            <a:pPr algn="ctr" indent="0" marL="0">
              <a:buNone/>
            </a:pPr>
            <a:r>
              <a:rPr lang="en-US" sz="1200" b="1" dirty="0">
                <a:solidFill>
                  <a:srgbClr val="FFFFFF"/>
                </a:solidFill>
              </a:rPr>
              <a:t>bez ↑ sekrece inzulinu</a:t>
            </a:r>
            <a:endParaRPr lang="en-US" sz="1200" dirty="0"/>
          </a:p>
        </p:txBody>
      </p:sp>
      <p:graphicFrame>
        <p:nvGraphicFramePr>
          <p:cNvPr id="19" name="Chart 0" descr=""/>
          <p:cNvGraphicFramePr/>
          <p:nvPr/>
        </p:nvGraphicFramePr>
        <p:xfrm>
          <a:off x="7223760" y="1783080"/>
          <a:ext cx="4526280" cy="2834640"/>
        </p:xfrm>
        <a:graphic xmlns:a="http://schemas.openxmlformats.org/drawingml/2006/main">
          <a:graphicData uri="http://schemas.openxmlformats.org/drawingml/2006/chart">
            <c:chart xmlns:c="http://schemas.openxmlformats.org/drawingml/2006/chart" r:id="rId1"/>
          </a:graphicData>
        </a:graphic>
      </p:graphicFrame>
      <p:sp>
        <p:nvSpPr>
          <p:cNvPr id="20" name="box-Co data říkají – a co ne"/>
          <p:cNvSpPr/>
          <p:nvPr/>
        </p:nvSpPr>
        <p:spPr>
          <a:xfrm>
            <a:off x="457200" y="4160520"/>
            <a:ext cx="6492240" cy="1783080"/>
          </a:xfrm>
          <a:prstGeom prst="roundRect">
            <a:avLst>
              <a:gd name="adj" fmla="val 5128"/>
            </a:avLst>
          </a:prstGeom>
          <a:solidFill>
            <a:srgbClr val="EEF2F7"/>
          </a:solidFill>
          <a:ln w="12700">
            <a:solidFill>
              <a:srgbClr val="EEF2F7"/>
            </a:solidFill>
            <a:prstDash val="solid"/>
          </a:ln>
        </p:spPr>
      </p:sp>
      <p:sp>
        <p:nvSpPr>
          <p:cNvPr id="21" name="box-title-Co data říkají – a co ne"/>
          <p:cNvSpPr txBox="1"/>
          <p:nvPr/>
        </p:nvSpPr>
        <p:spPr>
          <a:xfrm>
            <a:off x="594360" y="4251960"/>
            <a:ext cx="6217920" cy="329184"/>
          </a:xfrm>
          <a:prstGeom prst="rect">
            <a:avLst/>
          </a:prstGeom>
          <a:noFill/>
          <a:ln/>
        </p:spPr>
        <p:txBody>
          <a:bodyPr wrap="square" lIns="0" tIns="0" rIns="0" bIns="0" rtlCol="0" anchor="t"/>
          <a:lstStyle/>
          <a:p>
            <a:pPr indent="0" marL="0">
              <a:buNone/>
            </a:pPr>
            <a:r>
              <a:rPr lang="en-US" sz="1250" b="1" dirty="0">
                <a:solidFill>
                  <a:srgbClr val="1B2A41"/>
                </a:solidFill>
              </a:rPr>
              <a:t>Co data říkají – a co ne</a:t>
            </a:r>
            <a:endParaRPr lang="en-US" sz="1250" dirty="0"/>
          </a:p>
        </p:txBody>
      </p:sp>
      <p:sp>
        <p:nvSpPr>
          <p:cNvPr id="22" name="box-body-Co data říkají – a co ne"/>
          <p:cNvSpPr txBox="1"/>
          <p:nvPr/>
        </p:nvSpPr>
        <p:spPr>
          <a:xfrm>
            <a:off x="594360" y="4599432"/>
            <a:ext cx="6217920" cy="1252728"/>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B2A41"/>
                </a:solidFill>
              </a:rPr>
              <a:t>Louis &amp; Punjabi 2009: S_I 4,1 → 3,4 (p = 0,018), S_G 1,9 → 1,3; sekrece inzulinu beze změny; posun k sympatiku</a:t>
            </a:r>
            <a:endParaRPr lang="en-US" sz="1050" dirty="0"/>
          </a:p>
          <a:p>
            <a:pPr marL="127000" indent="-127000">
              <a:spcAft>
                <a:spcPts val="300"/>
              </a:spcAft>
              <a:buSzPct val="100000"/>
              <a:buChar char="•"/>
            </a:pPr>
            <a:r>
              <a:rPr lang="en-US" sz="1050" dirty="0">
                <a:solidFill>
                  <a:srgbClr val="1B2A41"/>
                </a:solidFill>
              </a:rPr>
              <a:t>Stamatakis &amp; Punjabi 2010: S_I 5,02 → 3,76 (p &lt; 0,0001); ↑ ranní kortizol a sympatická aktivita – bez hypoxie</a:t>
            </a:r>
            <a:endParaRPr lang="en-US" sz="1050" dirty="0"/>
          </a:p>
          <a:p>
            <a:pPr marL="127000" indent="-127000">
              <a:spcAft>
                <a:spcPts val="300"/>
              </a:spcAft>
              <a:buSzPct val="100000"/>
              <a:buChar char="•"/>
            </a:pPr>
            <a:r>
              <a:rPr lang="en-US" sz="1050" dirty="0">
                <a:solidFill>
                  <a:srgbClr val="1B2A41"/>
                </a:solidFill>
              </a:rPr>
              <a:t>Tasali 2008 (PNAS): selektivní suprese SWS → „marked decrease“ S_I, korelující s mírou redukce SWS (procento neuvádím – neověřeno z plného textu)</a:t>
            </a:r>
            <a:endParaRPr lang="en-US" sz="1050" dirty="0"/>
          </a:p>
          <a:p>
            <a:pPr marL="127000" indent="-127000">
              <a:spcAft>
                <a:spcPts val="300"/>
              </a:spcAft>
              <a:buSzPct val="100000"/>
              <a:buChar char="•"/>
            </a:pPr>
            <a:r>
              <a:rPr lang="en-US" sz="1050" dirty="0">
                <a:solidFill>
                  <a:srgbClr val="1B2A41"/>
                </a:solidFill>
              </a:rPr>
              <a:t>Limity: akutní expozice, n 11–13, zdraví dobrovolníci → mechanismus, ne klinický efekt</a:t>
            </a:r>
            <a:endParaRPr lang="en-US" sz="1050" dirty="0"/>
          </a:p>
        </p:txBody>
      </p:sp>
      <p:sp>
        <p:nvSpPr>
          <p:cNvPr id="23" name="box-ZVÍŘECÍ: Iiyori 2007 (myš, clamp)"/>
          <p:cNvSpPr/>
          <p:nvPr/>
        </p:nvSpPr>
        <p:spPr>
          <a:xfrm>
            <a:off x="7223760" y="4754880"/>
            <a:ext cx="4526280" cy="1188720"/>
          </a:xfrm>
          <a:prstGeom prst="roundRect">
            <a:avLst>
              <a:gd name="adj" fmla="val 7692"/>
            </a:avLst>
          </a:prstGeom>
          <a:solidFill>
            <a:srgbClr val="FBEDE9"/>
          </a:solidFill>
          <a:ln w="12700">
            <a:solidFill>
              <a:srgbClr val="FBEDE9"/>
            </a:solidFill>
            <a:prstDash val="solid"/>
          </a:ln>
        </p:spPr>
      </p:sp>
      <p:sp>
        <p:nvSpPr>
          <p:cNvPr id="24" name="box-title-ZVÍŘECÍ: Iiyori 2007 (myš, clamp)"/>
          <p:cNvSpPr txBox="1"/>
          <p:nvPr/>
        </p:nvSpPr>
        <p:spPr>
          <a:xfrm>
            <a:off x="7360920" y="4846320"/>
            <a:ext cx="4251960" cy="329184"/>
          </a:xfrm>
          <a:prstGeom prst="rect">
            <a:avLst/>
          </a:prstGeom>
          <a:noFill/>
          <a:ln/>
        </p:spPr>
        <p:txBody>
          <a:bodyPr wrap="square" lIns="0" tIns="0" rIns="0" bIns="0" rtlCol="0" anchor="t"/>
          <a:lstStyle/>
          <a:p>
            <a:pPr indent="0" marL="0">
              <a:buNone/>
            </a:pPr>
            <a:r>
              <a:rPr lang="en-US" sz="1250" b="1" dirty="0">
                <a:solidFill>
                  <a:srgbClr val="C8553D"/>
                </a:solidFill>
              </a:rPr>
              <a:t>ZVÍŘECÍ: Iiyori 2007 (myš, clamp)</a:t>
            </a:r>
            <a:endParaRPr lang="en-US" sz="1250" dirty="0"/>
          </a:p>
        </p:txBody>
      </p:sp>
      <p:sp>
        <p:nvSpPr>
          <p:cNvPr id="25" name="box-body-ZVÍŘECÍ: Iiyori 2007 (myš, clamp)"/>
          <p:cNvSpPr txBox="1"/>
          <p:nvPr/>
        </p:nvSpPr>
        <p:spPr>
          <a:xfrm>
            <a:off x="7360920" y="5193792"/>
            <a:ext cx="4251960" cy="658368"/>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B2A41"/>
                </a:solidFill>
              </a:rPr>
              <a:t>IH 9 h: inzulinová senzitivita 49,4 → 38,8 mg/kg/min (p &lt; 0,005); blokáda autonomního systému pokles neodvrátila → přímý tkáňový efekt</a:t>
            </a:r>
            <a:endParaRPr lang="en-US" sz="1050" dirty="0"/>
          </a:p>
        </p:txBody>
      </p:sp>
      <p:sp>
        <p:nvSpPr>
          <p:cNvPr id="26"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Louis &amp; Punjabi, J Appl Physiol 2009 · Stamatakis &amp; Punjabi, Chest 2010 · Tasali, PNAS 2008 · Iiyori, Am J Respir Crit Care Med 2007 (zvířecí)</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Mechanismy II: sympatikus, osa HPA, zánět, adipokiny, jaterní inzulinová rezistence</a:t>
            </a:r>
            <a:endParaRPr lang="en-US" sz="2500" dirty="0"/>
          </a:p>
        </p:txBody>
      </p:sp>
      <p:sp>
        <p:nvSpPr>
          <p:cNvPr id="3" name="tag-MA obs."/>
          <p:cNvSpPr/>
          <p:nvPr/>
        </p:nvSpPr>
        <p:spPr>
          <a:xfrm>
            <a:off x="10753344" y="384048"/>
            <a:ext cx="996696" cy="310896"/>
          </a:xfrm>
          <a:prstGeom prst="roundRect">
            <a:avLst>
              <a:gd name="adj" fmla="val 23529"/>
            </a:avLst>
          </a:prstGeom>
          <a:solidFill>
            <a:srgbClr val="3D5A80"/>
          </a:solidFill>
          <a:ln w="12700">
            <a:solidFill>
              <a:srgbClr val="3D5A80"/>
            </a:solidFill>
            <a:prstDash val="solid"/>
          </a:ln>
        </p:spPr>
      </p:sp>
      <p:sp>
        <p:nvSpPr>
          <p:cNvPr id="4" name="tag-text-MA obs."/>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MA obs.</a:t>
            </a:r>
            <a:endParaRPr lang="en-US" sz="1000" dirty="0"/>
          </a:p>
        </p:txBody>
      </p:sp>
      <p:sp>
        <p:nvSpPr>
          <p:cNvPr id="5" name="tag-mechanistické (lidé)"/>
          <p:cNvSpPr/>
          <p:nvPr/>
        </p:nvSpPr>
        <p:spPr>
          <a:xfrm>
            <a:off x="8257032" y="384048"/>
            <a:ext cx="2423160" cy="310896"/>
          </a:xfrm>
          <a:prstGeom prst="roundRect">
            <a:avLst>
              <a:gd name="adj" fmla="val 23529"/>
            </a:avLst>
          </a:prstGeom>
          <a:solidFill>
            <a:srgbClr val="C8553D"/>
          </a:solidFill>
          <a:ln w="12700">
            <a:solidFill>
              <a:srgbClr val="C8553D"/>
            </a:solidFill>
            <a:prstDash val="solid"/>
          </a:ln>
        </p:spPr>
      </p:sp>
      <p:sp>
        <p:nvSpPr>
          <p:cNvPr id="6" name="tag-text-mechanistické (lidé)"/>
          <p:cNvSpPr txBox="1"/>
          <p:nvPr/>
        </p:nvSpPr>
        <p:spPr>
          <a:xfrm>
            <a:off x="8257032" y="384048"/>
            <a:ext cx="2423160" cy="310896"/>
          </a:xfrm>
          <a:prstGeom prst="rect">
            <a:avLst/>
          </a:prstGeom>
          <a:noFill/>
          <a:ln/>
        </p:spPr>
        <p:txBody>
          <a:bodyPr wrap="square" lIns="0" tIns="0" rIns="0" bIns="0" rtlCol="0" anchor="ctr"/>
          <a:lstStyle/>
          <a:p>
            <a:pPr algn="ctr" indent="0" marL="0">
              <a:buNone/>
            </a:pPr>
            <a:r>
              <a:rPr lang="en-US" sz="1000" b="1" dirty="0">
                <a:solidFill>
                  <a:srgbClr val="FFFFFF"/>
                </a:solidFill>
              </a:rPr>
              <a:t>mechanistické (lidé)</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Mediátory jsou kardiologovi důvěrně známé – a sympatická hyperaktivita je atributem apnoe, nikoli obezity samotné.</a:t>
            </a:r>
            <a:endParaRPr lang="en-US" sz="1500" dirty="0"/>
          </a:p>
        </p:txBody>
      </p:sp>
      <p:sp>
        <p:nvSpPr>
          <p:cNvPr id="8" name="card-Sympatikus"/>
          <p:cNvSpPr/>
          <p:nvPr/>
        </p:nvSpPr>
        <p:spPr>
          <a:xfrm>
            <a:off x="457200" y="1828800"/>
            <a:ext cx="3611880" cy="1920240"/>
          </a:xfrm>
          <a:prstGeom prst="roundRect">
            <a:avLst>
              <a:gd name="adj" fmla="val 4762"/>
            </a:avLst>
          </a:prstGeom>
          <a:solidFill>
            <a:srgbClr val="EEF2F7"/>
          </a:solidFill>
          <a:ln w="12700">
            <a:solidFill>
              <a:srgbClr val="EEF2F7"/>
            </a:solidFill>
            <a:prstDash val="solid"/>
          </a:ln>
        </p:spPr>
      </p:sp>
      <p:sp>
        <p:nvSpPr>
          <p:cNvPr id="9" name="dot-Sympatikus"/>
          <p:cNvSpPr/>
          <p:nvPr/>
        </p:nvSpPr>
        <p:spPr>
          <a:xfrm>
            <a:off x="594360" y="1965960"/>
            <a:ext cx="365760" cy="365760"/>
          </a:xfrm>
          <a:prstGeom prst="ellipse">
            <a:avLst/>
          </a:prstGeom>
          <a:solidFill>
            <a:srgbClr val="C8553D"/>
          </a:solidFill>
          <a:ln w="12700">
            <a:solidFill>
              <a:srgbClr val="C8553D"/>
            </a:solidFill>
            <a:prstDash val="solid"/>
          </a:ln>
        </p:spPr>
      </p:sp>
      <p:sp>
        <p:nvSpPr>
          <p:cNvPr id="10" name="dotn-Sympatikus"/>
          <p:cNvSpPr txBox="1"/>
          <p:nvPr/>
        </p:nvSpPr>
        <p:spPr>
          <a:xfrm>
            <a:off x="594360" y="1965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1" name="ct-Sympatikus"/>
          <p:cNvSpPr txBox="1"/>
          <p:nvPr/>
        </p:nvSpPr>
        <p:spPr>
          <a:xfrm>
            <a:off x="1051560" y="1965960"/>
            <a:ext cx="2880360" cy="365760"/>
          </a:xfrm>
          <a:prstGeom prst="rect">
            <a:avLst/>
          </a:prstGeom>
          <a:noFill/>
          <a:ln/>
        </p:spPr>
        <p:txBody>
          <a:bodyPr wrap="square" lIns="0" tIns="0" rIns="0" bIns="0" rtlCol="0" anchor="ctr"/>
          <a:lstStyle/>
          <a:p>
            <a:pPr indent="0" marL="0">
              <a:buNone/>
            </a:pPr>
            <a:r>
              <a:rPr lang="en-US" sz="1300" b="1" dirty="0">
                <a:solidFill>
                  <a:srgbClr val="1B2A41"/>
                </a:solidFill>
              </a:rPr>
              <a:t>Sympatikus</a:t>
            </a:r>
            <a:endParaRPr lang="en-US" sz="1300" dirty="0"/>
          </a:p>
        </p:txBody>
      </p:sp>
      <p:sp>
        <p:nvSpPr>
          <p:cNvPr id="12" name="cb-Sympatikus"/>
          <p:cNvSpPr txBox="1"/>
          <p:nvPr/>
        </p:nvSpPr>
        <p:spPr>
          <a:xfrm>
            <a:off x="594360" y="2395728"/>
            <a:ext cx="3337560" cy="1261872"/>
          </a:xfrm>
          <a:prstGeom prst="rect">
            <a:avLst/>
          </a:prstGeom>
          <a:noFill/>
          <a:ln/>
        </p:spPr>
        <p:txBody>
          <a:bodyPr wrap="square" lIns="0" tIns="0" rIns="0" bIns="0" rtlCol="0" anchor="t"/>
          <a:lstStyle/>
          <a:p>
            <a:pPr indent="0" marL="0">
              <a:buNone/>
            </a:pPr>
            <a:r>
              <a:rPr lang="en-US" sz="1000" dirty="0">
                <a:solidFill>
                  <a:srgbClr val="1B2A41"/>
                </a:solidFill>
              </a:rPr>
              <a:t>MSNA 61 ± 8 u obézních s okultní OSA vs. 42 ± 3 u obézních bez OSA a 41 ± 3 u štíhlých (bursts/100 tepů) – Narkiewicz 1998</a:t>
            </a:r>
            <a:endParaRPr lang="en-US" sz="1000" dirty="0"/>
          </a:p>
          <a:p>
            <a:pPr indent="0" marL="0">
              <a:buNone/>
            </a:pPr>
            <a:r>
              <a:rPr lang="en-US" sz="1000" dirty="0">
                <a:solidFill>
                  <a:srgbClr val="1B2A41"/>
                </a:solidFill>
              </a:rPr>
              <a:t>Vysoká MSNA i v bdění; vrchol na konci apnoe – Somers 1995</a:t>
            </a:r>
            <a:endParaRPr lang="en-US" sz="1000" dirty="0"/>
          </a:p>
        </p:txBody>
      </p:sp>
      <p:sp>
        <p:nvSpPr>
          <p:cNvPr id="13" name="card-Osa HPA / kortizol"/>
          <p:cNvSpPr/>
          <p:nvPr/>
        </p:nvSpPr>
        <p:spPr>
          <a:xfrm>
            <a:off x="4251960" y="1828800"/>
            <a:ext cx="3611880" cy="1920240"/>
          </a:xfrm>
          <a:prstGeom prst="roundRect">
            <a:avLst>
              <a:gd name="adj" fmla="val 4762"/>
            </a:avLst>
          </a:prstGeom>
          <a:solidFill>
            <a:srgbClr val="EEF2F7"/>
          </a:solidFill>
          <a:ln w="12700">
            <a:solidFill>
              <a:srgbClr val="EEF2F7"/>
            </a:solidFill>
            <a:prstDash val="solid"/>
          </a:ln>
        </p:spPr>
      </p:sp>
      <p:sp>
        <p:nvSpPr>
          <p:cNvPr id="14" name="dot-Osa HPA / kortizol"/>
          <p:cNvSpPr/>
          <p:nvPr/>
        </p:nvSpPr>
        <p:spPr>
          <a:xfrm>
            <a:off x="4389120" y="1965960"/>
            <a:ext cx="365760" cy="365760"/>
          </a:xfrm>
          <a:prstGeom prst="ellipse">
            <a:avLst/>
          </a:prstGeom>
          <a:solidFill>
            <a:srgbClr val="6B4C9A"/>
          </a:solidFill>
          <a:ln w="12700">
            <a:solidFill>
              <a:srgbClr val="6B4C9A"/>
            </a:solidFill>
            <a:prstDash val="solid"/>
          </a:ln>
        </p:spPr>
      </p:sp>
      <p:sp>
        <p:nvSpPr>
          <p:cNvPr id="15" name="dotn-Osa HPA / kortizol"/>
          <p:cNvSpPr txBox="1"/>
          <p:nvPr/>
        </p:nvSpPr>
        <p:spPr>
          <a:xfrm>
            <a:off x="4389120" y="1965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6" name="ct-Osa HPA / kortizol"/>
          <p:cNvSpPr txBox="1"/>
          <p:nvPr/>
        </p:nvSpPr>
        <p:spPr>
          <a:xfrm>
            <a:off x="4846320" y="1965960"/>
            <a:ext cx="2880360" cy="365760"/>
          </a:xfrm>
          <a:prstGeom prst="rect">
            <a:avLst/>
          </a:prstGeom>
          <a:noFill/>
          <a:ln/>
        </p:spPr>
        <p:txBody>
          <a:bodyPr wrap="square" lIns="0" tIns="0" rIns="0" bIns="0" rtlCol="0" anchor="ctr"/>
          <a:lstStyle/>
          <a:p>
            <a:pPr indent="0" marL="0">
              <a:buNone/>
            </a:pPr>
            <a:r>
              <a:rPr lang="en-US" sz="1300" b="1" dirty="0">
                <a:solidFill>
                  <a:srgbClr val="1B2A41"/>
                </a:solidFill>
              </a:rPr>
              <a:t>Osa HPA / kortizol</a:t>
            </a:r>
            <a:endParaRPr lang="en-US" sz="1300" dirty="0"/>
          </a:p>
        </p:txBody>
      </p:sp>
      <p:sp>
        <p:nvSpPr>
          <p:cNvPr id="17" name="cb-Osa HPA / kortizol"/>
          <p:cNvSpPr txBox="1"/>
          <p:nvPr/>
        </p:nvSpPr>
        <p:spPr>
          <a:xfrm>
            <a:off x="4389120" y="2395728"/>
            <a:ext cx="3337560" cy="1261872"/>
          </a:xfrm>
          <a:prstGeom prst="rect">
            <a:avLst/>
          </a:prstGeom>
          <a:noFill/>
          <a:ln/>
        </p:spPr>
        <p:txBody>
          <a:bodyPr wrap="square" lIns="0" tIns="0" rIns="0" bIns="0" rtlCol="0" anchor="t"/>
          <a:lstStyle/>
          <a:p>
            <a:pPr indent="0" marL="0">
              <a:buNone/>
            </a:pPr>
            <a:r>
              <a:rPr lang="en-US" sz="1000" dirty="0">
                <a:solidFill>
                  <a:srgbClr val="1B2A41"/>
                </a:solidFill>
              </a:rPr>
              <a:t>24h kortizol vyšší u OSA než u kontrol; CPAP ↓ vs. baseline, ale rozdíl vs. sham-CPAP nesignifikantní – Kritikou 2016 (RCT crossover)</a:t>
            </a:r>
            <a:endParaRPr lang="en-US" sz="1000" dirty="0"/>
          </a:p>
          <a:p>
            <a:pPr indent="0" marL="0">
              <a:buNone/>
            </a:pPr>
            <a:r>
              <a:rPr lang="en-US" sz="1000" dirty="0">
                <a:solidFill>
                  <a:srgbClr val="1B2A41"/>
                </a:solidFill>
              </a:rPr>
              <a:t>MA 6 RCT: SMD −0,39 (−0,75 až −0,03) – Ken-Dror 2021</a:t>
            </a:r>
            <a:endParaRPr lang="en-US" sz="1000" dirty="0"/>
          </a:p>
        </p:txBody>
      </p:sp>
      <p:sp>
        <p:nvSpPr>
          <p:cNvPr id="18" name="card-Jedna noc bez CPAP"/>
          <p:cNvSpPr/>
          <p:nvPr/>
        </p:nvSpPr>
        <p:spPr>
          <a:xfrm>
            <a:off x="8046720" y="1828800"/>
            <a:ext cx="3611880" cy="1920240"/>
          </a:xfrm>
          <a:prstGeom prst="roundRect">
            <a:avLst>
              <a:gd name="adj" fmla="val 4762"/>
            </a:avLst>
          </a:prstGeom>
          <a:solidFill>
            <a:srgbClr val="EEF2F7"/>
          </a:solidFill>
          <a:ln w="12700">
            <a:solidFill>
              <a:srgbClr val="EEF2F7"/>
            </a:solidFill>
            <a:prstDash val="solid"/>
          </a:ln>
        </p:spPr>
      </p:sp>
      <p:sp>
        <p:nvSpPr>
          <p:cNvPr id="19" name="dot-Jedna noc bez CPAP"/>
          <p:cNvSpPr/>
          <p:nvPr/>
        </p:nvSpPr>
        <p:spPr>
          <a:xfrm>
            <a:off x="8183880" y="1965960"/>
            <a:ext cx="365760" cy="365760"/>
          </a:xfrm>
          <a:prstGeom prst="ellipse">
            <a:avLst/>
          </a:prstGeom>
          <a:solidFill>
            <a:srgbClr val="3D5A80"/>
          </a:solidFill>
          <a:ln w="12700">
            <a:solidFill>
              <a:srgbClr val="3D5A80"/>
            </a:solidFill>
            <a:prstDash val="solid"/>
          </a:ln>
        </p:spPr>
      </p:sp>
      <p:sp>
        <p:nvSpPr>
          <p:cNvPr id="20" name="dotn-Jedna noc bez CPAP"/>
          <p:cNvSpPr txBox="1"/>
          <p:nvPr/>
        </p:nvSpPr>
        <p:spPr>
          <a:xfrm>
            <a:off x="8183880" y="1965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1" name="ct-Jedna noc bez CPAP"/>
          <p:cNvSpPr txBox="1"/>
          <p:nvPr/>
        </p:nvSpPr>
        <p:spPr>
          <a:xfrm>
            <a:off x="8641080" y="1965960"/>
            <a:ext cx="2880360" cy="365760"/>
          </a:xfrm>
          <a:prstGeom prst="rect">
            <a:avLst/>
          </a:prstGeom>
          <a:noFill/>
          <a:ln/>
        </p:spPr>
        <p:txBody>
          <a:bodyPr wrap="square" lIns="0" tIns="0" rIns="0" bIns="0" rtlCol="0" anchor="ctr"/>
          <a:lstStyle/>
          <a:p>
            <a:pPr indent="0" marL="0">
              <a:buNone/>
            </a:pPr>
            <a:r>
              <a:rPr lang="en-US" sz="1300" b="1" dirty="0">
                <a:solidFill>
                  <a:srgbClr val="1B2A41"/>
                </a:solidFill>
              </a:rPr>
              <a:t>Jedna noc bez CPAP</a:t>
            </a:r>
            <a:endParaRPr lang="en-US" sz="1300" dirty="0"/>
          </a:p>
        </p:txBody>
      </p:sp>
      <p:sp>
        <p:nvSpPr>
          <p:cNvPr id="22" name="cb-Jedna noc bez CPAP"/>
          <p:cNvSpPr txBox="1"/>
          <p:nvPr/>
        </p:nvSpPr>
        <p:spPr>
          <a:xfrm>
            <a:off x="8183880" y="2395728"/>
            <a:ext cx="3337560" cy="1261872"/>
          </a:xfrm>
          <a:prstGeom prst="rect">
            <a:avLst/>
          </a:prstGeom>
          <a:noFill/>
          <a:ln/>
        </p:spPr>
        <p:txBody>
          <a:bodyPr wrap="square" lIns="0" tIns="0" rIns="0" bIns="0" rtlCol="0" anchor="t"/>
          <a:lstStyle/>
          <a:p>
            <a:pPr indent="0" marL="0">
              <a:buNone/>
            </a:pPr>
            <a:r>
              <a:rPr lang="en-US" sz="1000" dirty="0">
                <a:solidFill>
                  <a:srgbClr val="1B2A41"/>
                </a:solidFill>
              </a:rPr>
              <a:t>Vysazení CPAP → ↑ noční volné mastné kyseliny (p = 0,007), glykémie (p = 0,028), kortizol (p = 0,037), sTK (p = 0,017) úměrně počtu událostí – Chopra 2017 (RCT crossover, n = 31)</a:t>
            </a:r>
            <a:endParaRPr lang="en-US" sz="1000" dirty="0"/>
          </a:p>
        </p:txBody>
      </p:sp>
      <p:sp>
        <p:nvSpPr>
          <p:cNvPr id="23" name="card-Zánět"/>
          <p:cNvSpPr/>
          <p:nvPr/>
        </p:nvSpPr>
        <p:spPr>
          <a:xfrm>
            <a:off x="457200" y="3886200"/>
            <a:ext cx="3611880" cy="1920240"/>
          </a:xfrm>
          <a:prstGeom prst="roundRect">
            <a:avLst>
              <a:gd name="adj" fmla="val 4762"/>
            </a:avLst>
          </a:prstGeom>
          <a:solidFill>
            <a:srgbClr val="EEF2F7"/>
          </a:solidFill>
          <a:ln w="12700">
            <a:solidFill>
              <a:srgbClr val="EEF2F7"/>
            </a:solidFill>
            <a:prstDash val="solid"/>
          </a:ln>
        </p:spPr>
      </p:sp>
      <p:sp>
        <p:nvSpPr>
          <p:cNvPr id="24" name="dot-Zánět"/>
          <p:cNvSpPr/>
          <p:nvPr/>
        </p:nvSpPr>
        <p:spPr>
          <a:xfrm>
            <a:off x="594360" y="4023360"/>
            <a:ext cx="365760" cy="365760"/>
          </a:xfrm>
          <a:prstGeom prst="ellipse">
            <a:avLst/>
          </a:prstGeom>
          <a:solidFill>
            <a:srgbClr val="C8553D"/>
          </a:solidFill>
          <a:ln w="12700">
            <a:solidFill>
              <a:srgbClr val="C8553D"/>
            </a:solidFill>
            <a:prstDash val="solid"/>
          </a:ln>
        </p:spPr>
      </p:sp>
      <p:sp>
        <p:nvSpPr>
          <p:cNvPr id="25" name="dotn-Zánět"/>
          <p:cNvSpPr txBox="1"/>
          <p:nvPr/>
        </p:nvSpPr>
        <p:spPr>
          <a:xfrm>
            <a:off x="594360" y="4023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6" name="ct-Zánět"/>
          <p:cNvSpPr txBox="1"/>
          <p:nvPr/>
        </p:nvSpPr>
        <p:spPr>
          <a:xfrm>
            <a:off x="1051560" y="4023360"/>
            <a:ext cx="2880360" cy="365760"/>
          </a:xfrm>
          <a:prstGeom prst="rect">
            <a:avLst/>
          </a:prstGeom>
          <a:noFill/>
          <a:ln/>
        </p:spPr>
        <p:txBody>
          <a:bodyPr wrap="square" lIns="0" tIns="0" rIns="0" bIns="0" rtlCol="0" anchor="ctr"/>
          <a:lstStyle/>
          <a:p>
            <a:pPr indent="0" marL="0">
              <a:buNone/>
            </a:pPr>
            <a:r>
              <a:rPr lang="en-US" sz="1300" b="1" dirty="0">
                <a:solidFill>
                  <a:srgbClr val="1B2A41"/>
                </a:solidFill>
              </a:rPr>
              <a:t>Zánět</a:t>
            </a:r>
            <a:endParaRPr lang="en-US" sz="1300" dirty="0"/>
          </a:p>
        </p:txBody>
      </p:sp>
      <p:sp>
        <p:nvSpPr>
          <p:cNvPr id="27" name="cb-Zánět"/>
          <p:cNvSpPr txBox="1"/>
          <p:nvPr/>
        </p:nvSpPr>
        <p:spPr>
          <a:xfrm>
            <a:off x="594360" y="4453128"/>
            <a:ext cx="3337560" cy="1261872"/>
          </a:xfrm>
          <a:prstGeom prst="rect">
            <a:avLst/>
          </a:prstGeom>
          <a:noFill/>
          <a:ln/>
        </p:spPr>
        <p:txBody>
          <a:bodyPr wrap="square" lIns="0" tIns="0" rIns="0" bIns="0" rtlCol="0" anchor="t"/>
          <a:lstStyle/>
          <a:p>
            <a:pPr indent="0" marL="0">
              <a:buNone/>
            </a:pPr>
            <a:r>
              <a:rPr lang="en-US" sz="1000" dirty="0">
                <a:solidFill>
                  <a:srgbClr val="1B2A41"/>
                </a:solidFill>
              </a:rPr>
              <a:t>IN VITRO: IH selektivně aktivuje NF-κB, ne HIF-1</a:t>
            </a:r>
            <a:endParaRPr lang="en-US" sz="1000" dirty="0"/>
          </a:p>
          <a:p>
            <a:pPr indent="0" marL="0">
              <a:buNone/>
            </a:pPr>
            <a:r>
              <a:rPr lang="en-US" sz="1000" dirty="0">
                <a:solidFill>
                  <a:srgbClr val="1B2A41"/>
                </a:solidFill>
              </a:rPr>
              <a:t>Pacienti: TNF-α 2,56 vs. 1,25 pg/ml (p &lt; 0,001), po 6 týdnech CPAP 1,24 – Ryan 2005</a:t>
            </a:r>
            <a:endParaRPr lang="en-US" sz="1000" dirty="0"/>
          </a:p>
          <a:p>
            <a:pPr indent="0" marL="0">
              <a:buNone/>
            </a:pPr>
            <a:r>
              <a:rPr lang="en-US" sz="1000" dirty="0">
                <a:solidFill>
                  <a:srgbClr val="1B2A41"/>
                </a:solidFill>
              </a:rPr>
              <a:t>MA 51 studií: SMD CRP 1,77, IL-6 2,16 (CI neuvedeny; bez adj. na BMI) – Nadeem 2013</a:t>
            </a:r>
            <a:endParaRPr lang="en-US" sz="1000" dirty="0"/>
          </a:p>
        </p:txBody>
      </p:sp>
      <p:sp>
        <p:nvSpPr>
          <p:cNvPr id="28" name="card-Adipokiny"/>
          <p:cNvSpPr/>
          <p:nvPr/>
        </p:nvSpPr>
        <p:spPr>
          <a:xfrm>
            <a:off x="4251960" y="3886200"/>
            <a:ext cx="3611880" cy="1920240"/>
          </a:xfrm>
          <a:prstGeom prst="roundRect">
            <a:avLst>
              <a:gd name="adj" fmla="val 4762"/>
            </a:avLst>
          </a:prstGeom>
          <a:solidFill>
            <a:srgbClr val="EEF2F7"/>
          </a:solidFill>
          <a:ln w="12700">
            <a:solidFill>
              <a:srgbClr val="EEF2F7"/>
            </a:solidFill>
            <a:prstDash val="solid"/>
          </a:ln>
        </p:spPr>
      </p:sp>
      <p:sp>
        <p:nvSpPr>
          <p:cNvPr id="29" name="dot-Adipokiny"/>
          <p:cNvSpPr/>
          <p:nvPr/>
        </p:nvSpPr>
        <p:spPr>
          <a:xfrm>
            <a:off x="4389120" y="4023360"/>
            <a:ext cx="365760" cy="365760"/>
          </a:xfrm>
          <a:prstGeom prst="ellipse">
            <a:avLst/>
          </a:prstGeom>
          <a:solidFill>
            <a:srgbClr val="2A9D8F"/>
          </a:solidFill>
          <a:ln w="12700">
            <a:solidFill>
              <a:srgbClr val="2A9D8F"/>
            </a:solidFill>
            <a:prstDash val="solid"/>
          </a:ln>
        </p:spPr>
      </p:sp>
      <p:sp>
        <p:nvSpPr>
          <p:cNvPr id="30" name="dotn-Adipokiny"/>
          <p:cNvSpPr txBox="1"/>
          <p:nvPr/>
        </p:nvSpPr>
        <p:spPr>
          <a:xfrm>
            <a:off x="4389120" y="4023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1" name="ct-Adipokiny"/>
          <p:cNvSpPr txBox="1"/>
          <p:nvPr/>
        </p:nvSpPr>
        <p:spPr>
          <a:xfrm>
            <a:off x="4846320" y="4023360"/>
            <a:ext cx="2880360" cy="365760"/>
          </a:xfrm>
          <a:prstGeom prst="rect">
            <a:avLst/>
          </a:prstGeom>
          <a:noFill/>
          <a:ln/>
        </p:spPr>
        <p:txBody>
          <a:bodyPr wrap="square" lIns="0" tIns="0" rIns="0" bIns="0" rtlCol="0" anchor="ctr"/>
          <a:lstStyle/>
          <a:p>
            <a:pPr indent="0" marL="0">
              <a:buNone/>
            </a:pPr>
            <a:r>
              <a:rPr lang="en-US" sz="1300" b="1" dirty="0">
                <a:solidFill>
                  <a:srgbClr val="1B2A41"/>
                </a:solidFill>
              </a:rPr>
              <a:t>Adipokiny</a:t>
            </a:r>
            <a:endParaRPr lang="en-US" sz="1300" dirty="0"/>
          </a:p>
        </p:txBody>
      </p:sp>
      <p:sp>
        <p:nvSpPr>
          <p:cNvPr id="32" name="cb-Adipokiny"/>
          <p:cNvSpPr txBox="1"/>
          <p:nvPr/>
        </p:nvSpPr>
        <p:spPr>
          <a:xfrm>
            <a:off x="4389120" y="4453128"/>
            <a:ext cx="3337560" cy="1261872"/>
          </a:xfrm>
          <a:prstGeom prst="rect">
            <a:avLst/>
          </a:prstGeom>
          <a:noFill/>
          <a:ln/>
        </p:spPr>
        <p:txBody>
          <a:bodyPr wrap="square" lIns="0" tIns="0" rIns="0" bIns="0" rtlCol="0" anchor="t"/>
          <a:lstStyle/>
          <a:p>
            <a:pPr indent="0" marL="0">
              <a:buNone/>
            </a:pPr>
            <a:r>
              <a:rPr lang="en-US" sz="1000" dirty="0">
                <a:solidFill>
                  <a:srgbClr val="1B2A41"/>
                </a:solidFill>
              </a:rPr>
              <a:t>Leptin 13,7 ± 1,3 vs. 9,2 ± 1,2 ng/ml u stejně obézních mužů s/bez OSA (p = 0,02) – Phillips 2000</a:t>
            </a:r>
            <a:endParaRPr lang="en-US" sz="1000" dirty="0"/>
          </a:p>
          <a:p>
            <a:pPr indent="0" marL="0">
              <a:buNone/>
            </a:pPr>
            <a:r>
              <a:rPr lang="en-US" sz="1000" dirty="0">
                <a:solidFill>
                  <a:srgbClr val="1B2A41"/>
                </a:solidFill>
              </a:rPr>
              <a:t>Adiponektin: SMD −0,71 (−0,92 až −0,49), 20 studií – Lu 2019</a:t>
            </a:r>
            <a:endParaRPr lang="en-US" sz="1000" dirty="0"/>
          </a:p>
        </p:txBody>
      </p:sp>
      <p:sp>
        <p:nvSpPr>
          <p:cNvPr id="33" name="card-Jaterní IR / MASLD"/>
          <p:cNvSpPr/>
          <p:nvPr/>
        </p:nvSpPr>
        <p:spPr>
          <a:xfrm>
            <a:off x="8046720" y="3886200"/>
            <a:ext cx="3611880" cy="1920240"/>
          </a:xfrm>
          <a:prstGeom prst="roundRect">
            <a:avLst>
              <a:gd name="adj" fmla="val 4762"/>
            </a:avLst>
          </a:prstGeom>
          <a:solidFill>
            <a:srgbClr val="EEF2F7"/>
          </a:solidFill>
          <a:ln w="12700">
            <a:solidFill>
              <a:srgbClr val="EEF2F7"/>
            </a:solidFill>
            <a:prstDash val="solid"/>
          </a:ln>
        </p:spPr>
      </p:sp>
      <p:sp>
        <p:nvSpPr>
          <p:cNvPr id="34" name="dot-Jaterní IR / MASLD"/>
          <p:cNvSpPr/>
          <p:nvPr/>
        </p:nvSpPr>
        <p:spPr>
          <a:xfrm>
            <a:off x="8183880" y="4023360"/>
            <a:ext cx="365760" cy="365760"/>
          </a:xfrm>
          <a:prstGeom prst="ellipse">
            <a:avLst/>
          </a:prstGeom>
          <a:solidFill>
            <a:srgbClr val="2A9D8F"/>
          </a:solidFill>
          <a:ln w="12700">
            <a:solidFill>
              <a:srgbClr val="2A9D8F"/>
            </a:solidFill>
            <a:prstDash val="solid"/>
          </a:ln>
        </p:spPr>
      </p:sp>
      <p:sp>
        <p:nvSpPr>
          <p:cNvPr id="35" name="dotn-Jaterní IR / MASLD"/>
          <p:cNvSpPr txBox="1"/>
          <p:nvPr/>
        </p:nvSpPr>
        <p:spPr>
          <a:xfrm>
            <a:off x="8183880" y="4023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6" name="ct-Jaterní IR / MASLD"/>
          <p:cNvSpPr txBox="1"/>
          <p:nvPr/>
        </p:nvSpPr>
        <p:spPr>
          <a:xfrm>
            <a:off x="8641080" y="4023360"/>
            <a:ext cx="2880360" cy="365760"/>
          </a:xfrm>
          <a:prstGeom prst="rect">
            <a:avLst/>
          </a:prstGeom>
          <a:noFill/>
          <a:ln/>
        </p:spPr>
        <p:txBody>
          <a:bodyPr wrap="square" lIns="0" tIns="0" rIns="0" bIns="0" rtlCol="0" anchor="ctr"/>
          <a:lstStyle/>
          <a:p>
            <a:pPr indent="0" marL="0">
              <a:buNone/>
            </a:pPr>
            <a:r>
              <a:rPr lang="en-US" sz="1300" b="1" dirty="0">
                <a:solidFill>
                  <a:srgbClr val="1B2A41"/>
                </a:solidFill>
              </a:rPr>
              <a:t>Jaterní IR / MASLD</a:t>
            </a:r>
            <a:endParaRPr lang="en-US" sz="1300" dirty="0"/>
          </a:p>
        </p:txBody>
      </p:sp>
      <p:sp>
        <p:nvSpPr>
          <p:cNvPr id="37" name="cb-Jaterní IR / MASLD"/>
          <p:cNvSpPr txBox="1"/>
          <p:nvPr/>
        </p:nvSpPr>
        <p:spPr>
          <a:xfrm>
            <a:off x="8183880" y="4453128"/>
            <a:ext cx="3337560" cy="1261872"/>
          </a:xfrm>
          <a:prstGeom prst="rect">
            <a:avLst/>
          </a:prstGeom>
          <a:noFill/>
          <a:ln/>
        </p:spPr>
        <p:txBody>
          <a:bodyPr wrap="square" lIns="0" tIns="0" rIns="0" bIns="0" rtlCol="0" anchor="t"/>
          <a:lstStyle/>
          <a:p>
            <a:pPr indent="0" marL="0">
              <a:buNone/>
            </a:pPr>
            <a:r>
              <a:rPr lang="en-US" sz="1000" dirty="0">
                <a:solidFill>
                  <a:srgbClr val="1B2A41"/>
                </a:solidFill>
              </a:rPr>
              <a:t>MA 18 průřezových studií: OR NAFLD 2,01 (1,36–2,97) histologie, 2,99 (1,79–4,99) radiologie; NASH 2,37; fibróza 2,16 – Musso 2013; efekt nezávislý na BMI v meta-regresi</a:t>
            </a:r>
            <a:endParaRPr lang="en-US" sz="1000" dirty="0"/>
          </a:p>
          <a:p>
            <a:pPr indent="0" marL="0">
              <a:buNone/>
            </a:pPr>
            <a:r>
              <a:rPr lang="en-US" sz="1000" dirty="0">
                <a:solidFill>
                  <a:srgbClr val="1B2A41"/>
                </a:solidFill>
              </a:rPr>
              <a:t>Vázáno na stupeň noční hypoxémie – Mesarwi 2019</a:t>
            </a:r>
            <a:endParaRPr lang="en-US" sz="1000" dirty="0"/>
          </a:p>
        </p:txBody>
      </p:sp>
      <p:sp>
        <p:nvSpPr>
          <p:cNvPr id="38"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Somers, J Clin Invest 1995 · Narkiewicz, Circulation 1998 · Kritikou, Eur Respir J 2016 · Ken-Dror, Clin Endocrinol 2021 · Chopra, JCEM 2017 · Ryan, Circulation 2005 · Nadeem, JCSM 2013 · Phillips, Am J Physiol 2000 · Lu, Lipids Health Dis 2019 · Musso, Obes Rev 2013 · Mesarwi, AJRCCM 2019</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Obousměrnost: obezita a IR → OSA, OSA → IR/DM2 – ale asymetricky</a:t>
            </a:r>
            <a:endParaRPr lang="en-US" sz="2500" dirty="0"/>
          </a:p>
        </p:txBody>
      </p:sp>
      <p:sp>
        <p:nvSpPr>
          <p:cNvPr id="3" name="tag-průřez"/>
          <p:cNvSpPr/>
          <p:nvPr/>
        </p:nvSpPr>
        <p:spPr>
          <a:xfrm>
            <a:off x="10863072" y="384048"/>
            <a:ext cx="886968" cy="310896"/>
          </a:xfrm>
          <a:prstGeom prst="roundRect">
            <a:avLst>
              <a:gd name="adj" fmla="val 23529"/>
            </a:avLst>
          </a:prstGeom>
          <a:solidFill>
            <a:srgbClr val="8D99AE"/>
          </a:solidFill>
          <a:ln w="12700">
            <a:solidFill>
              <a:srgbClr val="8D99AE"/>
            </a:solidFill>
            <a:prstDash val="solid"/>
          </a:ln>
        </p:spPr>
      </p:sp>
      <p:sp>
        <p:nvSpPr>
          <p:cNvPr id="4" name="tag-text-průřez"/>
          <p:cNvSpPr txBox="1"/>
          <p:nvPr/>
        </p:nvSpPr>
        <p:spPr>
          <a:xfrm>
            <a:off x="10863072"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průřez</a:t>
            </a:r>
            <a:endParaRPr lang="en-US" sz="1000" dirty="0"/>
          </a:p>
        </p:txBody>
      </p:sp>
      <p:sp>
        <p:nvSpPr>
          <p:cNvPr id="5" name="tag-MR"/>
          <p:cNvSpPr/>
          <p:nvPr/>
        </p:nvSpPr>
        <p:spPr>
          <a:xfrm>
            <a:off x="9921240" y="384048"/>
            <a:ext cx="868680" cy="310896"/>
          </a:xfrm>
          <a:prstGeom prst="roundRect">
            <a:avLst>
              <a:gd name="adj" fmla="val 23529"/>
            </a:avLst>
          </a:prstGeom>
          <a:solidFill>
            <a:srgbClr val="6B4C9A"/>
          </a:solidFill>
          <a:ln w="12700">
            <a:solidFill>
              <a:srgbClr val="6B4C9A"/>
            </a:solidFill>
            <a:prstDash val="solid"/>
          </a:ln>
        </p:spPr>
      </p:sp>
      <p:sp>
        <p:nvSpPr>
          <p:cNvPr id="6" name="tag-text-MR"/>
          <p:cNvSpPr txBox="1"/>
          <p:nvPr/>
        </p:nvSpPr>
        <p:spPr>
          <a:xfrm>
            <a:off x="9921240" y="384048"/>
            <a:ext cx="868680" cy="310896"/>
          </a:xfrm>
          <a:prstGeom prst="rect">
            <a:avLst/>
          </a:prstGeom>
          <a:noFill/>
          <a:ln/>
        </p:spPr>
        <p:txBody>
          <a:bodyPr wrap="square" lIns="0" tIns="0" rIns="0" bIns="0" rtlCol="0" anchor="ctr"/>
          <a:lstStyle/>
          <a:p>
            <a:pPr algn="ctr" indent="0" marL="0">
              <a:buNone/>
            </a:pPr>
            <a:r>
              <a:rPr lang="en-US" sz="1000" b="1" dirty="0">
                <a:solidFill>
                  <a:srgbClr val="FFFFFF"/>
                </a:solidFill>
              </a:rPr>
              <a:t>MR</a:t>
            </a:r>
            <a:endParaRPr lang="en-US" sz="1000" dirty="0"/>
          </a:p>
        </p:txBody>
      </p:sp>
      <p:sp>
        <p:nvSpPr>
          <p:cNvPr id="7" name="tag-kohorta"/>
          <p:cNvSpPr/>
          <p:nvPr/>
        </p:nvSpPr>
        <p:spPr>
          <a:xfrm>
            <a:off x="8851392" y="384048"/>
            <a:ext cx="996696" cy="310896"/>
          </a:xfrm>
          <a:prstGeom prst="roundRect">
            <a:avLst>
              <a:gd name="adj" fmla="val 23529"/>
            </a:avLst>
          </a:prstGeom>
          <a:solidFill>
            <a:srgbClr val="3D5A80"/>
          </a:solidFill>
          <a:ln w="12700">
            <a:solidFill>
              <a:srgbClr val="3D5A80"/>
            </a:solidFill>
            <a:prstDash val="solid"/>
          </a:ln>
        </p:spPr>
      </p:sp>
      <p:sp>
        <p:nvSpPr>
          <p:cNvPr id="8" name="tag-text-kohorta"/>
          <p:cNvSpPr txBox="1"/>
          <p:nvPr/>
        </p:nvSpPr>
        <p:spPr>
          <a:xfrm>
            <a:off x="8851392"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kohorta</a:t>
            </a:r>
            <a:endParaRPr lang="en-US" sz="1000" dirty="0"/>
          </a:p>
        </p:txBody>
      </p:sp>
      <p:sp>
        <p:nvSpPr>
          <p:cNvPr id="9"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Přibrání o 10 % zvedne AHI o ~32 %; OSA zvyšuje riziko DM2 i po adjustaci na BMI a pas (HR 1,37), opačný směr je po adjustaci hraniční (HR 1,08).</a:t>
            </a:r>
            <a:endParaRPr lang="en-US" sz="1500" dirty="0"/>
          </a:p>
        </p:txBody>
      </p:sp>
      <p:sp>
        <p:nvSpPr>
          <p:cNvPr id="10" name="nb-Obezita inzulinová rezistence DM2"/>
          <p:cNvSpPr/>
          <p:nvPr/>
        </p:nvSpPr>
        <p:spPr>
          <a:xfrm>
            <a:off x="457200" y="2514600"/>
            <a:ext cx="2377440" cy="1188720"/>
          </a:xfrm>
          <a:prstGeom prst="roundRect">
            <a:avLst>
              <a:gd name="adj" fmla="val 11538"/>
            </a:avLst>
          </a:prstGeom>
          <a:solidFill>
            <a:srgbClr val="2A9D8F"/>
          </a:solidFill>
          <a:ln w="12700">
            <a:solidFill>
              <a:srgbClr val="2A9D8F"/>
            </a:solidFill>
            <a:prstDash val="solid"/>
          </a:ln>
        </p:spPr>
      </p:sp>
      <p:sp>
        <p:nvSpPr>
          <p:cNvPr id="11" name="nbt-Obezita inzulinová rezistence DM2"/>
          <p:cNvSpPr txBox="1"/>
          <p:nvPr/>
        </p:nvSpPr>
        <p:spPr>
          <a:xfrm>
            <a:off x="457200" y="2514600"/>
            <a:ext cx="2377440" cy="1188720"/>
          </a:xfrm>
          <a:prstGeom prst="rect">
            <a:avLst/>
          </a:prstGeom>
          <a:noFill/>
          <a:ln/>
        </p:spPr>
        <p:txBody>
          <a:bodyPr wrap="square" lIns="635" tIns="635" rIns="635" bIns="635" rtlCol="0" anchor="ctr"/>
          <a:lstStyle/>
          <a:p>
            <a:pPr algn="ctr" indent="0" marL="0">
              <a:buNone/>
            </a:pPr>
            <a:r>
              <a:rPr lang="en-US" sz="1500" b="1" dirty="0">
                <a:solidFill>
                  <a:srgbClr val="FFFFFF"/>
                </a:solidFill>
              </a:rPr>
              <a:t>Obezita</a:t>
            </a:r>
            <a:endParaRPr lang="en-US" sz="1500" dirty="0"/>
          </a:p>
          <a:p>
            <a:pPr algn="ctr" indent="0" marL="0">
              <a:buNone/>
            </a:pPr>
            <a:r>
              <a:rPr lang="en-US" sz="1500" b="1" dirty="0">
                <a:solidFill>
                  <a:srgbClr val="FFFFFF"/>
                </a:solidFill>
              </a:rPr>
              <a:t>inzulinová rezistence</a:t>
            </a:r>
            <a:endParaRPr lang="en-US" sz="1500" dirty="0"/>
          </a:p>
          <a:p>
            <a:pPr algn="ctr" indent="0" marL="0">
              <a:buNone/>
            </a:pPr>
            <a:r>
              <a:rPr lang="en-US" sz="1500" b="1" dirty="0">
                <a:solidFill>
                  <a:srgbClr val="FFFFFF"/>
                </a:solidFill>
              </a:rPr>
              <a:t>DM2</a:t>
            </a:r>
            <a:endParaRPr lang="en-US" sz="1500" dirty="0"/>
          </a:p>
        </p:txBody>
      </p:sp>
      <p:sp>
        <p:nvSpPr>
          <p:cNvPr id="12" name="nb-Obstrukční spánková apnoe"/>
          <p:cNvSpPr/>
          <p:nvPr/>
        </p:nvSpPr>
        <p:spPr>
          <a:xfrm>
            <a:off x="8229600" y="2514600"/>
            <a:ext cx="2377440" cy="1188720"/>
          </a:xfrm>
          <a:prstGeom prst="roundRect">
            <a:avLst>
              <a:gd name="adj" fmla="val 11538"/>
            </a:avLst>
          </a:prstGeom>
          <a:solidFill>
            <a:srgbClr val="C8553D"/>
          </a:solidFill>
          <a:ln w="12700">
            <a:solidFill>
              <a:srgbClr val="C8553D"/>
            </a:solidFill>
            <a:prstDash val="solid"/>
          </a:ln>
        </p:spPr>
      </p:sp>
      <p:sp>
        <p:nvSpPr>
          <p:cNvPr id="13" name="nbt-Obstrukční spánková apnoe"/>
          <p:cNvSpPr txBox="1"/>
          <p:nvPr/>
        </p:nvSpPr>
        <p:spPr>
          <a:xfrm>
            <a:off x="8229600" y="2514600"/>
            <a:ext cx="2377440" cy="1188720"/>
          </a:xfrm>
          <a:prstGeom prst="rect">
            <a:avLst/>
          </a:prstGeom>
          <a:noFill/>
          <a:ln/>
        </p:spPr>
        <p:txBody>
          <a:bodyPr wrap="square" lIns="635" tIns="635" rIns="635" bIns="635" rtlCol="0" anchor="ctr"/>
          <a:lstStyle/>
          <a:p>
            <a:pPr algn="ctr" indent="0" marL="0">
              <a:buNone/>
            </a:pPr>
            <a:r>
              <a:rPr lang="en-US" sz="1500" b="1" dirty="0">
                <a:solidFill>
                  <a:srgbClr val="FFFFFF"/>
                </a:solidFill>
              </a:rPr>
              <a:t>Obstrukční</a:t>
            </a:r>
            <a:endParaRPr lang="en-US" sz="1500" dirty="0"/>
          </a:p>
          <a:p>
            <a:pPr algn="ctr" indent="0" marL="0">
              <a:buNone/>
            </a:pPr>
            <a:r>
              <a:rPr lang="en-US" sz="1500" b="1" dirty="0">
                <a:solidFill>
                  <a:srgbClr val="FFFFFF"/>
                </a:solidFill>
              </a:rPr>
              <a:t>spánková apnoe</a:t>
            </a:r>
            <a:endParaRPr lang="en-US" sz="1500" dirty="0"/>
          </a:p>
        </p:txBody>
      </p:sp>
      <p:sp>
        <p:nvSpPr>
          <p:cNvPr id="14" name="a1"/>
          <p:cNvSpPr/>
          <p:nvPr/>
        </p:nvSpPr>
        <p:spPr>
          <a:xfrm>
            <a:off x="3017520" y="2468880"/>
            <a:ext cx="5029200" cy="457200"/>
          </a:xfrm>
          <a:prstGeom prst="rightArrow">
            <a:avLst/>
          </a:prstGeom>
          <a:solidFill>
            <a:srgbClr val="2A9D8F"/>
          </a:solidFill>
          <a:ln w="12700">
            <a:solidFill>
              <a:srgbClr val="2A9D8F"/>
            </a:solidFill>
            <a:prstDash val="solid"/>
          </a:ln>
        </p:spPr>
      </p:sp>
      <p:sp>
        <p:nvSpPr>
          <p:cNvPr id="15" name="a2"/>
          <p:cNvSpPr/>
          <p:nvPr/>
        </p:nvSpPr>
        <p:spPr>
          <a:xfrm>
            <a:off x="3017520" y="3291840"/>
            <a:ext cx="5029200" cy="457200"/>
          </a:xfrm>
          <a:prstGeom prst="leftArrow">
            <a:avLst/>
          </a:prstGeom>
          <a:solidFill>
            <a:srgbClr val="C8553D"/>
          </a:solidFill>
          <a:ln w="12700">
            <a:solidFill>
              <a:srgbClr val="C8553D"/>
            </a:solidFill>
            <a:prstDash val="solid"/>
          </a:ln>
        </p:spPr>
      </p:sp>
      <p:sp>
        <p:nvSpPr>
          <p:cNvPr id="16" name="t1"/>
          <p:cNvSpPr txBox="1"/>
          <p:nvPr/>
        </p:nvSpPr>
        <p:spPr>
          <a:xfrm>
            <a:off x="3017520" y="1783080"/>
            <a:ext cx="5029200" cy="658368"/>
          </a:xfrm>
          <a:prstGeom prst="rect">
            <a:avLst/>
          </a:prstGeom>
          <a:noFill/>
          <a:ln/>
        </p:spPr>
        <p:txBody>
          <a:bodyPr wrap="square" lIns="0" tIns="0" rIns="0" bIns="0" rtlCol="0" anchor="b"/>
          <a:lstStyle/>
          <a:p>
            <a:pPr indent="0" marL="0">
              <a:buNone/>
            </a:pPr>
            <a:r>
              <a:rPr lang="en-US" sz="950" dirty="0">
                <a:solidFill>
                  <a:srgbClr val="1B2A41"/>
                </a:solidFill>
              </a:rPr>
              <a:t>DM2 → OSA: HR 1,53 (1,32–1,77) → po adj. na BMI + pas 1,08 (1,00–1,16); inzulinem léčený DM 1,43 (1,11–1,83) – Huang 2018</a:t>
            </a:r>
            <a:endParaRPr lang="en-US" sz="950" dirty="0"/>
          </a:p>
          <a:p>
            <a:pPr indent="0" marL="0">
              <a:buNone/>
            </a:pPr>
            <a:r>
              <a:rPr lang="en-US" sz="950" dirty="0">
                <a:solidFill>
                  <a:srgbClr val="1B2A41"/>
                </a:solidFill>
              </a:rPr>
              <a:t>+10 % hmotnosti → +32 % AHI (20–45 %), 6× odds středně těžké–těžké SDB (2,2–17,0) – Peppard 2000 · MR: BMI → OSA kauzálně, genetická korelace r = 0,72 – Strausz 2021</a:t>
            </a:r>
            <a:endParaRPr lang="en-US" sz="950" dirty="0"/>
          </a:p>
        </p:txBody>
      </p:sp>
      <p:sp>
        <p:nvSpPr>
          <p:cNvPr id="17" name="t2"/>
          <p:cNvSpPr txBox="1"/>
          <p:nvPr/>
        </p:nvSpPr>
        <p:spPr>
          <a:xfrm>
            <a:off x="3017520" y="3794760"/>
            <a:ext cx="5029200" cy="457200"/>
          </a:xfrm>
          <a:prstGeom prst="rect">
            <a:avLst/>
          </a:prstGeom>
          <a:noFill/>
          <a:ln/>
        </p:spPr>
        <p:txBody>
          <a:bodyPr wrap="square" lIns="0" tIns="0" rIns="0" bIns="0" rtlCol="0" anchor="t"/>
          <a:lstStyle/>
          <a:p>
            <a:pPr indent="0" marL="0">
              <a:buNone/>
            </a:pPr>
            <a:r>
              <a:rPr lang="en-US" sz="950" dirty="0">
                <a:solidFill>
                  <a:srgbClr val="1B2A41"/>
                </a:solidFill>
              </a:rPr>
              <a:t>OSA → DM2: HR 2,06 (1,86–2,28) → po adj. na BMI + pas 1,37 (1,24–1,53); 146 519 osob, 3 kohorty, 10–18 let – Huang 2018</a:t>
            </a:r>
            <a:endParaRPr lang="en-US" sz="950" dirty="0"/>
          </a:p>
        </p:txBody>
      </p:sp>
      <p:sp>
        <p:nvSpPr>
          <p:cNvPr id="18" name="box-Mechanismus DM2 → OSA: dysautonomie"/>
          <p:cNvSpPr/>
          <p:nvPr/>
        </p:nvSpPr>
        <p:spPr>
          <a:xfrm>
            <a:off x="457200" y="4617720"/>
            <a:ext cx="3657600" cy="1325880"/>
          </a:xfrm>
          <a:prstGeom prst="roundRect">
            <a:avLst>
              <a:gd name="adj" fmla="val 6897"/>
            </a:avLst>
          </a:prstGeom>
          <a:solidFill>
            <a:srgbClr val="EEF2F7"/>
          </a:solidFill>
          <a:ln w="12700">
            <a:solidFill>
              <a:srgbClr val="EEF2F7"/>
            </a:solidFill>
            <a:prstDash val="solid"/>
          </a:ln>
        </p:spPr>
      </p:sp>
      <p:sp>
        <p:nvSpPr>
          <p:cNvPr id="19" name="box-title-Mechanismus DM2 → OSA: dysautonomie"/>
          <p:cNvSpPr txBox="1"/>
          <p:nvPr/>
        </p:nvSpPr>
        <p:spPr>
          <a:xfrm>
            <a:off x="594360" y="4709160"/>
            <a:ext cx="3383280" cy="329184"/>
          </a:xfrm>
          <a:prstGeom prst="rect">
            <a:avLst/>
          </a:prstGeom>
          <a:noFill/>
          <a:ln/>
        </p:spPr>
        <p:txBody>
          <a:bodyPr wrap="square" lIns="0" tIns="0" rIns="0" bIns="0" rtlCol="0" anchor="t"/>
          <a:lstStyle/>
          <a:p>
            <a:pPr indent="0" marL="0">
              <a:buNone/>
            </a:pPr>
            <a:r>
              <a:rPr lang="en-US" sz="1250" b="1" dirty="0">
                <a:solidFill>
                  <a:srgbClr val="2A9D8F"/>
                </a:solidFill>
              </a:rPr>
              <a:t>Mechanismus DM2 → OSA: dysautonomie</a:t>
            </a:r>
            <a:endParaRPr lang="en-US" sz="1250" dirty="0"/>
          </a:p>
        </p:txBody>
      </p:sp>
      <p:sp>
        <p:nvSpPr>
          <p:cNvPr id="20" name="box-body-Mechanismus DM2 → OSA: dysautonomie"/>
          <p:cNvSpPr txBox="1"/>
          <p:nvPr/>
        </p:nvSpPr>
        <p:spPr>
          <a:xfrm>
            <a:off x="594360" y="5056632"/>
            <a:ext cx="3383280" cy="795528"/>
          </a:xfrm>
          <a:prstGeom prst="rect">
            <a:avLst/>
          </a:prstGeom>
          <a:noFill/>
          <a:ln/>
        </p:spPr>
        <p:txBody>
          <a:bodyPr wrap="square" lIns="0" tIns="0" rIns="0" bIns="0" rtlCol="0" anchor="t"/>
          <a:lstStyle/>
          <a:p>
            <a:pPr indent="0" marL="0">
              <a:spcAft>
                <a:spcPts val="300"/>
              </a:spcAft>
              <a:buNone/>
            </a:pPr>
            <a:r>
              <a:rPr lang="en-US" sz="1000" dirty="0">
                <a:solidFill>
                  <a:srgbClr val="1B2A41"/>
                </a:solidFill>
              </a:rPr>
              <a:t>Neobézní diabetici s autonomní neuropatií (BMI ~24): obstrukční události u &gt; 30 %, u diabetiků bez neuropatie u nikoho; ↓ periferní chemosenzitivita k CO₂ – Bottini 2003; Ficker 1998 (26 % vs. 0 %)</a:t>
            </a:r>
            <a:endParaRPr lang="en-US" sz="1000" dirty="0"/>
          </a:p>
        </p:txBody>
      </p:sp>
      <p:sp>
        <p:nvSpPr>
          <p:cNvPr id="21" name="box-Mendelovská randomizace: PRO"/>
          <p:cNvSpPr/>
          <p:nvPr/>
        </p:nvSpPr>
        <p:spPr>
          <a:xfrm>
            <a:off x="4297680" y="4617720"/>
            <a:ext cx="3657600" cy="1325880"/>
          </a:xfrm>
          <a:prstGeom prst="roundRect">
            <a:avLst>
              <a:gd name="adj" fmla="val 6897"/>
            </a:avLst>
          </a:prstGeom>
          <a:solidFill>
            <a:srgbClr val="EEF2F7"/>
          </a:solidFill>
          <a:ln w="12700">
            <a:solidFill>
              <a:srgbClr val="EEF2F7"/>
            </a:solidFill>
            <a:prstDash val="solid"/>
          </a:ln>
        </p:spPr>
      </p:sp>
      <p:sp>
        <p:nvSpPr>
          <p:cNvPr id="22" name="box-title-Mendelovská randomizace: PRO"/>
          <p:cNvSpPr txBox="1"/>
          <p:nvPr/>
        </p:nvSpPr>
        <p:spPr>
          <a:xfrm>
            <a:off x="4434840" y="4709160"/>
            <a:ext cx="3383280" cy="329184"/>
          </a:xfrm>
          <a:prstGeom prst="rect">
            <a:avLst/>
          </a:prstGeom>
          <a:noFill/>
          <a:ln/>
        </p:spPr>
        <p:txBody>
          <a:bodyPr wrap="square" lIns="0" tIns="0" rIns="0" bIns="0" rtlCol="0" anchor="t"/>
          <a:lstStyle/>
          <a:p>
            <a:pPr indent="0" marL="0">
              <a:buNone/>
            </a:pPr>
            <a:r>
              <a:rPr lang="en-US" sz="1250" b="1" dirty="0">
                <a:solidFill>
                  <a:srgbClr val="6B4C9A"/>
                </a:solidFill>
              </a:rPr>
              <a:t>Mendelovská randomizace: PRO</a:t>
            </a:r>
            <a:endParaRPr lang="en-US" sz="1250" dirty="0"/>
          </a:p>
        </p:txBody>
      </p:sp>
      <p:sp>
        <p:nvSpPr>
          <p:cNvPr id="23" name="box-body-Mendelovská randomizace: PRO"/>
          <p:cNvSpPr txBox="1"/>
          <p:nvPr/>
        </p:nvSpPr>
        <p:spPr>
          <a:xfrm>
            <a:off x="4434840" y="5056632"/>
            <a:ext cx="3383280" cy="79552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B2A41"/>
                </a:solidFill>
              </a:rPr>
              <a:t>OSA → DM2 OR 2,34 (1,59–3,44); DM2 → OSA OR 1,03 (1,01–1,05) – Hrytsenko 2025</a:t>
            </a:r>
            <a:endParaRPr lang="en-US" sz="1000" dirty="0"/>
          </a:p>
          <a:p>
            <a:pPr marL="127000" indent="-127000">
              <a:spcAft>
                <a:spcPts val="300"/>
              </a:spcAft>
              <a:buSzPct val="100000"/>
              <a:buChar char="•"/>
            </a:pPr>
            <a:r>
              <a:rPr lang="en-US" sz="1000" dirty="0">
                <a:solidFill>
                  <a:srgbClr val="1B2A41"/>
                </a:solidFill>
              </a:rPr>
              <a:t>OSA → T2D OR 2,02 (1,19–3,43) – Xia 2023 (3 instrumenty)</a:t>
            </a:r>
            <a:endParaRPr lang="en-US" sz="1000" dirty="0"/>
          </a:p>
        </p:txBody>
      </p:sp>
      <p:sp>
        <p:nvSpPr>
          <p:cNvPr id="24" name="box-Mendelovská randomizace: PROTI"/>
          <p:cNvSpPr/>
          <p:nvPr/>
        </p:nvSpPr>
        <p:spPr>
          <a:xfrm>
            <a:off x="8138160" y="4617720"/>
            <a:ext cx="3611880" cy="1325880"/>
          </a:xfrm>
          <a:prstGeom prst="roundRect">
            <a:avLst>
              <a:gd name="adj" fmla="val 6897"/>
            </a:avLst>
          </a:prstGeom>
          <a:solidFill>
            <a:srgbClr val="EEF2F7"/>
          </a:solidFill>
          <a:ln w="12700">
            <a:solidFill>
              <a:srgbClr val="EEF2F7"/>
            </a:solidFill>
            <a:prstDash val="solid"/>
          </a:ln>
        </p:spPr>
      </p:sp>
      <p:sp>
        <p:nvSpPr>
          <p:cNvPr id="25" name="box-title-Mendelovská randomizace: PROTI"/>
          <p:cNvSpPr txBox="1"/>
          <p:nvPr/>
        </p:nvSpPr>
        <p:spPr>
          <a:xfrm>
            <a:off x="8275320" y="4709160"/>
            <a:ext cx="3337560" cy="329184"/>
          </a:xfrm>
          <a:prstGeom prst="rect">
            <a:avLst/>
          </a:prstGeom>
          <a:noFill/>
          <a:ln/>
        </p:spPr>
        <p:txBody>
          <a:bodyPr wrap="square" lIns="0" tIns="0" rIns="0" bIns="0" rtlCol="0" anchor="t"/>
          <a:lstStyle/>
          <a:p>
            <a:pPr indent="0" marL="0">
              <a:buNone/>
            </a:pPr>
            <a:r>
              <a:rPr lang="en-US" sz="1250" b="1" dirty="0">
                <a:solidFill>
                  <a:srgbClr val="6B4C9A"/>
                </a:solidFill>
              </a:rPr>
              <a:t>Mendelovská randomizace: PROTI</a:t>
            </a:r>
            <a:endParaRPr lang="en-US" sz="1250" dirty="0"/>
          </a:p>
        </p:txBody>
      </p:sp>
      <p:sp>
        <p:nvSpPr>
          <p:cNvPr id="26" name="box-body-Mendelovská randomizace: PROTI"/>
          <p:cNvSpPr txBox="1"/>
          <p:nvPr/>
        </p:nvSpPr>
        <p:spPr>
          <a:xfrm>
            <a:off x="8275320" y="5056632"/>
            <a:ext cx="3337560" cy="795528"/>
          </a:xfrm>
          <a:prstGeom prst="rect">
            <a:avLst/>
          </a:prstGeom>
          <a:noFill/>
          <a:ln/>
        </p:spPr>
        <p:txBody>
          <a:bodyPr wrap="square" lIns="0" tIns="0" rIns="0" bIns="0" rtlCol="0" anchor="t"/>
          <a:lstStyle/>
          <a:p>
            <a:pPr indent="0" marL="0">
              <a:spcAft>
                <a:spcPts val="300"/>
              </a:spcAft>
              <a:buNone/>
            </a:pPr>
            <a:r>
              <a:rPr lang="en-US" sz="1000" dirty="0">
                <a:solidFill>
                  <a:srgbClr val="1B2A41"/>
                </a:solidFill>
              </a:rPr>
              <a:t>OSA → T2D OR 3,58 (1,06–12,11), ale po odstranění lokusu FTO (obezita) OR 1,30 (0,68–2,50) – Ding 2023 → kauzalita nezávislá na obezitě není v MR jednoznačná</a:t>
            </a:r>
            <a:endParaRPr lang="en-US" sz="1000" dirty="0"/>
          </a:p>
        </p:txBody>
      </p:sp>
      <p:sp>
        <p:nvSpPr>
          <p:cNvPr id="27"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Peppard, JAMA 2000 · Strausz, Eur Respir J 2021 · Huang, Diabetes Care 2018 · Bottini, Eur Respir J 2003 · Ficker, Eur Respir J 1998 · Hrytsenko, Commun Med 2025 · Xia 2023 · Ding, Front Psychiatry 2023</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Observační evidence: OSA a incidence DM2 – metaanalýzy prospektivních kohort</a:t>
            </a:r>
            <a:endParaRPr lang="en-US" sz="2500" dirty="0"/>
          </a:p>
        </p:txBody>
      </p:sp>
      <p:sp>
        <p:nvSpPr>
          <p:cNvPr id="3" name="tag-MA obs."/>
          <p:cNvSpPr/>
          <p:nvPr/>
        </p:nvSpPr>
        <p:spPr>
          <a:xfrm>
            <a:off x="10753344" y="384048"/>
            <a:ext cx="996696" cy="310896"/>
          </a:xfrm>
          <a:prstGeom prst="roundRect">
            <a:avLst>
              <a:gd name="adj" fmla="val 23529"/>
            </a:avLst>
          </a:prstGeom>
          <a:solidFill>
            <a:srgbClr val="3D5A80"/>
          </a:solidFill>
          <a:ln w="12700">
            <a:solidFill>
              <a:srgbClr val="3D5A80"/>
            </a:solidFill>
            <a:prstDash val="solid"/>
          </a:ln>
        </p:spPr>
      </p:sp>
      <p:sp>
        <p:nvSpPr>
          <p:cNvPr id="4" name="tag-text-MA obs."/>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MA obs.</a:t>
            </a:r>
            <a:endParaRPr lang="en-US" sz="1000" dirty="0"/>
          </a:p>
        </p:txBody>
      </p:sp>
      <p:sp>
        <p:nvSpPr>
          <p:cNvPr id="5"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Tři metaanalýzy kohort ukazují RR 1,40–2,02 pro incidentní DM2 s gradientem podle tíže a lineárním vztahem k AHI – jde o asociaci; I² a adjustace na BMI v abstraktech chybí.</a:t>
            </a:r>
            <a:endParaRPr lang="en-US" sz="1500" dirty="0"/>
          </a:p>
        </p:txBody>
      </p:sp>
      <p:sp>
        <p:nvSpPr>
          <p:cNvPr id="6" name="fh1"/>
          <p:cNvSpPr txBox="1"/>
          <p:nvPr/>
        </p:nvSpPr>
        <p:spPr>
          <a:xfrm>
            <a:off x="457200" y="1856232"/>
            <a:ext cx="4937760" cy="274320"/>
          </a:xfrm>
          <a:prstGeom prst="rect">
            <a:avLst/>
          </a:prstGeom>
          <a:noFill/>
          <a:ln/>
        </p:spPr>
        <p:txBody>
          <a:bodyPr wrap="square" lIns="0" tIns="0" rIns="0" bIns="0" rtlCol="0" anchor="ctr"/>
          <a:lstStyle/>
          <a:p>
            <a:pPr indent="0" marL="0">
              <a:buNone/>
            </a:pPr>
            <a:r>
              <a:rPr lang="en-US" sz="1000" b="1" dirty="0">
                <a:solidFill>
                  <a:srgbClr val="8D99AE"/>
                </a:solidFill>
              </a:rPr>
              <a:t>Metaanalýza · expozice</a:t>
            </a:r>
            <a:endParaRPr lang="en-US" sz="1000" dirty="0"/>
          </a:p>
        </p:txBody>
      </p:sp>
      <p:sp>
        <p:nvSpPr>
          <p:cNvPr id="7" name="fh2"/>
          <p:cNvSpPr txBox="1"/>
          <p:nvPr/>
        </p:nvSpPr>
        <p:spPr>
          <a:xfrm>
            <a:off x="9692640" y="1856232"/>
            <a:ext cx="2194560" cy="274320"/>
          </a:xfrm>
          <a:prstGeom prst="rect">
            <a:avLst/>
          </a:prstGeom>
          <a:noFill/>
          <a:ln/>
        </p:spPr>
        <p:txBody>
          <a:bodyPr wrap="square" lIns="0" tIns="0" rIns="0" bIns="0" rtlCol="0" anchor="ctr"/>
          <a:lstStyle/>
          <a:p>
            <a:pPr indent="0" marL="0">
              <a:buNone/>
            </a:pPr>
            <a:r>
              <a:rPr lang="en-US" sz="1000" b="1" dirty="0">
                <a:solidFill>
                  <a:srgbClr val="8D99AE"/>
                </a:solidFill>
              </a:rPr>
              <a:t>RR (95 % CI)</a:t>
            </a:r>
            <a:endParaRPr lang="en-US" sz="1000" dirty="0"/>
          </a:p>
        </p:txBody>
      </p:sp>
      <p:sp>
        <p:nvSpPr>
          <p:cNvPr id="8" name="fg-0"/>
          <p:cNvSpPr txBox="1"/>
          <p:nvPr/>
        </p:nvSpPr>
        <p:spPr>
          <a:xfrm>
            <a:off x="457200" y="2148840"/>
            <a:ext cx="11292840" cy="342900"/>
          </a:xfrm>
          <a:prstGeom prst="rect">
            <a:avLst/>
          </a:prstGeom>
          <a:noFill/>
          <a:ln/>
        </p:spPr>
        <p:txBody>
          <a:bodyPr wrap="square" lIns="0" tIns="0" rIns="0" bIns="0" rtlCol="0" anchor="ctr"/>
          <a:lstStyle/>
          <a:p>
            <a:pPr indent="0" marL="0">
              <a:buNone/>
            </a:pPr>
            <a:r>
              <a:rPr lang="en-US" sz="1050" b="1" dirty="0">
                <a:solidFill>
                  <a:srgbClr val="3D5A80"/>
                </a:solidFill>
              </a:rPr>
              <a:t>Wang 2013 · 6 kohort, n 5 953, 332 DM, FU 2,7–16 let</a:t>
            </a:r>
            <a:endParaRPr lang="en-US" sz="1050" dirty="0"/>
          </a:p>
        </p:txBody>
      </p:sp>
      <p:sp>
        <p:nvSpPr>
          <p:cNvPr id="9" name="fl-1"/>
          <p:cNvSpPr txBox="1"/>
          <p:nvPr/>
        </p:nvSpPr>
        <p:spPr>
          <a:xfrm>
            <a:off x="502920" y="2491740"/>
            <a:ext cx="4846320" cy="342900"/>
          </a:xfrm>
          <a:prstGeom prst="rect">
            <a:avLst/>
          </a:prstGeom>
          <a:noFill/>
          <a:ln/>
        </p:spPr>
        <p:txBody>
          <a:bodyPr wrap="square" lIns="0" tIns="0" rIns="0" bIns="0" rtlCol="0" anchor="ctr"/>
          <a:lstStyle/>
          <a:p>
            <a:pPr indent="0" marL="0">
              <a:buNone/>
            </a:pPr>
            <a:r>
              <a:rPr lang="en-US" sz="1050" dirty="0">
                <a:solidFill>
                  <a:srgbClr val="1B2A41"/>
                </a:solidFill>
              </a:rPr>
              <a:t>   mírná OSA vs. bez OSA</a:t>
            </a:r>
            <a:endParaRPr lang="en-US" sz="1050" dirty="0"/>
          </a:p>
        </p:txBody>
      </p:sp>
      <p:sp>
        <p:nvSpPr>
          <p:cNvPr id="10" name="ci-1"/>
          <p:cNvSpPr/>
          <p:nvPr/>
        </p:nvSpPr>
        <p:spPr>
          <a:xfrm>
            <a:off x="6593104" y="2663190"/>
            <a:ext cx="1166240" cy="0"/>
          </a:xfrm>
          <a:prstGeom prst="line">
            <a:avLst/>
          </a:prstGeom>
          <a:noFill/>
          <a:ln w="22225">
            <a:solidFill>
              <a:srgbClr val="8D99AE"/>
            </a:solidFill>
            <a:prstDash val="solid"/>
          </a:ln>
        </p:spPr>
      </p:sp>
      <p:sp>
        <p:nvSpPr>
          <p:cNvPr id="11" name="pt-1"/>
          <p:cNvSpPr/>
          <p:nvPr/>
        </p:nvSpPr>
        <p:spPr>
          <a:xfrm>
            <a:off x="7115650" y="2599182"/>
            <a:ext cx="128016" cy="128016"/>
          </a:xfrm>
          <a:prstGeom prst="rect">
            <a:avLst/>
          </a:prstGeom>
          <a:solidFill>
            <a:srgbClr val="8D99AE"/>
          </a:solidFill>
          <a:ln w="12700">
            <a:solidFill>
              <a:srgbClr val="8D99AE"/>
            </a:solidFill>
            <a:prstDash val="solid"/>
          </a:ln>
        </p:spPr>
      </p:sp>
      <p:sp>
        <p:nvSpPr>
          <p:cNvPr id="12" name="fv-1"/>
          <p:cNvSpPr txBox="1"/>
          <p:nvPr/>
        </p:nvSpPr>
        <p:spPr>
          <a:xfrm>
            <a:off x="9692640" y="2491740"/>
            <a:ext cx="2194560" cy="342900"/>
          </a:xfrm>
          <a:prstGeom prst="rect">
            <a:avLst/>
          </a:prstGeom>
          <a:noFill/>
          <a:ln/>
        </p:spPr>
        <p:txBody>
          <a:bodyPr wrap="square" lIns="0" tIns="0" rIns="0" bIns="0" rtlCol="0" anchor="ctr"/>
          <a:lstStyle/>
          <a:p>
            <a:pPr indent="0" marL="0">
              <a:buNone/>
            </a:pPr>
            <a:r>
              <a:rPr lang="en-US" sz="1000" dirty="0">
                <a:solidFill>
                  <a:srgbClr val="1B2A41"/>
                </a:solidFill>
              </a:rPr>
              <a:t>1,22 (0,91–1,63) NS</a:t>
            </a:r>
            <a:endParaRPr lang="en-US" sz="1000" dirty="0"/>
          </a:p>
        </p:txBody>
      </p:sp>
      <p:sp>
        <p:nvSpPr>
          <p:cNvPr id="13" name="zebra-2"/>
          <p:cNvSpPr/>
          <p:nvPr/>
        </p:nvSpPr>
        <p:spPr>
          <a:xfrm>
            <a:off x="457200" y="2834640"/>
            <a:ext cx="11292840" cy="342900"/>
          </a:xfrm>
          <a:prstGeom prst="rect">
            <a:avLst/>
          </a:prstGeom>
          <a:solidFill>
            <a:srgbClr val="EEF2F7"/>
          </a:solidFill>
          <a:ln w="12700">
            <a:solidFill>
              <a:srgbClr val="EEF2F7"/>
            </a:solidFill>
            <a:prstDash val="solid"/>
          </a:ln>
        </p:spPr>
      </p:sp>
      <p:sp>
        <p:nvSpPr>
          <p:cNvPr id="14" name="fl-2"/>
          <p:cNvSpPr txBox="1"/>
          <p:nvPr/>
        </p:nvSpPr>
        <p:spPr>
          <a:xfrm>
            <a:off x="502920" y="2834640"/>
            <a:ext cx="4846320" cy="342900"/>
          </a:xfrm>
          <a:prstGeom prst="rect">
            <a:avLst/>
          </a:prstGeom>
          <a:noFill/>
          <a:ln/>
        </p:spPr>
        <p:txBody>
          <a:bodyPr wrap="square" lIns="0" tIns="0" rIns="0" bIns="0" rtlCol="0" anchor="ctr"/>
          <a:lstStyle/>
          <a:p>
            <a:pPr indent="0" marL="0">
              <a:buNone/>
            </a:pPr>
            <a:r>
              <a:rPr lang="en-US" sz="1050" dirty="0">
                <a:solidFill>
                  <a:srgbClr val="1B2A41"/>
                </a:solidFill>
              </a:rPr>
              <a:t>   středně těžká–těžká OSA vs. bez OSA</a:t>
            </a:r>
            <a:endParaRPr lang="en-US" sz="1050" dirty="0"/>
          </a:p>
        </p:txBody>
      </p:sp>
      <p:sp>
        <p:nvSpPr>
          <p:cNvPr id="15" name="ci-2"/>
          <p:cNvSpPr/>
          <p:nvPr/>
        </p:nvSpPr>
        <p:spPr>
          <a:xfrm>
            <a:off x="6954223" y="3006090"/>
            <a:ext cx="1620458" cy="0"/>
          </a:xfrm>
          <a:prstGeom prst="line">
            <a:avLst/>
          </a:prstGeom>
          <a:noFill/>
          <a:ln w="22225">
            <a:solidFill>
              <a:srgbClr val="3D5A80"/>
            </a:solidFill>
            <a:prstDash val="solid"/>
          </a:ln>
        </p:spPr>
      </p:sp>
      <p:sp>
        <p:nvSpPr>
          <p:cNvPr id="16" name="pt-2"/>
          <p:cNvSpPr/>
          <p:nvPr/>
        </p:nvSpPr>
        <p:spPr>
          <a:xfrm>
            <a:off x="7695337" y="2942082"/>
            <a:ext cx="128016" cy="128016"/>
          </a:xfrm>
          <a:prstGeom prst="rect">
            <a:avLst/>
          </a:prstGeom>
          <a:solidFill>
            <a:srgbClr val="3D5A80"/>
          </a:solidFill>
          <a:ln w="12700">
            <a:solidFill>
              <a:srgbClr val="3D5A80"/>
            </a:solidFill>
            <a:prstDash val="solid"/>
          </a:ln>
        </p:spPr>
      </p:sp>
      <p:sp>
        <p:nvSpPr>
          <p:cNvPr id="17" name="fv-2"/>
          <p:cNvSpPr txBox="1"/>
          <p:nvPr/>
        </p:nvSpPr>
        <p:spPr>
          <a:xfrm>
            <a:off x="9692640" y="2834640"/>
            <a:ext cx="2194560" cy="342900"/>
          </a:xfrm>
          <a:prstGeom prst="rect">
            <a:avLst/>
          </a:prstGeom>
          <a:noFill/>
          <a:ln/>
        </p:spPr>
        <p:txBody>
          <a:bodyPr wrap="square" lIns="0" tIns="0" rIns="0" bIns="0" rtlCol="0" anchor="ctr"/>
          <a:lstStyle/>
          <a:p>
            <a:pPr indent="0" marL="0">
              <a:buNone/>
            </a:pPr>
            <a:r>
              <a:rPr lang="en-US" sz="1000" dirty="0">
                <a:solidFill>
                  <a:srgbClr val="1B2A41"/>
                </a:solidFill>
              </a:rPr>
              <a:t>1,63 (1,09–2,45)</a:t>
            </a:r>
            <a:endParaRPr lang="en-US" sz="1000" dirty="0"/>
          </a:p>
        </p:txBody>
      </p:sp>
      <p:sp>
        <p:nvSpPr>
          <p:cNvPr id="18" name="fg-3"/>
          <p:cNvSpPr txBox="1"/>
          <p:nvPr/>
        </p:nvSpPr>
        <p:spPr>
          <a:xfrm>
            <a:off x="457200" y="3177540"/>
            <a:ext cx="11292840" cy="342900"/>
          </a:xfrm>
          <a:prstGeom prst="rect">
            <a:avLst/>
          </a:prstGeom>
          <a:noFill/>
          <a:ln/>
        </p:spPr>
        <p:txBody>
          <a:bodyPr wrap="square" lIns="0" tIns="0" rIns="0" bIns="0" rtlCol="0" anchor="ctr"/>
          <a:lstStyle/>
          <a:p>
            <a:pPr indent="0" marL="0">
              <a:buNone/>
            </a:pPr>
            <a:r>
              <a:rPr lang="en-US" sz="1050" b="1" dirty="0">
                <a:solidFill>
                  <a:srgbClr val="3D5A80"/>
                </a:solidFill>
              </a:rPr>
              <a:t>Anothaisintawee 2016 · 36 studií, 1 061 555 osob (všechny spánkové expozice)</a:t>
            </a:r>
            <a:endParaRPr lang="en-US" sz="1050" dirty="0"/>
          </a:p>
        </p:txBody>
      </p:sp>
      <p:sp>
        <p:nvSpPr>
          <p:cNvPr id="19" name="zebra-4"/>
          <p:cNvSpPr/>
          <p:nvPr/>
        </p:nvSpPr>
        <p:spPr>
          <a:xfrm>
            <a:off x="457200" y="3520440"/>
            <a:ext cx="11292840" cy="342900"/>
          </a:xfrm>
          <a:prstGeom prst="rect">
            <a:avLst/>
          </a:prstGeom>
          <a:solidFill>
            <a:srgbClr val="EEF2F7"/>
          </a:solidFill>
          <a:ln w="12700">
            <a:solidFill>
              <a:srgbClr val="EEF2F7"/>
            </a:solidFill>
            <a:prstDash val="solid"/>
          </a:ln>
        </p:spPr>
      </p:sp>
      <p:sp>
        <p:nvSpPr>
          <p:cNvPr id="20" name="fl-4"/>
          <p:cNvSpPr txBox="1"/>
          <p:nvPr/>
        </p:nvSpPr>
        <p:spPr>
          <a:xfrm>
            <a:off x="502920" y="3520440"/>
            <a:ext cx="4846320" cy="342900"/>
          </a:xfrm>
          <a:prstGeom prst="rect">
            <a:avLst/>
          </a:prstGeom>
          <a:noFill/>
          <a:ln/>
        </p:spPr>
        <p:txBody>
          <a:bodyPr wrap="square" lIns="0" tIns="0" rIns="0" bIns="0" rtlCol="0" anchor="ctr"/>
          <a:lstStyle/>
          <a:p>
            <a:pPr indent="0" marL="0">
              <a:buNone/>
            </a:pPr>
            <a:r>
              <a:rPr lang="en-US" sz="1050" dirty="0">
                <a:solidFill>
                  <a:srgbClr val="1B2A41"/>
                </a:solidFill>
              </a:rPr>
              <a:t>   OSA vs. bez OSA</a:t>
            </a:r>
            <a:endParaRPr lang="en-US" sz="1050" dirty="0"/>
          </a:p>
        </p:txBody>
      </p:sp>
      <p:sp>
        <p:nvSpPr>
          <p:cNvPr id="21" name="ci-4"/>
          <p:cNvSpPr/>
          <p:nvPr/>
        </p:nvSpPr>
        <p:spPr>
          <a:xfrm>
            <a:off x="7684306" y="3691890"/>
            <a:ext cx="1016949" cy="0"/>
          </a:xfrm>
          <a:prstGeom prst="line">
            <a:avLst/>
          </a:prstGeom>
          <a:noFill/>
          <a:ln w="22225">
            <a:solidFill>
              <a:srgbClr val="3D5A80"/>
            </a:solidFill>
            <a:prstDash val="solid"/>
          </a:ln>
        </p:spPr>
      </p:sp>
      <p:sp>
        <p:nvSpPr>
          <p:cNvPr id="22" name="pt-4"/>
          <p:cNvSpPr/>
          <p:nvPr/>
        </p:nvSpPr>
        <p:spPr>
          <a:xfrm>
            <a:off x="8124540" y="3627882"/>
            <a:ext cx="128016" cy="128016"/>
          </a:xfrm>
          <a:prstGeom prst="rect">
            <a:avLst/>
          </a:prstGeom>
          <a:solidFill>
            <a:srgbClr val="3D5A80"/>
          </a:solidFill>
          <a:ln w="12700">
            <a:solidFill>
              <a:srgbClr val="3D5A80"/>
            </a:solidFill>
            <a:prstDash val="solid"/>
          </a:ln>
        </p:spPr>
      </p:sp>
      <p:sp>
        <p:nvSpPr>
          <p:cNvPr id="23" name="fv-4"/>
          <p:cNvSpPr txBox="1"/>
          <p:nvPr/>
        </p:nvSpPr>
        <p:spPr>
          <a:xfrm>
            <a:off x="9692640" y="3520440"/>
            <a:ext cx="2194560" cy="342900"/>
          </a:xfrm>
          <a:prstGeom prst="rect">
            <a:avLst/>
          </a:prstGeom>
          <a:noFill/>
          <a:ln/>
        </p:spPr>
        <p:txBody>
          <a:bodyPr wrap="square" lIns="0" tIns="0" rIns="0" bIns="0" rtlCol="0" anchor="ctr"/>
          <a:lstStyle/>
          <a:p>
            <a:pPr indent="0" marL="0">
              <a:buNone/>
            </a:pPr>
            <a:r>
              <a:rPr lang="en-US" sz="1000" dirty="0">
                <a:solidFill>
                  <a:srgbClr val="1B2A41"/>
                </a:solidFill>
              </a:rPr>
              <a:t>2,02 (1,57–2,61)</a:t>
            </a:r>
            <a:endParaRPr lang="en-US" sz="1000" dirty="0"/>
          </a:p>
        </p:txBody>
      </p:sp>
      <p:sp>
        <p:nvSpPr>
          <p:cNvPr id="24" name="fl-5"/>
          <p:cNvSpPr txBox="1"/>
          <p:nvPr/>
        </p:nvSpPr>
        <p:spPr>
          <a:xfrm>
            <a:off x="502920" y="3863340"/>
            <a:ext cx="4846320" cy="342900"/>
          </a:xfrm>
          <a:prstGeom prst="rect">
            <a:avLst/>
          </a:prstGeom>
          <a:noFill/>
          <a:ln/>
        </p:spPr>
        <p:txBody>
          <a:bodyPr wrap="square" lIns="0" tIns="0" rIns="0" bIns="0" rtlCol="0" anchor="ctr"/>
          <a:lstStyle/>
          <a:p>
            <a:pPr indent="0" marL="0">
              <a:buNone/>
            </a:pPr>
            <a:r>
              <a:rPr lang="en-US" sz="1000" i="1" dirty="0">
                <a:solidFill>
                  <a:srgbClr val="8D99AE"/>
                </a:solidFill>
              </a:rPr>
              <a:t>   pro srovnání: nadváha</a:t>
            </a:r>
            <a:endParaRPr lang="en-US" sz="1000" dirty="0"/>
          </a:p>
        </p:txBody>
      </p:sp>
      <p:sp>
        <p:nvSpPr>
          <p:cNvPr id="25" name="ci-5"/>
          <p:cNvSpPr/>
          <p:nvPr/>
        </p:nvSpPr>
        <p:spPr>
          <a:xfrm>
            <a:off x="8550031" y="4034790"/>
            <a:ext cx="860251" cy="0"/>
          </a:xfrm>
          <a:prstGeom prst="line">
            <a:avLst/>
          </a:prstGeom>
          <a:noFill/>
          <a:ln w="12700">
            <a:solidFill>
              <a:srgbClr val="8D99AE"/>
            </a:solidFill>
            <a:prstDash val="dash"/>
          </a:ln>
        </p:spPr>
      </p:sp>
      <p:sp>
        <p:nvSpPr>
          <p:cNvPr id="26" name="pt-5"/>
          <p:cNvSpPr/>
          <p:nvPr/>
        </p:nvSpPr>
        <p:spPr>
          <a:xfrm>
            <a:off x="8909201" y="3970782"/>
            <a:ext cx="128016" cy="128016"/>
          </a:xfrm>
          <a:prstGeom prst="rect">
            <a:avLst/>
          </a:prstGeom>
          <a:solidFill>
            <a:srgbClr val="FFFFFF"/>
          </a:solidFill>
          <a:ln w="12700">
            <a:solidFill>
              <a:srgbClr val="8D99AE"/>
            </a:solidFill>
            <a:prstDash val="solid"/>
          </a:ln>
        </p:spPr>
      </p:sp>
      <p:sp>
        <p:nvSpPr>
          <p:cNvPr id="27" name="fv-5"/>
          <p:cNvSpPr txBox="1"/>
          <p:nvPr/>
        </p:nvSpPr>
        <p:spPr>
          <a:xfrm>
            <a:off x="9692640" y="3863340"/>
            <a:ext cx="2194560" cy="342900"/>
          </a:xfrm>
          <a:prstGeom prst="rect">
            <a:avLst/>
          </a:prstGeom>
          <a:noFill/>
          <a:ln/>
        </p:spPr>
        <p:txBody>
          <a:bodyPr wrap="square" lIns="0" tIns="0" rIns="0" bIns="0" rtlCol="0" anchor="ctr"/>
          <a:lstStyle/>
          <a:p>
            <a:pPr indent="0" marL="0">
              <a:buNone/>
            </a:pPr>
            <a:r>
              <a:rPr lang="en-US" sz="1000" dirty="0">
                <a:solidFill>
                  <a:srgbClr val="8D99AE"/>
                </a:solidFill>
              </a:rPr>
              <a:t>2,99 (2,42–3,72)</a:t>
            </a:r>
            <a:endParaRPr lang="en-US" sz="1000" dirty="0"/>
          </a:p>
        </p:txBody>
      </p:sp>
      <p:sp>
        <p:nvSpPr>
          <p:cNvPr id="28" name="zebra-6"/>
          <p:cNvSpPr/>
          <p:nvPr/>
        </p:nvSpPr>
        <p:spPr>
          <a:xfrm>
            <a:off x="457200" y="4206240"/>
            <a:ext cx="11292840" cy="342900"/>
          </a:xfrm>
          <a:prstGeom prst="rect">
            <a:avLst/>
          </a:prstGeom>
          <a:solidFill>
            <a:srgbClr val="EEF2F7"/>
          </a:solidFill>
          <a:ln w="12700">
            <a:solidFill>
              <a:srgbClr val="EEF2F7"/>
            </a:solidFill>
            <a:prstDash val="solid"/>
          </a:ln>
        </p:spPr>
      </p:sp>
      <p:sp>
        <p:nvSpPr>
          <p:cNvPr id="29" name="fl-6"/>
          <p:cNvSpPr txBox="1"/>
          <p:nvPr/>
        </p:nvSpPr>
        <p:spPr>
          <a:xfrm>
            <a:off x="502920" y="4206240"/>
            <a:ext cx="4846320" cy="342900"/>
          </a:xfrm>
          <a:prstGeom prst="rect">
            <a:avLst/>
          </a:prstGeom>
          <a:noFill/>
          <a:ln/>
        </p:spPr>
        <p:txBody>
          <a:bodyPr wrap="square" lIns="0" tIns="0" rIns="0" bIns="0" rtlCol="0" anchor="ctr"/>
          <a:lstStyle/>
          <a:p>
            <a:pPr indent="0" marL="0">
              <a:buNone/>
            </a:pPr>
            <a:r>
              <a:rPr lang="en-US" sz="1000" i="1" dirty="0">
                <a:solidFill>
                  <a:srgbClr val="8D99AE"/>
                </a:solidFill>
              </a:rPr>
              <a:t>   pro srovnání: fyzická inaktivita</a:t>
            </a:r>
            <a:endParaRPr lang="en-US" sz="1000" dirty="0"/>
          </a:p>
        </p:txBody>
      </p:sp>
      <p:sp>
        <p:nvSpPr>
          <p:cNvPr id="30" name="ci-6"/>
          <p:cNvSpPr/>
          <p:nvPr/>
        </p:nvSpPr>
        <p:spPr>
          <a:xfrm>
            <a:off x="6990602" y="4377690"/>
            <a:ext cx="346680" cy="0"/>
          </a:xfrm>
          <a:prstGeom prst="line">
            <a:avLst/>
          </a:prstGeom>
          <a:noFill/>
          <a:ln w="12700">
            <a:solidFill>
              <a:srgbClr val="8D99AE"/>
            </a:solidFill>
            <a:prstDash val="dash"/>
          </a:ln>
        </p:spPr>
      </p:sp>
      <p:sp>
        <p:nvSpPr>
          <p:cNvPr id="31" name="pt-6"/>
          <p:cNvSpPr/>
          <p:nvPr/>
        </p:nvSpPr>
        <p:spPr>
          <a:xfrm>
            <a:off x="7082579" y="4313682"/>
            <a:ext cx="128016" cy="128016"/>
          </a:xfrm>
          <a:prstGeom prst="rect">
            <a:avLst/>
          </a:prstGeom>
          <a:solidFill>
            <a:srgbClr val="FFFFFF"/>
          </a:solidFill>
          <a:ln w="12700">
            <a:solidFill>
              <a:srgbClr val="8D99AE"/>
            </a:solidFill>
            <a:prstDash val="solid"/>
          </a:ln>
        </p:spPr>
      </p:sp>
      <p:sp>
        <p:nvSpPr>
          <p:cNvPr id="32" name="fv-6"/>
          <p:cNvSpPr txBox="1"/>
          <p:nvPr/>
        </p:nvSpPr>
        <p:spPr>
          <a:xfrm>
            <a:off x="9692640" y="4206240"/>
            <a:ext cx="2194560" cy="342900"/>
          </a:xfrm>
          <a:prstGeom prst="rect">
            <a:avLst/>
          </a:prstGeom>
          <a:noFill/>
          <a:ln/>
        </p:spPr>
        <p:txBody>
          <a:bodyPr wrap="square" lIns="0" tIns="0" rIns="0" bIns="0" rtlCol="0" anchor="ctr"/>
          <a:lstStyle/>
          <a:p>
            <a:pPr indent="0" marL="0">
              <a:buNone/>
            </a:pPr>
            <a:r>
              <a:rPr lang="en-US" sz="1000" dirty="0">
                <a:solidFill>
                  <a:srgbClr val="8D99AE"/>
                </a:solidFill>
              </a:rPr>
              <a:t>1,20 (1,11–1,32)</a:t>
            </a:r>
            <a:endParaRPr lang="en-US" sz="1000" dirty="0"/>
          </a:p>
        </p:txBody>
      </p:sp>
      <p:sp>
        <p:nvSpPr>
          <p:cNvPr id="33" name="fg-7"/>
          <p:cNvSpPr txBox="1"/>
          <p:nvPr/>
        </p:nvSpPr>
        <p:spPr>
          <a:xfrm>
            <a:off x="457200" y="4549140"/>
            <a:ext cx="11292840" cy="342900"/>
          </a:xfrm>
          <a:prstGeom prst="rect">
            <a:avLst/>
          </a:prstGeom>
          <a:noFill/>
          <a:ln/>
        </p:spPr>
        <p:txBody>
          <a:bodyPr wrap="square" lIns="0" tIns="0" rIns="0" bIns="0" rtlCol="0" anchor="ctr"/>
          <a:lstStyle/>
          <a:p>
            <a:pPr indent="0" marL="0">
              <a:buNone/>
            </a:pPr>
            <a:r>
              <a:rPr lang="en-US" sz="1050" b="1" dirty="0">
                <a:solidFill>
                  <a:srgbClr val="3D5A80"/>
                </a:solidFill>
              </a:rPr>
              <a:t>Qie 2020 · 16 kohort, n 338 912, 19 355 DM2, medián FU 10,5 let</a:t>
            </a:r>
            <a:endParaRPr lang="en-US" sz="1050" dirty="0"/>
          </a:p>
        </p:txBody>
      </p:sp>
      <p:sp>
        <p:nvSpPr>
          <p:cNvPr id="34" name="zebra-8"/>
          <p:cNvSpPr/>
          <p:nvPr/>
        </p:nvSpPr>
        <p:spPr>
          <a:xfrm>
            <a:off x="457200" y="4892040"/>
            <a:ext cx="11292840" cy="342900"/>
          </a:xfrm>
          <a:prstGeom prst="rect">
            <a:avLst/>
          </a:prstGeom>
          <a:solidFill>
            <a:srgbClr val="EEF2F7"/>
          </a:solidFill>
          <a:ln w="12700">
            <a:solidFill>
              <a:srgbClr val="EEF2F7"/>
            </a:solidFill>
            <a:prstDash val="solid"/>
          </a:ln>
        </p:spPr>
      </p:sp>
      <p:sp>
        <p:nvSpPr>
          <p:cNvPr id="35" name="fl-8"/>
          <p:cNvSpPr txBox="1"/>
          <p:nvPr/>
        </p:nvSpPr>
        <p:spPr>
          <a:xfrm>
            <a:off x="502920" y="4892040"/>
            <a:ext cx="4846320" cy="342900"/>
          </a:xfrm>
          <a:prstGeom prst="rect">
            <a:avLst/>
          </a:prstGeom>
          <a:noFill/>
          <a:ln/>
        </p:spPr>
        <p:txBody>
          <a:bodyPr wrap="square" lIns="0" tIns="0" rIns="0" bIns="0" rtlCol="0" anchor="ctr"/>
          <a:lstStyle/>
          <a:p>
            <a:pPr indent="0" marL="0">
              <a:buNone/>
            </a:pPr>
            <a:r>
              <a:rPr lang="en-US" sz="1050" dirty="0">
                <a:solidFill>
                  <a:srgbClr val="1B2A41"/>
                </a:solidFill>
              </a:rPr>
              <a:t>   OSA vs. bez OSA (binární)</a:t>
            </a:r>
            <a:endParaRPr lang="en-US" sz="1050" dirty="0"/>
          </a:p>
        </p:txBody>
      </p:sp>
      <p:sp>
        <p:nvSpPr>
          <p:cNvPr id="36" name="ci-8"/>
          <p:cNvSpPr/>
          <p:nvPr/>
        </p:nvSpPr>
        <p:spPr>
          <a:xfrm>
            <a:off x="7337282" y="5063490"/>
            <a:ext cx="228911" cy="0"/>
          </a:xfrm>
          <a:prstGeom prst="line">
            <a:avLst/>
          </a:prstGeom>
          <a:noFill/>
          <a:ln w="22225">
            <a:solidFill>
              <a:srgbClr val="3D5A80"/>
            </a:solidFill>
            <a:prstDash val="solid"/>
          </a:ln>
        </p:spPr>
      </p:sp>
      <p:sp>
        <p:nvSpPr>
          <p:cNvPr id="37" name="pt-8"/>
          <p:cNvSpPr/>
          <p:nvPr/>
        </p:nvSpPr>
        <p:spPr>
          <a:xfrm>
            <a:off x="7363569" y="4972050"/>
            <a:ext cx="182880" cy="182880"/>
          </a:xfrm>
          <a:prstGeom prst="rect">
            <a:avLst/>
          </a:prstGeom>
          <a:solidFill>
            <a:srgbClr val="3D5A80"/>
          </a:solidFill>
          <a:ln w="12700">
            <a:solidFill>
              <a:srgbClr val="3D5A80"/>
            </a:solidFill>
            <a:prstDash val="solid"/>
          </a:ln>
        </p:spPr>
      </p:sp>
      <p:sp>
        <p:nvSpPr>
          <p:cNvPr id="38" name="fv-8"/>
          <p:cNvSpPr txBox="1"/>
          <p:nvPr/>
        </p:nvSpPr>
        <p:spPr>
          <a:xfrm>
            <a:off x="9692640" y="4892040"/>
            <a:ext cx="2194560" cy="342900"/>
          </a:xfrm>
          <a:prstGeom prst="rect">
            <a:avLst/>
          </a:prstGeom>
          <a:noFill/>
          <a:ln/>
        </p:spPr>
        <p:txBody>
          <a:bodyPr wrap="square" lIns="0" tIns="0" rIns="0" bIns="0" rtlCol="0" anchor="ctr"/>
          <a:lstStyle/>
          <a:p>
            <a:pPr indent="0" marL="0">
              <a:buNone/>
            </a:pPr>
            <a:r>
              <a:rPr lang="en-US" sz="1000" dirty="0">
                <a:solidFill>
                  <a:srgbClr val="1B2A41"/>
                </a:solidFill>
              </a:rPr>
              <a:t>1,40 (1,32–1,48)</a:t>
            </a:r>
            <a:endParaRPr lang="en-US" sz="1000" dirty="0"/>
          </a:p>
        </p:txBody>
      </p:sp>
      <p:sp>
        <p:nvSpPr>
          <p:cNvPr id="39" name="fl-9"/>
          <p:cNvSpPr txBox="1"/>
          <p:nvPr/>
        </p:nvSpPr>
        <p:spPr>
          <a:xfrm>
            <a:off x="502920" y="5234940"/>
            <a:ext cx="4846320" cy="342900"/>
          </a:xfrm>
          <a:prstGeom prst="rect">
            <a:avLst/>
          </a:prstGeom>
          <a:noFill/>
          <a:ln/>
        </p:spPr>
        <p:txBody>
          <a:bodyPr wrap="square" lIns="0" tIns="0" rIns="0" bIns="0" rtlCol="0" anchor="ctr"/>
          <a:lstStyle/>
          <a:p>
            <a:pPr indent="0" marL="0">
              <a:buNone/>
            </a:pPr>
            <a:r>
              <a:rPr lang="en-US" sz="1050" dirty="0">
                <a:solidFill>
                  <a:srgbClr val="1B2A41"/>
                </a:solidFill>
              </a:rPr>
              <a:t>   na každých +5 událostí AHI/h (dose–response, lineární)</a:t>
            </a:r>
            <a:endParaRPr lang="en-US" sz="1050" dirty="0"/>
          </a:p>
        </p:txBody>
      </p:sp>
      <p:sp>
        <p:nvSpPr>
          <p:cNvPr id="40" name="ci-9"/>
          <p:cNvSpPr/>
          <p:nvPr/>
        </p:nvSpPr>
        <p:spPr>
          <a:xfrm>
            <a:off x="6801708" y="5406390"/>
            <a:ext cx="242251" cy="0"/>
          </a:xfrm>
          <a:prstGeom prst="line">
            <a:avLst/>
          </a:prstGeom>
          <a:noFill/>
          <a:ln w="22225">
            <a:solidFill>
              <a:srgbClr val="C8553D"/>
            </a:solidFill>
            <a:prstDash val="solid"/>
          </a:ln>
        </p:spPr>
      </p:sp>
      <p:sp>
        <p:nvSpPr>
          <p:cNvPr id="41" name="pt-9"/>
          <p:cNvSpPr/>
          <p:nvPr/>
        </p:nvSpPr>
        <p:spPr>
          <a:xfrm>
            <a:off x="6871775" y="5342382"/>
            <a:ext cx="128016" cy="128016"/>
          </a:xfrm>
          <a:prstGeom prst="rect">
            <a:avLst/>
          </a:prstGeom>
          <a:solidFill>
            <a:srgbClr val="C8553D"/>
          </a:solidFill>
          <a:ln w="12700">
            <a:solidFill>
              <a:srgbClr val="C8553D"/>
            </a:solidFill>
            <a:prstDash val="solid"/>
          </a:ln>
        </p:spPr>
      </p:sp>
      <p:sp>
        <p:nvSpPr>
          <p:cNvPr id="42" name="fv-9"/>
          <p:cNvSpPr txBox="1"/>
          <p:nvPr/>
        </p:nvSpPr>
        <p:spPr>
          <a:xfrm>
            <a:off x="9692640" y="5234940"/>
            <a:ext cx="2194560" cy="342900"/>
          </a:xfrm>
          <a:prstGeom prst="rect">
            <a:avLst/>
          </a:prstGeom>
          <a:noFill/>
          <a:ln/>
        </p:spPr>
        <p:txBody>
          <a:bodyPr wrap="square" lIns="0" tIns="0" rIns="0" bIns="0" rtlCol="0" anchor="ctr"/>
          <a:lstStyle/>
          <a:p>
            <a:pPr indent="0" marL="0">
              <a:buNone/>
            </a:pPr>
            <a:r>
              <a:rPr lang="en-US" sz="1000" dirty="0">
                <a:solidFill>
                  <a:srgbClr val="1B2A41"/>
                </a:solidFill>
              </a:rPr>
              <a:t>1,08 (1,01–1,14)</a:t>
            </a:r>
            <a:endParaRPr lang="en-US" sz="1000" dirty="0"/>
          </a:p>
        </p:txBody>
      </p:sp>
      <p:sp>
        <p:nvSpPr>
          <p:cNvPr id="43" name="axis"/>
          <p:cNvSpPr/>
          <p:nvPr/>
        </p:nvSpPr>
        <p:spPr>
          <a:xfrm>
            <a:off x="5394960" y="5623560"/>
            <a:ext cx="4160520" cy="0"/>
          </a:xfrm>
          <a:prstGeom prst="line">
            <a:avLst/>
          </a:prstGeom>
          <a:noFill/>
          <a:ln w="12700">
            <a:solidFill>
              <a:srgbClr val="8D99AE"/>
            </a:solidFill>
            <a:prstDash val="solid"/>
          </a:ln>
        </p:spPr>
      </p:sp>
      <p:sp>
        <p:nvSpPr>
          <p:cNvPr id="44" name="ref"/>
          <p:cNvSpPr/>
          <p:nvPr/>
        </p:nvSpPr>
        <p:spPr>
          <a:xfrm>
            <a:off x="6781800" y="2148840"/>
            <a:ext cx="0" cy="3474720"/>
          </a:xfrm>
          <a:prstGeom prst="line">
            <a:avLst/>
          </a:prstGeom>
          <a:noFill/>
          <a:ln w="12700">
            <a:solidFill>
              <a:srgbClr val="C8553D"/>
            </a:solidFill>
            <a:prstDash val="dash"/>
          </a:ln>
        </p:spPr>
      </p:sp>
      <p:sp>
        <p:nvSpPr>
          <p:cNvPr id="45" name="tick-0.5"/>
          <p:cNvSpPr/>
          <p:nvPr/>
        </p:nvSpPr>
        <p:spPr>
          <a:xfrm>
            <a:off x="5394960" y="5623560"/>
            <a:ext cx="0" cy="54864"/>
          </a:xfrm>
          <a:prstGeom prst="line">
            <a:avLst/>
          </a:prstGeom>
          <a:noFill/>
          <a:ln w="12700">
            <a:solidFill>
              <a:srgbClr val="8D99AE"/>
            </a:solidFill>
            <a:prstDash val="solid"/>
          </a:ln>
        </p:spPr>
      </p:sp>
      <p:sp>
        <p:nvSpPr>
          <p:cNvPr id="46" name="tl-0.5"/>
          <p:cNvSpPr txBox="1"/>
          <p:nvPr/>
        </p:nvSpPr>
        <p:spPr>
          <a:xfrm>
            <a:off x="512064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0,5</a:t>
            </a:r>
            <a:endParaRPr lang="en-US" sz="900" dirty="0"/>
          </a:p>
        </p:txBody>
      </p:sp>
      <p:sp>
        <p:nvSpPr>
          <p:cNvPr id="47" name="tick-1"/>
          <p:cNvSpPr/>
          <p:nvPr/>
        </p:nvSpPr>
        <p:spPr>
          <a:xfrm>
            <a:off x="6781800" y="5623560"/>
            <a:ext cx="0" cy="54864"/>
          </a:xfrm>
          <a:prstGeom prst="line">
            <a:avLst/>
          </a:prstGeom>
          <a:noFill/>
          <a:ln w="12700">
            <a:solidFill>
              <a:srgbClr val="8D99AE"/>
            </a:solidFill>
            <a:prstDash val="solid"/>
          </a:ln>
        </p:spPr>
      </p:sp>
      <p:sp>
        <p:nvSpPr>
          <p:cNvPr id="48" name="tl-1"/>
          <p:cNvSpPr txBox="1"/>
          <p:nvPr/>
        </p:nvSpPr>
        <p:spPr>
          <a:xfrm>
            <a:off x="650748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a:t>
            </a:r>
            <a:endParaRPr lang="en-US" sz="900" dirty="0"/>
          </a:p>
        </p:txBody>
      </p:sp>
      <p:sp>
        <p:nvSpPr>
          <p:cNvPr id="49" name="tick-2"/>
          <p:cNvSpPr/>
          <p:nvPr/>
        </p:nvSpPr>
        <p:spPr>
          <a:xfrm>
            <a:off x="8168640" y="5623560"/>
            <a:ext cx="0" cy="54864"/>
          </a:xfrm>
          <a:prstGeom prst="line">
            <a:avLst/>
          </a:prstGeom>
          <a:noFill/>
          <a:ln w="12700">
            <a:solidFill>
              <a:srgbClr val="8D99AE"/>
            </a:solidFill>
            <a:prstDash val="solid"/>
          </a:ln>
        </p:spPr>
      </p:sp>
      <p:sp>
        <p:nvSpPr>
          <p:cNvPr id="50" name="tl-2"/>
          <p:cNvSpPr txBox="1"/>
          <p:nvPr/>
        </p:nvSpPr>
        <p:spPr>
          <a:xfrm>
            <a:off x="789432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2</a:t>
            </a:r>
            <a:endParaRPr lang="en-US" sz="900" dirty="0"/>
          </a:p>
        </p:txBody>
      </p:sp>
      <p:sp>
        <p:nvSpPr>
          <p:cNvPr id="51" name="tick-4"/>
          <p:cNvSpPr/>
          <p:nvPr/>
        </p:nvSpPr>
        <p:spPr>
          <a:xfrm>
            <a:off x="9555480" y="5623560"/>
            <a:ext cx="0" cy="54864"/>
          </a:xfrm>
          <a:prstGeom prst="line">
            <a:avLst/>
          </a:prstGeom>
          <a:noFill/>
          <a:ln w="12700">
            <a:solidFill>
              <a:srgbClr val="8D99AE"/>
            </a:solidFill>
            <a:prstDash val="solid"/>
          </a:ln>
        </p:spPr>
      </p:sp>
      <p:sp>
        <p:nvSpPr>
          <p:cNvPr id="52" name="tl-4"/>
          <p:cNvSpPr txBox="1"/>
          <p:nvPr/>
        </p:nvSpPr>
        <p:spPr>
          <a:xfrm>
            <a:off x="928116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4</a:t>
            </a:r>
            <a:endParaRPr lang="en-US" sz="900" dirty="0"/>
          </a:p>
        </p:txBody>
      </p:sp>
      <p:sp>
        <p:nvSpPr>
          <p:cNvPr id="53" name="xlabel"/>
          <p:cNvSpPr txBox="1"/>
          <p:nvPr/>
        </p:nvSpPr>
        <p:spPr>
          <a:xfrm>
            <a:off x="5394960" y="5824728"/>
            <a:ext cx="4160520" cy="201168"/>
          </a:xfrm>
          <a:prstGeom prst="rect">
            <a:avLst/>
          </a:prstGeom>
          <a:noFill/>
          <a:ln/>
        </p:spPr>
        <p:txBody>
          <a:bodyPr wrap="square" lIns="0" tIns="0" rIns="0" bIns="0" rtlCol="0" anchor="ctr"/>
          <a:lstStyle/>
          <a:p>
            <a:pPr algn="ctr" indent="0" marL="0">
              <a:buNone/>
            </a:pPr>
            <a:r>
              <a:rPr lang="en-US" sz="900" dirty="0">
                <a:solidFill>
                  <a:srgbClr val="8D99AE"/>
                </a:solidFill>
              </a:rPr>
              <a:t>Relativní riziko incidentního DM2 (log škála)</a:t>
            </a:r>
            <a:endParaRPr lang="en-US" sz="900" dirty="0"/>
          </a:p>
        </p:txBody>
      </p:sp>
      <p:sp>
        <p:nvSpPr>
          <p:cNvPr id="54"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Wang, Respirology 2013 · Anothaisintawee, Sleep Med Rev 2016 · Qie, J Diabetes 2020 — I² a adjustace zahrnutých studií na BMI: v abstraktech neuvedeny (NEOVĚŘENO)</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Dávka–odpověď a nezávislost na BMI – a poctivá protiváha</a:t>
            </a:r>
            <a:endParaRPr lang="en-US" sz="2500" dirty="0"/>
          </a:p>
        </p:txBody>
      </p:sp>
      <p:sp>
        <p:nvSpPr>
          <p:cNvPr id="3" name="tag-průřez"/>
          <p:cNvSpPr/>
          <p:nvPr/>
        </p:nvSpPr>
        <p:spPr>
          <a:xfrm>
            <a:off x="10863072" y="384048"/>
            <a:ext cx="886968" cy="310896"/>
          </a:xfrm>
          <a:prstGeom prst="roundRect">
            <a:avLst>
              <a:gd name="adj" fmla="val 23529"/>
            </a:avLst>
          </a:prstGeom>
          <a:solidFill>
            <a:srgbClr val="8D99AE"/>
          </a:solidFill>
          <a:ln w="12700">
            <a:solidFill>
              <a:srgbClr val="8D99AE"/>
            </a:solidFill>
            <a:prstDash val="solid"/>
          </a:ln>
        </p:spPr>
      </p:sp>
      <p:sp>
        <p:nvSpPr>
          <p:cNvPr id="4" name="tag-text-průřez"/>
          <p:cNvSpPr txBox="1"/>
          <p:nvPr/>
        </p:nvSpPr>
        <p:spPr>
          <a:xfrm>
            <a:off x="10863072"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průřez</a:t>
            </a:r>
            <a:endParaRPr lang="en-US" sz="1000" dirty="0"/>
          </a:p>
        </p:txBody>
      </p:sp>
      <p:sp>
        <p:nvSpPr>
          <p:cNvPr id="5" name="tag-kohorta"/>
          <p:cNvSpPr/>
          <p:nvPr/>
        </p:nvSpPr>
        <p:spPr>
          <a:xfrm>
            <a:off x="9793224" y="384048"/>
            <a:ext cx="996696" cy="310896"/>
          </a:xfrm>
          <a:prstGeom prst="roundRect">
            <a:avLst>
              <a:gd name="adj" fmla="val 23529"/>
            </a:avLst>
          </a:prstGeom>
          <a:solidFill>
            <a:srgbClr val="3D5A80"/>
          </a:solidFill>
          <a:ln w="12700">
            <a:solidFill>
              <a:srgbClr val="3D5A80"/>
            </a:solidFill>
            <a:prstDash val="solid"/>
          </a:ln>
        </p:spPr>
      </p:sp>
      <p:sp>
        <p:nvSpPr>
          <p:cNvPr id="6" name="tag-text-kohorta"/>
          <p:cNvSpPr txBox="1"/>
          <p:nvPr/>
        </p:nvSpPr>
        <p:spPr>
          <a:xfrm>
            <a:off x="979322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kohorta</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Riziko přetrvává po adjustaci na BMI i obvod pasu a platí i u obézních; gradient sahá až k AHI ≥ 50 – ale Wisconsinská kohorta longitudinálně signifikanci neukázala.</a:t>
            </a:r>
            <a:endParaRPr lang="en-US" sz="1500" dirty="0"/>
          </a:p>
        </p:txBody>
      </p:sp>
      <p:sp>
        <p:nvSpPr>
          <p:cNvPr id="8" name="fh1"/>
          <p:cNvSpPr txBox="1"/>
          <p:nvPr/>
        </p:nvSpPr>
        <p:spPr>
          <a:xfrm>
            <a:off x="457200" y="1856232"/>
            <a:ext cx="3840480" cy="274320"/>
          </a:xfrm>
          <a:prstGeom prst="rect">
            <a:avLst/>
          </a:prstGeom>
          <a:noFill/>
          <a:ln/>
        </p:spPr>
        <p:txBody>
          <a:bodyPr wrap="square" lIns="0" tIns="0" rIns="0" bIns="0" rtlCol="0" anchor="ctr"/>
          <a:lstStyle/>
          <a:p>
            <a:pPr indent="0" marL="0">
              <a:buNone/>
            </a:pPr>
            <a:r>
              <a:rPr lang="en-US" sz="1000" b="1" dirty="0">
                <a:solidFill>
                  <a:srgbClr val="8D99AE"/>
                </a:solidFill>
              </a:rPr>
              <a:t>Studie · srovnání</a:t>
            </a:r>
            <a:endParaRPr lang="en-US" sz="1000" dirty="0"/>
          </a:p>
        </p:txBody>
      </p:sp>
      <p:sp>
        <p:nvSpPr>
          <p:cNvPr id="9" name="fh2"/>
          <p:cNvSpPr txBox="1"/>
          <p:nvPr/>
        </p:nvSpPr>
        <p:spPr>
          <a:xfrm>
            <a:off x="6720840" y="1856232"/>
            <a:ext cx="1737360" cy="274320"/>
          </a:xfrm>
          <a:prstGeom prst="rect">
            <a:avLst/>
          </a:prstGeom>
          <a:noFill/>
          <a:ln/>
        </p:spPr>
        <p:txBody>
          <a:bodyPr wrap="square" lIns="0" tIns="0" rIns="0" bIns="0" rtlCol="0" anchor="ctr"/>
          <a:lstStyle/>
          <a:p>
            <a:pPr indent="0" marL="0">
              <a:buNone/>
            </a:pPr>
            <a:r>
              <a:rPr lang="en-US" sz="1000" b="1" dirty="0">
                <a:solidFill>
                  <a:srgbClr val="8D99AE"/>
                </a:solidFill>
              </a:rPr>
              <a:t>HR / OR (95 % CI)</a:t>
            </a:r>
            <a:endParaRPr lang="en-US" sz="1000" dirty="0"/>
          </a:p>
        </p:txBody>
      </p:sp>
      <p:sp>
        <p:nvSpPr>
          <p:cNvPr id="10" name="fg-0"/>
          <p:cNvSpPr txBox="1"/>
          <p:nvPr/>
        </p:nvSpPr>
        <p:spPr>
          <a:xfrm>
            <a:off x="457200" y="2148840"/>
            <a:ext cx="7863840" cy="342900"/>
          </a:xfrm>
          <a:prstGeom prst="rect">
            <a:avLst/>
          </a:prstGeom>
          <a:noFill/>
          <a:ln/>
        </p:spPr>
        <p:txBody>
          <a:bodyPr wrap="square" lIns="0" tIns="0" rIns="0" bIns="0" rtlCol="0" anchor="ctr"/>
          <a:lstStyle/>
          <a:p>
            <a:pPr indent="0" marL="0">
              <a:buNone/>
            </a:pPr>
            <a:r>
              <a:rPr lang="en-US" sz="1050" b="1" dirty="0">
                <a:solidFill>
                  <a:srgbClr val="3D5A80"/>
                </a:solidFill>
              </a:rPr>
              <a:t>Nagayoshi 2016 · ARIC/SHHS, n 1 453, 13 let, incidentní DM</a:t>
            </a:r>
            <a:endParaRPr lang="en-US" sz="1050" dirty="0"/>
          </a:p>
        </p:txBody>
      </p:sp>
      <p:sp>
        <p:nvSpPr>
          <p:cNvPr id="11" name="fl-1"/>
          <p:cNvSpPr txBox="1"/>
          <p:nvPr/>
        </p:nvSpPr>
        <p:spPr>
          <a:xfrm>
            <a:off x="502920" y="2491740"/>
            <a:ext cx="3749040" cy="342900"/>
          </a:xfrm>
          <a:prstGeom prst="rect">
            <a:avLst/>
          </a:prstGeom>
          <a:noFill/>
          <a:ln/>
        </p:spPr>
        <p:txBody>
          <a:bodyPr wrap="square" lIns="0" tIns="0" rIns="0" bIns="0" rtlCol="0" anchor="ctr"/>
          <a:lstStyle/>
          <a:p>
            <a:pPr indent="0" marL="0">
              <a:buNone/>
            </a:pPr>
            <a:r>
              <a:rPr lang="en-US" sz="1050" dirty="0">
                <a:solidFill>
                  <a:srgbClr val="1B2A41"/>
                </a:solidFill>
              </a:rPr>
              <a:t>   těžká OSA, adj. demografie + chování</a:t>
            </a:r>
            <a:endParaRPr lang="en-US" sz="1050" dirty="0"/>
          </a:p>
        </p:txBody>
      </p:sp>
      <p:sp>
        <p:nvSpPr>
          <p:cNvPr id="12" name="ci-1"/>
          <p:cNvSpPr/>
          <p:nvPr/>
        </p:nvSpPr>
        <p:spPr>
          <a:xfrm>
            <a:off x="5481177" y="2663190"/>
            <a:ext cx="772185" cy="0"/>
          </a:xfrm>
          <a:prstGeom prst="line">
            <a:avLst/>
          </a:prstGeom>
          <a:noFill/>
          <a:ln w="22225">
            <a:solidFill>
              <a:srgbClr val="8D99AE"/>
            </a:solidFill>
            <a:prstDash val="solid"/>
          </a:ln>
        </p:spPr>
      </p:sp>
      <p:sp>
        <p:nvSpPr>
          <p:cNvPr id="13" name="pt-1"/>
          <p:cNvSpPr/>
          <p:nvPr/>
        </p:nvSpPr>
        <p:spPr>
          <a:xfrm>
            <a:off x="5801962" y="2599182"/>
            <a:ext cx="128016" cy="128016"/>
          </a:xfrm>
          <a:prstGeom prst="rect">
            <a:avLst/>
          </a:prstGeom>
          <a:solidFill>
            <a:srgbClr val="8D99AE"/>
          </a:solidFill>
          <a:ln w="12700">
            <a:solidFill>
              <a:srgbClr val="8D99AE"/>
            </a:solidFill>
            <a:prstDash val="solid"/>
          </a:ln>
        </p:spPr>
      </p:sp>
      <p:sp>
        <p:nvSpPr>
          <p:cNvPr id="14" name="fv-1"/>
          <p:cNvSpPr txBox="1"/>
          <p:nvPr/>
        </p:nvSpPr>
        <p:spPr>
          <a:xfrm>
            <a:off x="6720840" y="2491740"/>
            <a:ext cx="1737360" cy="342900"/>
          </a:xfrm>
          <a:prstGeom prst="rect">
            <a:avLst/>
          </a:prstGeom>
          <a:noFill/>
          <a:ln/>
        </p:spPr>
        <p:txBody>
          <a:bodyPr wrap="square" lIns="0" tIns="0" rIns="0" bIns="0" rtlCol="0" anchor="ctr"/>
          <a:lstStyle/>
          <a:p>
            <a:pPr indent="0" marL="0">
              <a:buNone/>
            </a:pPr>
            <a:r>
              <a:rPr lang="en-US" sz="1000" dirty="0">
                <a:solidFill>
                  <a:srgbClr val="1B2A41"/>
                </a:solidFill>
              </a:rPr>
              <a:t>2,75 (1,81–4,19)</a:t>
            </a:r>
            <a:endParaRPr lang="en-US" sz="1000" dirty="0"/>
          </a:p>
        </p:txBody>
      </p:sp>
      <p:sp>
        <p:nvSpPr>
          <p:cNvPr id="15" name="zebra-2"/>
          <p:cNvSpPr/>
          <p:nvPr/>
        </p:nvSpPr>
        <p:spPr>
          <a:xfrm>
            <a:off x="457200" y="2834640"/>
            <a:ext cx="7863840" cy="342900"/>
          </a:xfrm>
          <a:prstGeom prst="rect">
            <a:avLst/>
          </a:prstGeom>
          <a:solidFill>
            <a:srgbClr val="EEF2F7"/>
          </a:solidFill>
          <a:ln w="12700">
            <a:solidFill>
              <a:srgbClr val="EEF2F7"/>
            </a:solidFill>
            <a:prstDash val="solid"/>
          </a:ln>
        </p:spPr>
      </p:sp>
      <p:sp>
        <p:nvSpPr>
          <p:cNvPr id="16" name="fl-2"/>
          <p:cNvSpPr txBox="1"/>
          <p:nvPr/>
        </p:nvSpPr>
        <p:spPr>
          <a:xfrm>
            <a:off x="502920" y="2834640"/>
            <a:ext cx="3749040" cy="342900"/>
          </a:xfrm>
          <a:prstGeom prst="rect">
            <a:avLst/>
          </a:prstGeom>
          <a:noFill/>
          <a:ln/>
        </p:spPr>
        <p:txBody>
          <a:bodyPr wrap="square" lIns="0" tIns="0" rIns="0" bIns="0" rtlCol="0" anchor="ctr"/>
          <a:lstStyle/>
          <a:p>
            <a:pPr indent="0" marL="0">
              <a:buNone/>
            </a:pPr>
            <a:r>
              <a:rPr lang="en-US" sz="1050" dirty="0">
                <a:solidFill>
                  <a:srgbClr val="1B2A41"/>
                </a:solidFill>
              </a:rPr>
              <a:t>   + BMI a obvod pasu</a:t>
            </a:r>
            <a:endParaRPr lang="en-US" sz="1050" dirty="0"/>
          </a:p>
        </p:txBody>
      </p:sp>
      <p:sp>
        <p:nvSpPr>
          <p:cNvPr id="17" name="ci-2"/>
          <p:cNvSpPr/>
          <p:nvPr/>
        </p:nvSpPr>
        <p:spPr>
          <a:xfrm>
            <a:off x="5006144" y="3006090"/>
            <a:ext cx="846346" cy="0"/>
          </a:xfrm>
          <a:prstGeom prst="line">
            <a:avLst/>
          </a:prstGeom>
          <a:noFill/>
          <a:ln w="22225">
            <a:solidFill>
              <a:srgbClr val="3D5A80"/>
            </a:solidFill>
            <a:prstDash val="solid"/>
          </a:ln>
        </p:spPr>
      </p:sp>
      <p:sp>
        <p:nvSpPr>
          <p:cNvPr id="18" name="pt-2"/>
          <p:cNvSpPr/>
          <p:nvPr/>
        </p:nvSpPr>
        <p:spPr>
          <a:xfrm>
            <a:off x="5337453" y="2914650"/>
            <a:ext cx="182880" cy="182880"/>
          </a:xfrm>
          <a:prstGeom prst="rect">
            <a:avLst/>
          </a:prstGeom>
          <a:solidFill>
            <a:srgbClr val="3D5A80"/>
          </a:solidFill>
          <a:ln w="12700">
            <a:solidFill>
              <a:srgbClr val="3D5A80"/>
            </a:solidFill>
            <a:prstDash val="solid"/>
          </a:ln>
        </p:spPr>
      </p:sp>
      <p:sp>
        <p:nvSpPr>
          <p:cNvPr id="19" name="fv-2"/>
          <p:cNvSpPr txBox="1"/>
          <p:nvPr/>
        </p:nvSpPr>
        <p:spPr>
          <a:xfrm>
            <a:off x="6720840" y="2834640"/>
            <a:ext cx="1737360" cy="342900"/>
          </a:xfrm>
          <a:prstGeom prst="rect">
            <a:avLst/>
          </a:prstGeom>
          <a:noFill/>
          <a:ln/>
        </p:spPr>
        <p:txBody>
          <a:bodyPr wrap="square" lIns="0" tIns="0" rIns="0" bIns="0" rtlCol="0" anchor="ctr"/>
          <a:lstStyle/>
          <a:p>
            <a:pPr indent="0" marL="0">
              <a:buNone/>
            </a:pPr>
            <a:r>
              <a:rPr lang="en-US" sz="1000" dirty="0">
                <a:solidFill>
                  <a:srgbClr val="1B2A41"/>
                </a:solidFill>
              </a:rPr>
              <a:t>1,71 (1,08–2,71)</a:t>
            </a:r>
            <a:endParaRPr lang="en-US" sz="1000" dirty="0"/>
          </a:p>
        </p:txBody>
      </p:sp>
      <p:sp>
        <p:nvSpPr>
          <p:cNvPr id="20" name="fl-3"/>
          <p:cNvSpPr txBox="1"/>
          <p:nvPr/>
        </p:nvSpPr>
        <p:spPr>
          <a:xfrm>
            <a:off x="502920" y="3177540"/>
            <a:ext cx="3749040" cy="342900"/>
          </a:xfrm>
          <a:prstGeom prst="rect">
            <a:avLst/>
          </a:prstGeom>
          <a:noFill/>
          <a:ln/>
        </p:spPr>
        <p:txBody>
          <a:bodyPr wrap="square" lIns="0" tIns="0" rIns="0" bIns="0" rtlCol="0" anchor="ctr"/>
          <a:lstStyle/>
          <a:p>
            <a:pPr indent="0" marL="0">
              <a:buNone/>
            </a:pPr>
            <a:r>
              <a:rPr lang="en-US" sz="1050" dirty="0">
                <a:solidFill>
                  <a:srgbClr val="1B2A41"/>
                </a:solidFill>
              </a:rPr>
              <a:t>   jen obézní (BMI ≥ 30)</a:t>
            </a:r>
            <a:endParaRPr lang="en-US" sz="1050" dirty="0"/>
          </a:p>
        </p:txBody>
      </p:sp>
      <p:sp>
        <p:nvSpPr>
          <p:cNvPr id="21" name="ci-3"/>
          <p:cNvSpPr/>
          <p:nvPr/>
        </p:nvSpPr>
        <p:spPr>
          <a:xfrm>
            <a:off x="5103071" y="3348990"/>
            <a:ext cx="968850" cy="0"/>
          </a:xfrm>
          <a:prstGeom prst="line">
            <a:avLst/>
          </a:prstGeom>
          <a:noFill/>
          <a:ln w="22225">
            <a:solidFill>
              <a:srgbClr val="3D5A80"/>
            </a:solidFill>
            <a:prstDash val="solid"/>
          </a:ln>
        </p:spPr>
      </p:sp>
      <p:sp>
        <p:nvSpPr>
          <p:cNvPr id="22" name="pt-3"/>
          <p:cNvSpPr/>
          <p:nvPr/>
        </p:nvSpPr>
        <p:spPr>
          <a:xfrm>
            <a:off x="5522696" y="3284982"/>
            <a:ext cx="128016" cy="128016"/>
          </a:xfrm>
          <a:prstGeom prst="rect">
            <a:avLst/>
          </a:prstGeom>
          <a:solidFill>
            <a:srgbClr val="3D5A80"/>
          </a:solidFill>
          <a:ln w="12700">
            <a:solidFill>
              <a:srgbClr val="3D5A80"/>
            </a:solidFill>
            <a:prstDash val="solid"/>
          </a:ln>
        </p:spPr>
      </p:sp>
      <p:sp>
        <p:nvSpPr>
          <p:cNvPr id="23" name="fv-3"/>
          <p:cNvSpPr txBox="1"/>
          <p:nvPr/>
        </p:nvSpPr>
        <p:spPr>
          <a:xfrm>
            <a:off x="6720840" y="3177540"/>
            <a:ext cx="1737360" cy="342900"/>
          </a:xfrm>
          <a:prstGeom prst="rect">
            <a:avLst/>
          </a:prstGeom>
          <a:noFill/>
          <a:ln/>
        </p:spPr>
        <p:txBody>
          <a:bodyPr wrap="square" lIns="0" tIns="0" rIns="0" bIns="0" rtlCol="0" anchor="ctr"/>
          <a:lstStyle/>
          <a:p>
            <a:pPr indent="0" marL="0">
              <a:buNone/>
            </a:pPr>
            <a:r>
              <a:rPr lang="en-US" sz="1000" dirty="0">
                <a:solidFill>
                  <a:srgbClr val="1B2A41"/>
                </a:solidFill>
              </a:rPr>
              <a:t>2,03 (1,20–3,44)</a:t>
            </a:r>
            <a:endParaRPr lang="en-US" sz="1000" dirty="0"/>
          </a:p>
        </p:txBody>
      </p:sp>
      <p:sp>
        <p:nvSpPr>
          <p:cNvPr id="24" name="fg-4"/>
          <p:cNvSpPr txBox="1"/>
          <p:nvPr/>
        </p:nvSpPr>
        <p:spPr>
          <a:xfrm>
            <a:off x="457200" y="3520440"/>
            <a:ext cx="7863840" cy="342900"/>
          </a:xfrm>
          <a:prstGeom prst="rect">
            <a:avLst/>
          </a:prstGeom>
          <a:noFill/>
          <a:ln/>
        </p:spPr>
        <p:txBody>
          <a:bodyPr wrap="square" lIns="0" tIns="0" rIns="0" bIns="0" rtlCol="0" anchor="ctr"/>
          <a:lstStyle/>
          <a:p>
            <a:pPr indent="0" marL="0">
              <a:buNone/>
            </a:pPr>
            <a:r>
              <a:rPr lang="en-US" sz="1050" b="1" dirty="0">
                <a:solidFill>
                  <a:srgbClr val="3D5A80"/>
                </a:solidFill>
              </a:rPr>
              <a:t>Priou 2012 · n 1 599 bez DM, HbA1c &gt; 6,0 %, adj. BMI + pas</a:t>
            </a:r>
            <a:endParaRPr lang="en-US" sz="1050" dirty="0"/>
          </a:p>
        </p:txBody>
      </p:sp>
      <p:sp>
        <p:nvSpPr>
          <p:cNvPr id="25" name="fl-5"/>
          <p:cNvSpPr txBox="1"/>
          <p:nvPr/>
        </p:nvSpPr>
        <p:spPr>
          <a:xfrm>
            <a:off x="502920" y="3863340"/>
            <a:ext cx="3749040" cy="342900"/>
          </a:xfrm>
          <a:prstGeom prst="rect">
            <a:avLst/>
          </a:prstGeom>
          <a:noFill/>
          <a:ln/>
        </p:spPr>
        <p:txBody>
          <a:bodyPr wrap="square" lIns="0" tIns="0" rIns="0" bIns="0" rtlCol="0" anchor="ctr"/>
          <a:lstStyle/>
          <a:p>
            <a:pPr indent="0" marL="0">
              <a:buNone/>
            </a:pPr>
            <a:r>
              <a:rPr lang="en-US" sz="1050" dirty="0">
                <a:solidFill>
                  <a:srgbClr val="1B2A41"/>
                </a:solidFill>
              </a:rPr>
              <a:t>   AHI 15–&lt; 30 vs. &lt; 5</a:t>
            </a:r>
            <a:endParaRPr lang="en-US" sz="1050" dirty="0"/>
          </a:p>
        </p:txBody>
      </p:sp>
      <p:sp>
        <p:nvSpPr>
          <p:cNvPr id="26" name="ci-5"/>
          <p:cNvSpPr/>
          <p:nvPr/>
        </p:nvSpPr>
        <p:spPr>
          <a:xfrm>
            <a:off x="5095373" y="4034790"/>
            <a:ext cx="760506" cy="0"/>
          </a:xfrm>
          <a:prstGeom prst="line">
            <a:avLst/>
          </a:prstGeom>
          <a:noFill/>
          <a:ln w="22225">
            <a:solidFill>
              <a:srgbClr val="C8553D"/>
            </a:solidFill>
            <a:prstDash val="solid"/>
          </a:ln>
        </p:spPr>
      </p:sp>
      <p:sp>
        <p:nvSpPr>
          <p:cNvPr id="27" name="pt-5"/>
          <p:cNvSpPr/>
          <p:nvPr/>
        </p:nvSpPr>
        <p:spPr>
          <a:xfrm>
            <a:off x="5412072" y="3970782"/>
            <a:ext cx="128016" cy="128016"/>
          </a:xfrm>
          <a:prstGeom prst="rect">
            <a:avLst/>
          </a:prstGeom>
          <a:solidFill>
            <a:srgbClr val="C8553D"/>
          </a:solidFill>
          <a:ln w="12700">
            <a:solidFill>
              <a:srgbClr val="C8553D"/>
            </a:solidFill>
            <a:prstDash val="solid"/>
          </a:ln>
        </p:spPr>
      </p:sp>
      <p:sp>
        <p:nvSpPr>
          <p:cNvPr id="28" name="fv-5"/>
          <p:cNvSpPr txBox="1"/>
          <p:nvPr/>
        </p:nvSpPr>
        <p:spPr>
          <a:xfrm>
            <a:off x="6720840" y="3863340"/>
            <a:ext cx="1737360" cy="342900"/>
          </a:xfrm>
          <a:prstGeom prst="rect">
            <a:avLst/>
          </a:prstGeom>
          <a:noFill/>
          <a:ln/>
        </p:spPr>
        <p:txBody>
          <a:bodyPr wrap="square" lIns="0" tIns="0" rIns="0" bIns="0" rtlCol="0" anchor="ctr"/>
          <a:lstStyle/>
          <a:p>
            <a:pPr indent="0" marL="0">
              <a:buNone/>
            </a:pPr>
            <a:r>
              <a:rPr lang="en-US" sz="1000" dirty="0">
                <a:solidFill>
                  <a:srgbClr val="1B2A41"/>
                </a:solidFill>
              </a:rPr>
              <a:t>1,80 (1,19–2,72)</a:t>
            </a:r>
            <a:endParaRPr lang="en-US" sz="1000" dirty="0"/>
          </a:p>
        </p:txBody>
      </p:sp>
      <p:sp>
        <p:nvSpPr>
          <p:cNvPr id="29" name="zebra-6"/>
          <p:cNvSpPr/>
          <p:nvPr/>
        </p:nvSpPr>
        <p:spPr>
          <a:xfrm>
            <a:off x="457200" y="4206240"/>
            <a:ext cx="7863840" cy="342900"/>
          </a:xfrm>
          <a:prstGeom prst="rect">
            <a:avLst/>
          </a:prstGeom>
          <a:solidFill>
            <a:srgbClr val="EEF2F7"/>
          </a:solidFill>
          <a:ln w="12700">
            <a:solidFill>
              <a:srgbClr val="EEF2F7"/>
            </a:solidFill>
            <a:prstDash val="solid"/>
          </a:ln>
        </p:spPr>
      </p:sp>
      <p:sp>
        <p:nvSpPr>
          <p:cNvPr id="30" name="fl-6"/>
          <p:cNvSpPr txBox="1"/>
          <p:nvPr/>
        </p:nvSpPr>
        <p:spPr>
          <a:xfrm>
            <a:off x="502920" y="4206240"/>
            <a:ext cx="3749040" cy="342900"/>
          </a:xfrm>
          <a:prstGeom prst="rect">
            <a:avLst/>
          </a:prstGeom>
          <a:noFill/>
          <a:ln/>
        </p:spPr>
        <p:txBody>
          <a:bodyPr wrap="square" lIns="0" tIns="0" rIns="0" bIns="0" rtlCol="0" anchor="ctr"/>
          <a:lstStyle/>
          <a:p>
            <a:pPr indent="0" marL="0">
              <a:buNone/>
            </a:pPr>
            <a:r>
              <a:rPr lang="en-US" sz="1050" dirty="0">
                <a:solidFill>
                  <a:srgbClr val="1B2A41"/>
                </a:solidFill>
              </a:rPr>
              <a:t>   AHI 30–&lt; 50</a:t>
            </a:r>
            <a:endParaRPr lang="en-US" sz="1050" dirty="0"/>
          </a:p>
        </p:txBody>
      </p:sp>
      <p:sp>
        <p:nvSpPr>
          <p:cNvPr id="31" name="ci-6"/>
          <p:cNvSpPr/>
          <p:nvPr/>
        </p:nvSpPr>
        <p:spPr>
          <a:xfrm>
            <a:off x="5183756" y="4377690"/>
            <a:ext cx="804220" cy="0"/>
          </a:xfrm>
          <a:prstGeom prst="line">
            <a:avLst/>
          </a:prstGeom>
          <a:noFill/>
          <a:ln w="22225">
            <a:solidFill>
              <a:srgbClr val="C8553D"/>
            </a:solidFill>
            <a:prstDash val="solid"/>
          </a:ln>
        </p:spPr>
      </p:sp>
      <p:sp>
        <p:nvSpPr>
          <p:cNvPr id="32" name="pt-6"/>
          <p:cNvSpPr/>
          <p:nvPr/>
        </p:nvSpPr>
        <p:spPr>
          <a:xfrm>
            <a:off x="5518153" y="4313682"/>
            <a:ext cx="128016" cy="128016"/>
          </a:xfrm>
          <a:prstGeom prst="rect">
            <a:avLst/>
          </a:prstGeom>
          <a:solidFill>
            <a:srgbClr val="C8553D"/>
          </a:solidFill>
          <a:ln w="12700">
            <a:solidFill>
              <a:srgbClr val="C8553D"/>
            </a:solidFill>
            <a:prstDash val="solid"/>
          </a:ln>
        </p:spPr>
      </p:sp>
      <p:sp>
        <p:nvSpPr>
          <p:cNvPr id="33" name="fv-6"/>
          <p:cNvSpPr txBox="1"/>
          <p:nvPr/>
        </p:nvSpPr>
        <p:spPr>
          <a:xfrm>
            <a:off x="6720840" y="4206240"/>
            <a:ext cx="1737360" cy="342900"/>
          </a:xfrm>
          <a:prstGeom prst="rect">
            <a:avLst/>
          </a:prstGeom>
          <a:noFill/>
          <a:ln/>
        </p:spPr>
        <p:txBody>
          <a:bodyPr wrap="square" lIns="0" tIns="0" rIns="0" bIns="0" rtlCol="0" anchor="ctr"/>
          <a:lstStyle/>
          <a:p>
            <a:pPr indent="0" marL="0">
              <a:buNone/>
            </a:pPr>
            <a:r>
              <a:rPr lang="en-US" sz="1000" dirty="0">
                <a:solidFill>
                  <a:srgbClr val="1B2A41"/>
                </a:solidFill>
              </a:rPr>
              <a:t>2,02 (1,31–3,14)</a:t>
            </a:r>
            <a:endParaRPr lang="en-US" sz="1000" dirty="0"/>
          </a:p>
        </p:txBody>
      </p:sp>
      <p:sp>
        <p:nvSpPr>
          <p:cNvPr id="34" name="fl-7"/>
          <p:cNvSpPr txBox="1"/>
          <p:nvPr/>
        </p:nvSpPr>
        <p:spPr>
          <a:xfrm>
            <a:off x="502920" y="4549140"/>
            <a:ext cx="3749040" cy="342900"/>
          </a:xfrm>
          <a:prstGeom prst="rect">
            <a:avLst/>
          </a:prstGeom>
          <a:noFill/>
          <a:ln/>
        </p:spPr>
        <p:txBody>
          <a:bodyPr wrap="square" lIns="0" tIns="0" rIns="0" bIns="0" rtlCol="0" anchor="ctr"/>
          <a:lstStyle/>
          <a:p>
            <a:pPr indent="0" marL="0">
              <a:buNone/>
            </a:pPr>
            <a:r>
              <a:rPr lang="en-US" sz="1050" dirty="0">
                <a:solidFill>
                  <a:srgbClr val="1B2A41"/>
                </a:solidFill>
              </a:rPr>
              <a:t>   AHI ≥ 50</a:t>
            </a:r>
            <a:endParaRPr lang="en-US" sz="1050" dirty="0"/>
          </a:p>
        </p:txBody>
      </p:sp>
      <p:sp>
        <p:nvSpPr>
          <p:cNvPr id="35" name="ci-7"/>
          <p:cNvSpPr/>
          <p:nvPr/>
        </p:nvSpPr>
        <p:spPr>
          <a:xfrm>
            <a:off x="5356153" y="4720590"/>
            <a:ext cx="1154146" cy="0"/>
          </a:xfrm>
          <a:prstGeom prst="line">
            <a:avLst/>
          </a:prstGeom>
          <a:noFill/>
          <a:ln w="22225">
            <a:solidFill>
              <a:srgbClr val="C8553D"/>
            </a:solidFill>
            <a:prstDash val="solid"/>
          </a:ln>
        </p:spPr>
      </p:sp>
      <p:sp>
        <p:nvSpPr>
          <p:cNvPr id="36" name="pt-7"/>
          <p:cNvSpPr/>
          <p:nvPr/>
        </p:nvSpPr>
        <p:spPr>
          <a:xfrm>
            <a:off x="5869660" y="4656582"/>
            <a:ext cx="128016" cy="128016"/>
          </a:xfrm>
          <a:prstGeom prst="rect">
            <a:avLst/>
          </a:prstGeom>
          <a:solidFill>
            <a:srgbClr val="C8553D"/>
          </a:solidFill>
          <a:ln w="12700">
            <a:solidFill>
              <a:srgbClr val="C8553D"/>
            </a:solidFill>
            <a:prstDash val="solid"/>
          </a:ln>
        </p:spPr>
      </p:sp>
      <p:sp>
        <p:nvSpPr>
          <p:cNvPr id="37" name="fv-7"/>
          <p:cNvSpPr txBox="1"/>
          <p:nvPr/>
        </p:nvSpPr>
        <p:spPr>
          <a:xfrm>
            <a:off x="6720840" y="4549140"/>
            <a:ext cx="1737360" cy="342900"/>
          </a:xfrm>
          <a:prstGeom prst="rect">
            <a:avLst/>
          </a:prstGeom>
          <a:noFill/>
          <a:ln/>
        </p:spPr>
        <p:txBody>
          <a:bodyPr wrap="square" lIns="0" tIns="0" rIns="0" bIns="0" rtlCol="0" anchor="ctr"/>
          <a:lstStyle/>
          <a:p>
            <a:pPr indent="0" marL="0">
              <a:buNone/>
            </a:pPr>
            <a:r>
              <a:rPr lang="en-US" sz="1000" dirty="0">
                <a:solidFill>
                  <a:srgbClr val="1B2A41"/>
                </a:solidFill>
              </a:rPr>
              <a:t>2,96 (1,58–5,54)</a:t>
            </a:r>
            <a:endParaRPr lang="en-US" sz="1000" dirty="0"/>
          </a:p>
        </p:txBody>
      </p:sp>
      <p:sp>
        <p:nvSpPr>
          <p:cNvPr id="38" name="zebra-8"/>
          <p:cNvSpPr/>
          <p:nvPr/>
        </p:nvSpPr>
        <p:spPr>
          <a:xfrm>
            <a:off x="457200" y="4892040"/>
            <a:ext cx="7863840" cy="342900"/>
          </a:xfrm>
          <a:prstGeom prst="rect">
            <a:avLst/>
          </a:prstGeom>
          <a:solidFill>
            <a:srgbClr val="EEF2F7"/>
          </a:solidFill>
          <a:ln w="12700">
            <a:solidFill>
              <a:srgbClr val="EEF2F7"/>
            </a:solidFill>
            <a:prstDash val="solid"/>
          </a:ln>
        </p:spPr>
      </p:sp>
      <p:sp>
        <p:nvSpPr>
          <p:cNvPr id="39" name="fl-8"/>
          <p:cNvSpPr txBox="1"/>
          <p:nvPr/>
        </p:nvSpPr>
        <p:spPr>
          <a:xfrm>
            <a:off x="502920" y="4892040"/>
            <a:ext cx="3749040" cy="342900"/>
          </a:xfrm>
          <a:prstGeom prst="rect">
            <a:avLst/>
          </a:prstGeom>
          <a:noFill/>
          <a:ln/>
        </p:spPr>
        <p:txBody>
          <a:bodyPr wrap="square" lIns="0" tIns="0" rIns="0" bIns="0" rtlCol="0" anchor="ctr"/>
          <a:lstStyle/>
          <a:p>
            <a:pPr indent="0" marL="0">
              <a:buNone/>
            </a:pPr>
            <a:r>
              <a:rPr lang="en-US" sz="1050" dirty="0">
                <a:solidFill>
                  <a:srgbClr val="1B2A41"/>
                </a:solidFill>
              </a:rPr>
              <a:t>Seicean 2008 · SHHS, n 2 588 · okultní DM (OGTT), adj. BMI + pas</a:t>
            </a:r>
            <a:endParaRPr lang="en-US" sz="1050" dirty="0"/>
          </a:p>
        </p:txBody>
      </p:sp>
      <p:sp>
        <p:nvSpPr>
          <p:cNvPr id="40" name="ci-8"/>
          <p:cNvSpPr/>
          <p:nvPr/>
        </p:nvSpPr>
        <p:spPr>
          <a:xfrm>
            <a:off x="5023025" y="5063490"/>
            <a:ext cx="826065" cy="0"/>
          </a:xfrm>
          <a:prstGeom prst="line">
            <a:avLst/>
          </a:prstGeom>
          <a:noFill/>
          <a:ln w="22225">
            <a:solidFill>
              <a:srgbClr val="3D5A80"/>
            </a:solidFill>
            <a:prstDash val="solid"/>
          </a:ln>
        </p:spPr>
      </p:sp>
      <p:sp>
        <p:nvSpPr>
          <p:cNvPr id="41" name="pt-8"/>
          <p:cNvSpPr/>
          <p:nvPr/>
        </p:nvSpPr>
        <p:spPr>
          <a:xfrm>
            <a:off x="5359489" y="4999482"/>
            <a:ext cx="128016" cy="128016"/>
          </a:xfrm>
          <a:prstGeom prst="rect">
            <a:avLst/>
          </a:prstGeom>
          <a:solidFill>
            <a:srgbClr val="3D5A80"/>
          </a:solidFill>
          <a:ln w="12700">
            <a:solidFill>
              <a:srgbClr val="3D5A80"/>
            </a:solidFill>
            <a:prstDash val="solid"/>
          </a:ln>
        </p:spPr>
      </p:sp>
      <p:sp>
        <p:nvSpPr>
          <p:cNvPr id="42" name="fv-8"/>
          <p:cNvSpPr txBox="1"/>
          <p:nvPr/>
        </p:nvSpPr>
        <p:spPr>
          <a:xfrm>
            <a:off x="6720840" y="4892040"/>
            <a:ext cx="1737360" cy="342900"/>
          </a:xfrm>
          <a:prstGeom prst="rect">
            <a:avLst/>
          </a:prstGeom>
          <a:noFill/>
          <a:ln/>
        </p:spPr>
        <p:txBody>
          <a:bodyPr wrap="square" lIns="0" tIns="0" rIns="0" bIns="0" rtlCol="0" anchor="ctr"/>
          <a:lstStyle/>
          <a:p>
            <a:pPr indent="0" marL="0">
              <a:buNone/>
            </a:pPr>
            <a:r>
              <a:rPr lang="en-US" sz="1000" dirty="0">
                <a:solidFill>
                  <a:srgbClr val="1B2A41"/>
                </a:solidFill>
              </a:rPr>
              <a:t>1,7 (1,1–2,7)</a:t>
            </a:r>
            <a:endParaRPr lang="en-US" sz="1000" dirty="0"/>
          </a:p>
        </p:txBody>
      </p:sp>
      <p:sp>
        <p:nvSpPr>
          <p:cNvPr id="43" name="fl-9"/>
          <p:cNvSpPr txBox="1"/>
          <p:nvPr/>
        </p:nvSpPr>
        <p:spPr>
          <a:xfrm>
            <a:off x="502920" y="5234940"/>
            <a:ext cx="3749040" cy="342900"/>
          </a:xfrm>
          <a:prstGeom prst="rect">
            <a:avLst/>
          </a:prstGeom>
          <a:noFill/>
          <a:ln/>
        </p:spPr>
        <p:txBody>
          <a:bodyPr wrap="square" lIns="0" tIns="0" rIns="0" bIns="0" rtlCol="0" anchor="ctr"/>
          <a:lstStyle/>
          <a:p>
            <a:pPr indent="0" marL="0">
              <a:buNone/>
            </a:pPr>
            <a:r>
              <a:rPr lang="en-US" sz="1000" i="1" dirty="0">
                <a:solidFill>
                  <a:srgbClr val="8D99AE"/>
                </a:solidFill>
              </a:rPr>
              <a:t>Reichmuth 2005 · Wisconsin, n 1 387 · incidentní DM za 4 roky, AHI ≥ 15</a:t>
            </a:r>
            <a:endParaRPr lang="en-US" sz="1000" dirty="0"/>
          </a:p>
        </p:txBody>
      </p:sp>
      <p:sp>
        <p:nvSpPr>
          <p:cNvPr id="44" name="ci-9"/>
          <p:cNvSpPr/>
          <p:nvPr/>
        </p:nvSpPr>
        <p:spPr>
          <a:xfrm>
            <a:off x="4566923" y="5406390"/>
            <a:ext cx="1559511" cy="0"/>
          </a:xfrm>
          <a:prstGeom prst="line">
            <a:avLst/>
          </a:prstGeom>
          <a:noFill/>
          <a:ln w="12700">
            <a:solidFill>
              <a:srgbClr val="C8553D"/>
            </a:solidFill>
            <a:prstDash val="dash"/>
          </a:ln>
        </p:spPr>
      </p:sp>
      <p:sp>
        <p:nvSpPr>
          <p:cNvPr id="45" name="pt-9"/>
          <p:cNvSpPr/>
          <p:nvPr/>
        </p:nvSpPr>
        <p:spPr>
          <a:xfrm>
            <a:off x="5315145" y="5342382"/>
            <a:ext cx="128016" cy="128016"/>
          </a:xfrm>
          <a:prstGeom prst="rect">
            <a:avLst/>
          </a:prstGeom>
          <a:solidFill>
            <a:srgbClr val="FFFFFF"/>
          </a:solidFill>
          <a:ln w="12700">
            <a:solidFill>
              <a:srgbClr val="C8553D"/>
            </a:solidFill>
            <a:prstDash val="solid"/>
          </a:ln>
        </p:spPr>
      </p:sp>
      <p:sp>
        <p:nvSpPr>
          <p:cNvPr id="46" name="fv-9"/>
          <p:cNvSpPr txBox="1"/>
          <p:nvPr/>
        </p:nvSpPr>
        <p:spPr>
          <a:xfrm>
            <a:off x="6720840" y="5234940"/>
            <a:ext cx="1737360" cy="342900"/>
          </a:xfrm>
          <a:prstGeom prst="rect">
            <a:avLst/>
          </a:prstGeom>
          <a:noFill/>
          <a:ln/>
        </p:spPr>
        <p:txBody>
          <a:bodyPr wrap="square" lIns="0" tIns="0" rIns="0" bIns="0" rtlCol="0" anchor="ctr"/>
          <a:lstStyle/>
          <a:p>
            <a:pPr indent="0" marL="0">
              <a:buNone/>
            </a:pPr>
            <a:r>
              <a:rPr lang="en-US" sz="1000" dirty="0">
                <a:solidFill>
                  <a:srgbClr val="8D99AE"/>
                </a:solidFill>
              </a:rPr>
              <a:t>1,62 (0,67–3,65) NS</a:t>
            </a:r>
            <a:endParaRPr lang="en-US" sz="1000" dirty="0"/>
          </a:p>
        </p:txBody>
      </p:sp>
      <p:sp>
        <p:nvSpPr>
          <p:cNvPr id="47" name="axis"/>
          <p:cNvSpPr/>
          <p:nvPr/>
        </p:nvSpPr>
        <p:spPr>
          <a:xfrm>
            <a:off x="4297680" y="5623560"/>
            <a:ext cx="2286000" cy="0"/>
          </a:xfrm>
          <a:prstGeom prst="line">
            <a:avLst/>
          </a:prstGeom>
          <a:noFill/>
          <a:ln w="12700">
            <a:solidFill>
              <a:srgbClr val="8D99AE"/>
            </a:solidFill>
            <a:prstDash val="solid"/>
          </a:ln>
        </p:spPr>
      </p:sp>
      <p:sp>
        <p:nvSpPr>
          <p:cNvPr id="48" name="ref"/>
          <p:cNvSpPr/>
          <p:nvPr/>
        </p:nvSpPr>
        <p:spPr>
          <a:xfrm>
            <a:off x="4935344" y="2148840"/>
            <a:ext cx="0" cy="3474720"/>
          </a:xfrm>
          <a:prstGeom prst="line">
            <a:avLst/>
          </a:prstGeom>
          <a:noFill/>
          <a:ln w="12700">
            <a:solidFill>
              <a:srgbClr val="C8553D"/>
            </a:solidFill>
            <a:prstDash val="dash"/>
          </a:ln>
        </p:spPr>
      </p:sp>
      <p:sp>
        <p:nvSpPr>
          <p:cNvPr id="49" name="tick-0.5"/>
          <p:cNvSpPr/>
          <p:nvPr/>
        </p:nvSpPr>
        <p:spPr>
          <a:xfrm>
            <a:off x="4297680" y="5623560"/>
            <a:ext cx="0" cy="54864"/>
          </a:xfrm>
          <a:prstGeom prst="line">
            <a:avLst/>
          </a:prstGeom>
          <a:noFill/>
          <a:ln w="12700">
            <a:solidFill>
              <a:srgbClr val="8D99AE"/>
            </a:solidFill>
            <a:prstDash val="solid"/>
          </a:ln>
        </p:spPr>
      </p:sp>
      <p:sp>
        <p:nvSpPr>
          <p:cNvPr id="50" name="tl-0.5"/>
          <p:cNvSpPr txBox="1"/>
          <p:nvPr/>
        </p:nvSpPr>
        <p:spPr>
          <a:xfrm>
            <a:off x="402336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0,5</a:t>
            </a:r>
            <a:endParaRPr lang="en-US" sz="900" dirty="0"/>
          </a:p>
        </p:txBody>
      </p:sp>
      <p:sp>
        <p:nvSpPr>
          <p:cNvPr id="51" name="tick-1"/>
          <p:cNvSpPr/>
          <p:nvPr/>
        </p:nvSpPr>
        <p:spPr>
          <a:xfrm>
            <a:off x="4935344" y="5623560"/>
            <a:ext cx="0" cy="54864"/>
          </a:xfrm>
          <a:prstGeom prst="line">
            <a:avLst/>
          </a:prstGeom>
          <a:noFill/>
          <a:ln w="12700">
            <a:solidFill>
              <a:srgbClr val="8D99AE"/>
            </a:solidFill>
            <a:prstDash val="solid"/>
          </a:ln>
        </p:spPr>
      </p:sp>
      <p:sp>
        <p:nvSpPr>
          <p:cNvPr id="52" name="tl-1"/>
          <p:cNvSpPr txBox="1"/>
          <p:nvPr/>
        </p:nvSpPr>
        <p:spPr>
          <a:xfrm>
            <a:off x="4661024"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a:t>
            </a:r>
            <a:endParaRPr lang="en-US" sz="900" dirty="0"/>
          </a:p>
        </p:txBody>
      </p:sp>
      <p:sp>
        <p:nvSpPr>
          <p:cNvPr id="53" name="tick-2"/>
          <p:cNvSpPr/>
          <p:nvPr/>
        </p:nvSpPr>
        <p:spPr>
          <a:xfrm>
            <a:off x="5573007" y="5623560"/>
            <a:ext cx="0" cy="54864"/>
          </a:xfrm>
          <a:prstGeom prst="line">
            <a:avLst/>
          </a:prstGeom>
          <a:noFill/>
          <a:ln w="12700">
            <a:solidFill>
              <a:srgbClr val="8D99AE"/>
            </a:solidFill>
            <a:prstDash val="solid"/>
          </a:ln>
        </p:spPr>
      </p:sp>
      <p:sp>
        <p:nvSpPr>
          <p:cNvPr id="54" name="tl-2"/>
          <p:cNvSpPr txBox="1"/>
          <p:nvPr/>
        </p:nvSpPr>
        <p:spPr>
          <a:xfrm>
            <a:off x="5298687"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2</a:t>
            </a:r>
            <a:endParaRPr lang="en-US" sz="900" dirty="0"/>
          </a:p>
        </p:txBody>
      </p:sp>
      <p:sp>
        <p:nvSpPr>
          <p:cNvPr id="55" name="tick-4"/>
          <p:cNvSpPr/>
          <p:nvPr/>
        </p:nvSpPr>
        <p:spPr>
          <a:xfrm>
            <a:off x="6210671" y="5623560"/>
            <a:ext cx="0" cy="54864"/>
          </a:xfrm>
          <a:prstGeom prst="line">
            <a:avLst/>
          </a:prstGeom>
          <a:noFill/>
          <a:ln w="12700">
            <a:solidFill>
              <a:srgbClr val="8D99AE"/>
            </a:solidFill>
            <a:prstDash val="solid"/>
          </a:ln>
        </p:spPr>
      </p:sp>
      <p:sp>
        <p:nvSpPr>
          <p:cNvPr id="56" name="tl-4"/>
          <p:cNvSpPr txBox="1"/>
          <p:nvPr/>
        </p:nvSpPr>
        <p:spPr>
          <a:xfrm>
            <a:off x="5936351"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4</a:t>
            </a:r>
            <a:endParaRPr lang="en-US" sz="900" dirty="0"/>
          </a:p>
        </p:txBody>
      </p:sp>
      <p:sp>
        <p:nvSpPr>
          <p:cNvPr id="57" name="xlabel"/>
          <p:cNvSpPr txBox="1"/>
          <p:nvPr/>
        </p:nvSpPr>
        <p:spPr>
          <a:xfrm>
            <a:off x="4297680" y="5824728"/>
            <a:ext cx="2286000" cy="201168"/>
          </a:xfrm>
          <a:prstGeom prst="rect">
            <a:avLst/>
          </a:prstGeom>
          <a:noFill/>
          <a:ln/>
        </p:spPr>
        <p:txBody>
          <a:bodyPr wrap="square" lIns="0" tIns="0" rIns="0" bIns="0" rtlCol="0" anchor="ctr"/>
          <a:lstStyle/>
          <a:p>
            <a:pPr algn="ctr" indent="0" marL="0">
              <a:buNone/>
            </a:pPr>
            <a:r>
              <a:rPr lang="en-US" sz="900" dirty="0">
                <a:solidFill>
                  <a:srgbClr val="8D99AE"/>
                </a:solidFill>
              </a:rPr>
              <a:t>HR / OR (log škála)</a:t>
            </a:r>
            <a:endParaRPr lang="en-US" sz="900" dirty="0"/>
          </a:p>
        </p:txBody>
      </p:sp>
      <p:sp>
        <p:nvSpPr>
          <p:cNvPr id="58" name="box-Přesné měření IR: Punjabi 2009"/>
          <p:cNvSpPr/>
          <p:nvPr/>
        </p:nvSpPr>
        <p:spPr>
          <a:xfrm>
            <a:off x="8549640" y="1874520"/>
            <a:ext cx="3200400" cy="2240280"/>
          </a:xfrm>
          <a:prstGeom prst="roundRect">
            <a:avLst>
              <a:gd name="adj" fmla="val 4082"/>
            </a:avLst>
          </a:prstGeom>
          <a:solidFill>
            <a:srgbClr val="EEF2F7"/>
          </a:solidFill>
          <a:ln w="12700">
            <a:solidFill>
              <a:srgbClr val="EEF2F7"/>
            </a:solidFill>
            <a:prstDash val="solid"/>
          </a:ln>
        </p:spPr>
      </p:sp>
      <p:sp>
        <p:nvSpPr>
          <p:cNvPr id="59" name="box-title-Přesné měření IR: Punjabi 2009"/>
          <p:cNvSpPr txBox="1"/>
          <p:nvPr/>
        </p:nvSpPr>
        <p:spPr>
          <a:xfrm>
            <a:off x="8686800" y="1965960"/>
            <a:ext cx="2926080" cy="329184"/>
          </a:xfrm>
          <a:prstGeom prst="rect">
            <a:avLst/>
          </a:prstGeom>
          <a:noFill/>
          <a:ln/>
        </p:spPr>
        <p:txBody>
          <a:bodyPr wrap="square" lIns="0" tIns="0" rIns="0" bIns="0" rtlCol="0" anchor="t"/>
          <a:lstStyle/>
          <a:p>
            <a:pPr indent="0" marL="0">
              <a:buNone/>
            </a:pPr>
            <a:r>
              <a:rPr lang="en-US" sz="1250" b="1" dirty="0">
                <a:solidFill>
                  <a:srgbClr val="1B2A41"/>
                </a:solidFill>
              </a:rPr>
              <a:t>Přesné měření IR: Punjabi 2009</a:t>
            </a:r>
            <a:endParaRPr lang="en-US" sz="1250" dirty="0"/>
          </a:p>
        </p:txBody>
      </p:sp>
      <p:sp>
        <p:nvSpPr>
          <p:cNvPr id="60" name="box-body-Přesné měření IR: Punjabi 2009"/>
          <p:cNvSpPr txBox="1"/>
          <p:nvPr/>
        </p:nvSpPr>
        <p:spPr>
          <a:xfrm>
            <a:off x="8686800" y="2313432"/>
            <a:ext cx="2926080" cy="170992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B2A41"/>
                </a:solidFill>
              </a:rPr>
              <a:t>118 nediabetiků, FSIVGTT + minimal model, % tělesného tuku</a:t>
            </a:r>
            <a:endParaRPr lang="en-US" sz="1000" dirty="0"/>
          </a:p>
          <a:p>
            <a:pPr marL="127000" indent="-127000">
              <a:spcAft>
                <a:spcPts val="300"/>
              </a:spcAft>
              <a:buSzPct val="100000"/>
              <a:buChar char="•"/>
            </a:pPr>
            <a:r>
              <a:rPr lang="en-US" sz="1000" dirty="0">
                <a:solidFill>
                  <a:srgbClr val="1B2A41"/>
                </a:solidFill>
              </a:rPr>
              <a:t>Pokles inzulinové senzitivity o 26,7 / 36,5 / 43,7 % u mírné / střední / těžké SDB nezávisle na % tuku (CI neuvedeny)</a:t>
            </a:r>
            <a:endParaRPr lang="en-US" sz="1000" dirty="0"/>
          </a:p>
          <a:p>
            <a:pPr marL="127000" indent="-127000">
              <a:spcAft>
                <a:spcPts val="300"/>
              </a:spcAft>
              <a:buSzPct val="100000"/>
              <a:buChar char="•"/>
            </a:pPr>
            <a:r>
              <a:rPr lang="en-US" sz="1000" dirty="0">
                <a:solidFill>
                  <a:srgbClr val="1B2A41"/>
                </a:solidFill>
              </a:rPr>
              <a:t>↓ disposition index (β-buňka) u střední–těžké SDB; korelace s desaturací</a:t>
            </a:r>
            <a:endParaRPr lang="en-US" sz="1000" dirty="0"/>
          </a:p>
        </p:txBody>
      </p:sp>
      <p:sp>
        <p:nvSpPr>
          <p:cNvPr id="61" name="box-Protiváha"/>
          <p:cNvSpPr/>
          <p:nvPr/>
        </p:nvSpPr>
        <p:spPr>
          <a:xfrm>
            <a:off x="8549640" y="4251960"/>
            <a:ext cx="3200400" cy="1554480"/>
          </a:xfrm>
          <a:prstGeom prst="roundRect">
            <a:avLst>
              <a:gd name="adj" fmla="val 5882"/>
            </a:avLst>
          </a:prstGeom>
          <a:solidFill>
            <a:srgbClr val="FBEDE9"/>
          </a:solidFill>
          <a:ln w="12700">
            <a:solidFill>
              <a:srgbClr val="FBEDE9"/>
            </a:solidFill>
            <a:prstDash val="solid"/>
          </a:ln>
        </p:spPr>
      </p:sp>
      <p:sp>
        <p:nvSpPr>
          <p:cNvPr id="62" name="box-title-Protiváha"/>
          <p:cNvSpPr txBox="1"/>
          <p:nvPr/>
        </p:nvSpPr>
        <p:spPr>
          <a:xfrm>
            <a:off x="8686800" y="4343400"/>
            <a:ext cx="2926080" cy="329184"/>
          </a:xfrm>
          <a:prstGeom prst="rect">
            <a:avLst/>
          </a:prstGeom>
          <a:noFill/>
          <a:ln/>
        </p:spPr>
        <p:txBody>
          <a:bodyPr wrap="square" lIns="0" tIns="0" rIns="0" bIns="0" rtlCol="0" anchor="t"/>
          <a:lstStyle/>
          <a:p>
            <a:pPr indent="0" marL="0">
              <a:buNone/>
            </a:pPr>
            <a:r>
              <a:rPr lang="en-US" sz="1250" b="1" dirty="0">
                <a:solidFill>
                  <a:srgbClr val="C8553D"/>
                </a:solidFill>
              </a:rPr>
              <a:t>Protiváha</a:t>
            </a:r>
            <a:endParaRPr lang="en-US" sz="1250" dirty="0"/>
          </a:p>
        </p:txBody>
      </p:sp>
      <p:sp>
        <p:nvSpPr>
          <p:cNvPr id="63" name="box-body-Protiváha"/>
          <p:cNvSpPr txBox="1"/>
          <p:nvPr/>
        </p:nvSpPr>
        <p:spPr>
          <a:xfrm>
            <a:off x="8686800" y="4690872"/>
            <a:ext cx="2926080" cy="1024128"/>
          </a:xfrm>
          <a:prstGeom prst="rect">
            <a:avLst/>
          </a:prstGeom>
          <a:noFill/>
          <a:ln/>
        </p:spPr>
        <p:txBody>
          <a:bodyPr wrap="square" lIns="0" tIns="0" rIns="0" bIns="0" rtlCol="0" anchor="t"/>
          <a:lstStyle/>
          <a:p>
            <a:pPr indent="0" marL="0">
              <a:spcAft>
                <a:spcPts val="300"/>
              </a:spcAft>
              <a:buNone/>
            </a:pPr>
            <a:r>
              <a:rPr lang="en-US" sz="1000" dirty="0">
                <a:solidFill>
                  <a:srgbClr val="1B2A41"/>
                </a:solidFill>
              </a:rPr>
              <a:t>Wisconsin průřezově OR 2,30 (1,28–4,11), ale po 4 letech OR 1,62 (0,67–3,65) – krátké sledování, málo událostí; „not clear that SDB is causal“ (Reichmuth 2005)</a:t>
            </a:r>
            <a:endParaRPr lang="en-US" sz="1000" dirty="0"/>
          </a:p>
        </p:txBody>
      </p:sp>
      <p:sp>
        <p:nvSpPr>
          <p:cNvPr id="64"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Nagayoshi, Sleep Med 2016 · Priou, Diabetes Care 2012 · Seicean, Diabetes Care 2008 · Reichmuth, AJRCCM 2005 · Punjabi &amp; Beamer, AJRCCM 2009 — vše observační: asociace</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AHI není všechno: hypoxic burden a hypoxemické metriky</a:t>
            </a:r>
            <a:endParaRPr lang="en-US" sz="2500" dirty="0"/>
          </a:p>
        </p:txBody>
      </p:sp>
      <p:sp>
        <p:nvSpPr>
          <p:cNvPr id="3" name="tag-kohorta"/>
          <p:cNvSpPr/>
          <p:nvPr/>
        </p:nvSpPr>
        <p:spPr>
          <a:xfrm>
            <a:off x="10753344" y="384048"/>
            <a:ext cx="996696" cy="310896"/>
          </a:xfrm>
          <a:prstGeom prst="roundRect">
            <a:avLst>
              <a:gd name="adj" fmla="val 23529"/>
            </a:avLst>
          </a:prstGeom>
          <a:solidFill>
            <a:srgbClr val="3D5A80"/>
          </a:solidFill>
          <a:ln w="12700">
            <a:solidFill>
              <a:srgbClr val="3D5A80"/>
            </a:solidFill>
            <a:prstDash val="solid"/>
          </a:ln>
        </p:spPr>
      </p:sp>
      <p:sp>
        <p:nvSpPr>
          <p:cNvPr id="4" name="tag-text-kohorta"/>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kohorta</a:t>
            </a:r>
            <a:endParaRPr lang="en-US" sz="1000" dirty="0"/>
          </a:p>
        </p:txBody>
      </p:sp>
      <p:sp>
        <p:nvSpPr>
          <p:cNvPr id="5"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Pro KV mortalitu predikuje hypoxic burden tam, kde AHI selhává; pro diabetes predikují T90, průměrná SpO₂ a ODI lépe než AHI – prospektivní evidence pro hypoxic burden a DM2 je zatím jediná studie.</a:t>
            </a:r>
            <a:endParaRPr lang="en-US" sz="1500" dirty="0"/>
          </a:p>
        </p:txBody>
      </p:sp>
      <p:sp>
        <p:nvSpPr>
          <p:cNvPr id="6" name="hb-box"/>
          <p:cNvSpPr/>
          <p:nvPr/>
        </p:nvSpPr>
        <p:spPr>
          <a:xfrm>
            <a:off x="457200" y="1920240"/>
            <a:ext cx="3931920" cy="2103120"/>
          </a:xfrm>
          <a:prstGeom prst="roundRect">
            <a:avLst>
              <a:gd name="adj" fmla="val 4348"/>
            </a:avLst>
          </a:prstGeom>
          <a:solidFill>
            <a:srgbClr val="EEF2F7"/>
          </a:solidFill>
          <a:ln w="12700">
            <a:solidFill>
              <a:srgbClr val="EEF2F7"/>
            </a:solidFill>
            <a:prstDash val="solid"/>
          </a:ln>
        </p:spPr>
      </p:sp>
      <p:sp>
        <p:nvSpPr>
          <p:cNvPr id="7" name="hb-t"/>
          <p:cNvSpPr txBox="1"/>
          <p:nvPr/>
        </p:nvSpPr>
        <p:spPr>
          <a:xfrm>
            <a:off x="594360" y="2011680"/>
            <a:ext cx="3657600" cy="640080"/>
          </a:xfrm>
          <a:prstGeom prst="rect">
            <a:avLst/>
          </a:prstGeom>
          <a:noFill/>
          <a:ln/>
        </p:spPr>
        <p:txBody>
          <a:bodyPr wrap="square" lIns="0" tIns="0" rIns="0" bIns="0" rtlCol="0" anchor="ctr"/>
          <a:lstStyle/>
          <a:p>
            <a:pPr indent="0" marL="0">
              <a:buNone/>
            </a:pPr>
            <a:r>
              <a:rPr lang="en-US" sz="1050" b="1" dirty="0">
                <a:solidFill>
                  <a:srgbClr val="1B2A41"/>
                </a:solidFill>
              </a:rPr>
              <a:t>Hypoxic burden = plocha pod desaturační křivkou vázaná na respirační události (hloubka × trvání × frekvence), %min/h</a:t>
            </a:r>
            <a:endParaRPr lang="en-US" sz="1050" dirty="0"/>
          </a:p>
        </p:txBody>
      </p:sp>
      <p:sp>
        <p:nvSpPr>
          <p:cNvPr id="8" name="spo2-base"/>
          <p:cNvSpPr/>
          <p:nvPr/>
        </p:nvSpPr>
        <p:spPr>
          <a:xfrm>
            <a:off x="731520" y="3017520"/>
            <a:ext cx="3383280" cy="0"/>
          </a:xfrm>
          <a:prstGeom prst="line">
            <a:avLst/>
          </a:prstGeom>
          <a:noFill/>
          <a:ln w="12700">
            <a:solidFill>
              <a:srgbClr val="8D99AE"/>
            </a:solidFill>
            <a:prstDash val="dash"/>
          </a:ln>
        </p:spPr>
      </p:sp>
      <p:sp>
        <p:nvSpPr>
          <p:cNvPr id="9" name="spo2-l"/>
          <p:cNvSpPr txBox="1"/>
          <p:nvPr/>
        </p:nvSpPr>
        <p:spPr>
          <a:xfrm>
            <a:off x="731520" y="2788920"/>
            <a:ext cx="1828800" cy="182880"/>
          </a:xfrm>
          <a:prstGeom prst="rect">
            <a:avLst/>
          </a:prstGeom>
          <a:noFill/>
          <a:ln/>
        </p:spPr>
        <p:txBody>
          <a:bodyPr wrap="square" lIns="0" tIns="0" rIns="0" bIns="0" rtlCol="0" anchor="ctr"/>
          <a:lstStyle/>
          <a:p>
            <a:pPr indent="0" marL="0">
              <a:buNone/>
            </a:pPr>
            <a:r>
              <a:rPr lang="en-US" sz="800" dirty="0">
                <a:solidFill>
                  <a:srgbClr val="8D99AE"/>
                </a:solidFill>
              </a:rPr>
              <a:t>SpO₂ před událostí</a:t>
            </a:r>
            <a:endParaRPr lang="en-US" sz="800" dirty="0"/>
          </a:p>
        </p:txBody>
      </p:sp>
      <p:sp>
        <p:nvSpPr>
          <p:cNvPr id="10" name="dip-0"/>
          <p:cNvSpPr/>
          <p:nvPr/>
        </p:nvSpPr>
        <p:spPr>
          <a:xfrm flipV="1">
            <a:off x="1005840" y="3017520"/>
            <a:ext cx="731520" cy="320040"/>
          </a:xfrm>
          <a:prstGeom prst="triangle">
            <a:avLst/>
          </a:prstGeom>
          <a:solidFill>
            <a:srgbClr val="C8553D">
              <a:alpha val="70000"/>
            </a:srgbClr>
          </a:solidFill>
          <a:ln w="9525">
            <a:solidFill>
              <a:srgbClr val="C8553D"/>
            </a:solidFill>
            <a:prstDash val="solid"/>
          </a:ln>
        </p:spPr>
      </p:sp>
      <p:sp>
        <p:nvSpPr>
          <p:cNvPr id="11" name="dip-1"/>
          <p:cNvSpPr/>
          <p:nvPr/>
        </p:nvSpPr>
        <p:spPr>
          <a:xfrm flipV="1">
            <a:off x="2103120" y="3017520"/>
            <a:ext cx="457200" cy="182880"/>
          </a:xfrm>
          <a:prstGeom prst="triangle">
            <a:avLst/>
          </a:prstGeom>
          <a:solidFill>
            <a:srgbClr val="C8553D">
              <a:alpha val="70000"/>
            </a:srgbClr>
          </a:solidFill>
          <a:ln w="9525">
            <a:solidFill>
              <a:srgbClr val="C8553D"/>
            </a:solidFill>
            <a:prstDash val="solid"/>
          </a:ln>
        </p:spPr>
      </p:sp>
      <p:sp>
        <p:nvSpPr>
          <p:cNvPr id="12" name="dip-2"/>
          <p:cNvSpPr/>
          <p:nvPr/>
        </p:nvSpPr>
        <p:spPr>
          <a:xfrm flipV="1">
            <a:off x="2926080" y="3017520"/>
            <a:ext cx="1005840" cy="457200"/>
          </a:xfrm>
          <a:prstGeom prst="triangle">
            <a:avLst/>
          </a:prstGeom>
          <a:solidFill>
            <a:srgbClr val="C8553D">
              <a:alpha val="70000"/>
            </a:srgbClr>
          </a:solidFill>
          <a:ln w="9525">
            <a:solidFill>
              <a:srgbClr val="C8553D"/>
            </a:solidFill>
            <a:prstDash val="solid"/>
          </a:ln>
        </p:spPr>
      </p:sp>
      <p:sp>
        <p:nvSpPr>
          <p:cNvPr id="13" name="dip-l1"/>
          <p:cNvSpPr txBox="1"/>
          <p:nvPr/>
        </p:nvSpPr>
        <p:spPr>
          <a:xfrm>
            <a:off x="3950208" y="3063240"/>
            <a:ext cx="548640" cy="182880"/>
          </a:xfrm>
          <a:prstGeom prst="rect">
            <a:avLst/>
          </a:prstGeom>
          <a:noFill/>
          <a:ln/>
        </p:spPr>
        <p:txBody>
          <a:bodyPr wrap="square" lIns="0" tIns="0" rIns="0" bIns="0" rtlCol="0" anchor="ctr"/>
          <a:lstStyle/>
          <a:p>
            <a:pPr indent="0" marL="0">
              <a:buNone/>
            </a:pPr>
            <a:r>
              <a:rPr lang="en-US" sz="750" dirty="0">
                <a:solidFill>
                  <a:srgbClr val="C8553D"/>
                </a:solidFill>
              </a:rPr>
              <a:t>hloubka</a:t>
            </a:r>
            <a:endParaRPr lang="en-US" sz="750" dirty="0"/>
          </a:p>
        </p:txBody>
      </p:sp>
      <p:sp>
        <p:nvSpPr>
          <p:cNvPr id="14" name="dip-l2"/>
          <p:cNvSpPr txBox="1"/>
          <p:nvPr/>
        </p:nvSpPr>
        <p:spPr>
          <a:xfrm>
            <a:off x="3200400" y="3493008"/>
            <a:ext cx="548640" cy="182880"/>
          </a:xfrm>
          <a:prstGeom prst="rect">
            <a:avLst/>
          </a:prstGeom>
          <a:noFill/>
          <a:ln/>
        </p:spPr>
        <p:txBody>
          <a:bodyPr wrap="square" lIns="0" tIns="0" rIns="0" bIns="0" rtlCol="0" anchor="ctr"/>
          <a:lstStyle/>
          <a:p>
            <a:pPr indent="0" marL="0">
              <a:buNone/>
            </a:pPr>
            <a:r>
              <a:rPr lang="en-US" sz="750" dirty="0">
                <a:solidFill>
                  <a:srgbClr val="C8553D"/>
                </a:solidFill>
              </a:rPr>
              <a:t>trvání</a:t>
            </a:r>
            <a:endParaRPr lang="en-US" sz="750" dirty="0"/>
          </a:p>
        </p:txBody>
      </p:sp>
      <p:sp>
        <p:nvSpPr>
          <p:cNvPr id="15" name="hb-c"/>
          <p:cNvSpPr txBox="1"/>
          <p:nvPr/>
        </p:nvSpPr>
        <p:spPr>
          <a:xfrm>
            <a:off x="594360" y="3703320"/>
            <a:ext cx="3657600" cy="274320"/>
          </a:xfrm>
          <a:prstGeom prst="rect">
            <a:avLst/>
          </a:prstGeom>
          <a:noFill/>
          <a:ln/>
        </p:spPr>
        <p:txBody>
          <a:bodyPr wrap="square" lIns="0" tIns="0" rIns="0" bIns="0" rtlCol="0" anchor="ctr"/>
          <a:lstStyle/>
          <a:p>
            <a:pPr indent="0" marL="0">
              <a:buNone/>
            </a:pPr>
            <a:r>
              <a:rPr lang="en-US" sz="850" i="1" dirty="0">
                <a:solidFill>
                  <a:srgbClr val="8D99AE"/>
                </a:solidFill>
              </a:rPr>
              <a:t>Azarbarzin, Eur Heart J 2019 · Parekh 2024: více definic (HB, SASHB, T90, ODI)</a:t>
            </a:r>
            <a:endParaRPr lang="en-US" sz="850" dirty="0"/>
          </a:p>
        </p:txBody>
      </p:sp>
      <p:sp>
        <p:nvSpPr>
          <p:cNvPr id="16" name="fh1"/>
          <p:cNvSpPr txBox="1"/>
          <p:nvPr/>
        </p:nvSpPr>
        <p:spPr>
          <a:xfrm>
            <a:off x="4572000" y="1856232"/>
            <a:ext cx="3566160" cy="274320"/>
          </a:xfrm>
          <a:prstGeom prst="rect">
            <a:avLst/>
          </a:prstGeom>
          <a:noFill/>
          <a:ln/>
        </p:spPr>
        <p:txBody>
          <a:bodyPr wrap="square" lIns="0" tIns="0" rIns="0" bIns="0" rtlCol="0" anchor="ctr"/>
          <a:lstStyle/>
          <a:p>
            <a:pPr indent="0" marL="0">
              <a:buNone/>
            </a:pPr>
            <a:r>
              <a:rPr lang="en-US" sz="1000" b="1" dirty="0">
                <a:solidFill>
                  <a:srgbClr val="8D99AE"/>
                </a:solidFill>
              </a:rPr>
              <a:t>Studie · expozice (outcome)</a:t>
            </a:r>
            <a:endParaRPr lang="en-US" sz="1000" dirty="0"/>
          </a:p>
        </p:txBody>
      </p:sp>
      <p:sp>
        <p:nvSpPr>
          <p:cNvPr id="17" name="fh2"/>
          <p:cNvSpPr txBox="1"/>
          <p:nvPr/>
        </p:nvSpPr>
        <p:spPr>
          <a:xfrm>
            <a:off x="10149840" y="1856232"/>
            <a:ext cx="1737360" cy="274320"/>
          </a:xfrm>
          <a:prstGeom prst="rect">
            <a:avLst/>
          </a:prstGeom>
          <a:noFill/>
          <a:ln/>
        </p:spPr>
        <p:txBody>
          <a:bodyPr wrap="square" lIns="0" tIns="0" rIns="0" bIns="0" rtlCol="0" anchor="ctr"/>
          <a:lstStyle/>
          <a:p>
            <a:pPr indent="0" marL="0">
              <a:buNone/>
            </a:pPr>
            <a:r>
              <a:rPr lang="en-US" sz="1000" b="1" dirty="0">
                <a:solidFill>
                  <a:srgbClr val="8D99AE"/>
                </a:solidFill>
              </a:rPr>
              <a:t>HR / IRR (95 % CI)</a:t>
            </a:r>
            <a:endParaRPr lang="en-US" sz="1000" dirty="0"/>
          </a:p>
        </p:txBody>
      </p:sp>
      <p:sp>
        <p:nvSpPr>
          <p:cNvPr id="18" name="fg-0"/>
          <p:cNvSpPr txBox="1"/>
          <p:nvPr/>
        </p:nvSpPr>
        <p:spPr>
          <a:xfrm>
            <a:off x="4572000" y="2148840"/>
            <a:ext cx="7178040" cy="381000"/>
          </a:xfrm>
          <a:prstGeom prst="rect">
            <a:avLst/>
          </a:prstGeom>
          <a:noFill/>
          <a:ln/>
        </p:spPr>
        <p:txBody>
          <a:bodyPr wrap="square" lIns="0" tIns="0" rIns="0" bIns="0" rtlCol="0" anchor="ctr"/>
          <a:lstStyle/>
          <a:p>
            <a:pPr indent="0" marL="0">
              <a:buNone/>
            </a:pPr>
            <a:r>
              <a:rPr lang="en-US" sz="1050" b="1" dirty="0">
                <a:solidFill>
                  <a:srgbClr val="3D5A80"/>
                </a:solidFill>
              </a:rPr>
              <a:t>Azarbarzin 2019 · hypoxic burden (KV MORTALITA, ne DM)</a:t>
            </a:r>
            <a:endParaRPr lang="en-US" sz="1050" dirty="0"/>
          </a:p>
        </p:txBody>
      </p:sp>
      <p:sp>
        <p:nvSpPr>
          <p:cNvPr id="19" name="fl-1"/>
          <p:cNvSpPr txBox="1"/>
          <p:nvPr/>
        </p:nvSpPr>
        <p:spPr>
          <a:xfrm>
            <a:off x="4617720" y="2529840"/>
            <a:ext cx="3474720" cy="381000"/>
          </a:xfrm>
          <a:prstGeom prst="rect">
            <a:avLst/>
          </a:prstGeom>
          <a:noFill/>
          <a:ln/>
        </p:spPr>
        <p:txBody>
          <a:bodyPr wrap="square" lIns="0" tIns="0" rIns="0" bIns="0" rtlCol="0" anchor="ctr"/>
          <a:lstStyle/>
          <a:p>
            <a:pPr indent="0" marL="0">
              <a:buNone/>
            </a:pPr>
            <a:r>
              <a:rPr lang="en-US" sz="1050" dirty="0">
                <a:solidFill>
                  <a:srgbClr val="1B2A41"/>
                </a:solidFill>
              </a:rPr>
              <a:t>   MrOS, n 2 743 · 4. kvintil vs. nižší</a:t>
            </a:r>
            <a:endParaRPr lang="en-US" sz="1050" dirty="0"/>
          </a:p>
        </p:txBody>
      </p:sp>
      <p:sp>
        <p:nvSpPr>
          <p:cNvPr id="20" name="ci-1"/>
          <p:cNvSpPr/>
          <p:nvPr/>
        </p:nvSpPr>
        <p:spPr>
          <a:xfrm>
            <a:off x="8678618" y="2720340"/>
            <a:ext cx="436494" cy="0"/>
          </a:xfrm>
          <a:prstGeom prst="line">
            <a:avLst/>
          </a:prstGeom>
          <a:noFill/>
          <a:ln w="22225">
            <a:solidFill>
              <a:srgbClr val="C8553D"/>
            </a:solidFill>
            <a:prstDash val="solid"/>
          </a:ln>
        </p:spPr>
      </p:sp>
      <p:sp>
        <p:nvSpPr>
          <p:cNvPr id="21" name="pt-1"/>
          <p:cNvSpPr/>
          <p:nvPr/>
        </p:nvSpPr>
        <p:spPr>
          <a:xfrm>
            <a:off x="8832956" y="2656332"/>
            <a:ext cx="128016" cy="128016"/>
          </a:xfrm>
          <a:prstGeom prst="rect">
            <a:avLst/>
          </a:prstGeom>
          <a:solidFill>
            <a:srgbClr val="C8553D"/>
          </a:solidFill>
          <a:ln w="12700">
            <a:solidFill>
              <a:srgbClr val="C8553D"/>
            </a:solidFill>
            <a:prstDash val="solid"/>
          </a:ln>
        </p:spPr>
      </p:sp>
      <p:sp>
        <p:nvSpPr>
          <p:cNvPr id="22" name="fv-1"/>
          <p:cNvSpPr txBox="1"/>
          <p:nvPr/>
        </p:nvSpPr>
        <p:spPr>
          <a:xfrm>
            <a:off x="10149840" y="2529840"/>
            <a:ext cx="1737360" cy="381000"/>
          </a:xfrm>
          <a:prstGeom prst="rect">
            <a:avLst/>
          </a:prstGeom>
          <a:noFill/>
          <a:ln/>
        </p:spPr>
        <p:txBody>
          <a:bodyPr wrap="square" lIns="0" tIns="0" rIns="0" bIns="0" rtlCol="0" anchor="ctr"/>
          <a:lstStyle/>
          <a:p>
            <a:pPr indent="0" marL="0">
              <a:buNone/>
            </a:pPr>
            <a:r>
              <a:rPr lang="en-US" sz="1000" dirty="0">
                <a:solidFill>
                  <a:srgbClr val="1B2A41"/>
                </a:solidFill>
              </a:rPr>
              <a:t>1,81 (1,25–2,62)</a:t>
            </a:r>
            <a:endParaRPr lang="en-US" sz="1000" dirty="0"/>
          </a:p>
        </p:txBody>
      </p:sp>
      <p:sp>
        <p:nvSpPr>
          <p:cNvPr id="23" name="zebra-2"/>
          <p:cNvSpPr/>
          <p:nvPr/>
        </p:nvSpPr>
        <p:spPr>
          <a:xfrm>
            <a:off x="4572000" y="2910840"/>
            <a:ext cx="7178040" cy="381000"/>
          </a:xfrm>
          <a:prstGeom prst="rect">
            <a:avLst/>
          </a:prstGeom>
          <a:solidFill>
            <a:srgbClr val="EEF2F7"/>
          </a:solidFill>
          <a:ln w="12700">
            <a:solidFill>
              <a:srgbClr val="EEF2F7"/>
            </a:solidFill>
            <a:prstDash val="solid"/>
          </a:ln>
        </p:spPr>
      </p:sp>
      <p:sp>
        <p:nvSpPr>
          <p:cNvPr id="24" name="fl-2"/>
          <p:cNvSpPr txBox="1"/>
          <p:nvPr/>
        </p:nvSpPr>
        <p:spPr>
          <a:xfrm>
            <a:off x="4617720" y="2910840"/>
            <a:ext cx="3474720" cy="381000"/>
          </a:xfrm>
          <a:prstGeom prst="rect">
            <a:avLst/>
          </a:prstGeom>
          <a:noFill/>
          <a:ln/>
        </p:spPr>
        <p:txBody>
          <a:bodyPr wrap="square" lIns="0" tIns="0" rIns="0" bIns="0" rtlCol="0" anchor="ctr"/>
          <a:lstStyle/>
          <a:p>
            <a:pPr indent="0" marL="0">
              <a:buNone/>
            </a:pPr>
            <a:r>
              <a:rPr lang="en-US" sz="1050" dirty="0">
                <a:solidFill>
                  <a:srgbClr val="1B2A41"/>
                </a:solidFill>
              </a:rPr>
              <a:t>   MrOS · 5. kvintil</a:t>
            </a:r>
            <a:endParaRPr lang="en-US" sz="1050" dirty="0"/>
          </a:p>
        </p:txBody>
      </p:sp>
      <p:sp>
        <p:nvSpPr>
          <p:cNvPr id="25" name="ci-2"/>
          <p:cNvSpPr/>
          <p:nvPr/>
        </p:nvSpPr>
        <p:spPr>
          <a:xfrm>
            <a:off x="8863442" y="3101340"/>
            <a:ext cx="552071" cy="0"/>
          </a:xfrm>
          <a:prstGeom prst="line">
            <a:avLst/>
          </a:prstGeom>
          <a:noFill/>
          <a:ln w="22225">
            <a:solidFill>
              <a:srgbClr val="C8553D"/>
            </a:solidFill>
            <a:prstDash val="solid"/>
          </a:ln>
        </p:spPr>
      </p:sp>
      <p:sp>
        <p:nvSpPr>
          <p:cNvPr id="26" name="pt-2"/>
          <p:cNvSpPr/>
          <p:nvPr/>
        </p:nvSpPr>
        <p:spPr>
          <a:xfrm>
            <a:off x="9075363" y="3037332"/>
            <a:ext cx="128016" cy="128016"/>
          </a:xfrm>
          <a:prstGeom prst="rect">
            <a:avLst/>
          </a:prstGeom>
          <a:solidFill>
            <a:srgbClr val="C8553D"/>
          </a:solidFill>
          <a:ln w="12700">
            <a:solidFill>
              <a:srgbClr val="C8553D"/>
            </a:solidFill>
            <a:prstDash val="solid"/>
          </a:ln>
        </p:spPr>
      </p:sp>
      <p:sp>
        <p:nvSpPr>
          <p:cNvPr id="27" name="fv-2"/>
          <p:cNvSpPr txBox="1"/>
          <p:nvPr/>
        </p:nvSpPr>
        <p:spPr>
          <a:xfrm>
            <a:off x="10149840" y="2910840"/>
            <a:ext cx="1737360" cy="381000"/>
          </a:xfrm>
          <a:prstGeom prst="rect">
            <a:avLst/>
          </a:prstGeom>
          <a:noFill/>
          <a:ln/>
        </p:spPr>
        <p:txBody>
          <a:bodyPr wrap="square" lIns="0" tIns="0" rIns="0" bIns="0" rtlCol="0" anchor="ctr"/>
          <a:lstStyle/>
          <a:p>
            <a:pPr indent="0" marL="0">
              <a:buNone/>
            </a:pPr>
            <a:r>
              <a:rPr lang="en-US" sz="1000" dirty="0">
                <a:solidFill>
                  <a:srgbClr val="1B2A41"/>
                </a:solidFill>
              </a:rPr>
              <a:t>2,73 (1,71–4,36)</a:t>
            </a:r>
            <a:endParaRPr lang="en-US" sz="1000" dirty="0"/>
          </a:p>
        </p:txBody>
      </p:sp>
      <p:sp>
        <p:nvSpPr>
          <p:cNvPr id="28" name="fl-3"/>
          <p:cNvSpPr txBox="1"/>
          <p:nvPr/>
        </p:nvSpPr>
        <p:spPr>
          <a:xfrm>
            <a:off x="4617720" y="3291840"/>
            <a:ext cx="3474720" cy="381000"/>
          </a:xfrm>
          <a:prstGeom prst="rect">
            <a:avLst/>
          </a:prstGeom>
          <a:noFill/>
          <a:ln/>
        </p:spPr>
        <p:txBody>
          <a:bodyPr wrap="square" lIns="0" tIns="0" rIns="0" bIns="0" rtlCol="0" anchor="ctr"/>
          <a:lstStyle/>
          <a:p>
            <a:pPr indent="0" marL="0">
              <a:buNone/>
            </a:pPr>
            <a:r>
              <a:rPr lang="en-US" sz="1050" dirty="0">
                <a:solidFill>
                  <a:srgbClr val="1B2A41"/>
                </a:solidFill>
              </a:rPr>
              <a:t>   SHHS, n 5 111 · 5. kvintil (AHI nepredikoval)</a:t>
            </a:r>
            <a:endParaRPr lang="en-US" sz="1050" dirty="0"/>
          </a:p>
        </p:txBody>
      </p:sp>
      <p:sp>
        <p:nvSpPr>
          <p:cNvPr id="29" name="ci-3"/>
          <p:cNvSpPr/>
          <p:nvPr/>
        </p:nvSpPr>
        <p:spPr>
          <a:xfrm>
            <a:off x="8608556" y="3482340"/>
            <a:ext cx="665449" cy="0"/>
          </a:xfrm>
          <a:prstGeom prst="line">
            <a:avLst/>
          </a:prstGeom>
          <a:noFill/>
          <a:ln w="22225">
            <a:solidFill>
              <a:srgbClr val="C8553D"/>
            </a:solidFill>
            <a:prstDash val="solid"/>
          </a:ln>
        </p:spPr>
      </p:sp>
      <p:sp>
        <p:nvSpPr>
          <p:cNvPr id="30" name="pt-3"/>
          <p:cNvSpPr/>
          <p:nvPr/>
        </p:nvSpPr>
        <p:spPr>
          <a:xfrm>
            <a:off x="8879917" y="3418332"/>
            <a:ext cx="128016" cy="128016"/>
          </a:xfrm>
          <a:prstGeom prst="rect">
            <a:avLst/>
          </a:prstGeom>
          <a:solidFill>
            <a:srgbClr val="C8553D"/>
          </a:solidFill>
          <a:ln w="12700">
            <a:solidFill>
              <a:srgbClr val="C8553D"/>
            </a:solidFill>
            <a:prstDash val="solid"/>
          </a:ln>
        </p:spPr>
      </p:sp>
      <p:sp>
        <p:nvSpPr>
          <p:cNvPr id="31" name="fv-3"/>
          <p:cNvSpPr txBox="1"/>
          <p:nvPr/>
        </p:nvSpPr>
        <p:spPr>
          <a:xfrm>
            <a:off x="10149840" y="3291840"/>
            <a:ext cx="1737360" cy="381000"/>
          </a:xfrm>
          <a:prstGeom prst="rect">
            <a:avLst/>
          </a:prstGeom>
          <a:noFill/>
          <a:ln/>
        </p:spPr>
        <p:txBody>
          <a:bodyPr wrap="square" lIns="0" tIns="0" rIns="0" bIns="0" rtlCol="0" anchor="ctr"/>
          <a:lstStyle/>
          <a:p>
            <a:pPr indent="0" marL="0">
              <a:buNone/>
            </a:pPr>
            <a:r>
              <a:rPr lang="en-US" sz="1000" dirty="0">
                <a:solidFill>
                  <a:srgbClr val="1B2A41"/>
                </a:solidFill>
              </a:rPr>
              <a:t>1,96 (1,11–3,43)</a:t>
            </a:r>
            <a:endParaRPr lang="en-US" sz="1000" dirty="0"/>
          </a:p>
        </p:txBody>
      </p:sp>
      <p:sp>
        <p:nvSpPr>
          <p:cNvPr id="32" name="fg-4"/>
          <p:cNvSpPr txBox="1"/>
          <p:nvPr/>
        </p:nvSpPr>
        <p:spPr>
          <a:xfrm>
            <a:off x="4572000" y="3672840"/>
            <a:ext cx="7178040" cy="381000"/>
          </a:xfrm>
          <a:prstGeom prst="rect">
            <a:avLst/>
          </a:prstGeom>
          <a:noFill/>
          <a:ln/>
        </p:spPr>
        <p:txBody>
          <a:bodyPr wrap="square" lIns="0" tIns="0" rIns="0" bIns="0" rtlCol="0" anchor="ctr"/>
          <a:lstStyle/>
          <a:p>
            <a:pPr indent="0" marL="0">
              <a:buNone/>
            </a:pPr>
            <a:r>
              <a:rPr lang="en-US" sz="1050" b="1" dirty="0">
                <a:solidFill>
                  <a:srgbClr val="3D5A80"/>
                </a:solidFill>
              </a:rPr>
              <a:t>Incidentní DM2 – hypoxemické metriky</a:t>
            </a:r>
            <a:endParaRPr lang="en-US" sz="1050" dirty="0"/>
          </a:p>
        </p:txBody>
      </p:sp>
      <p:sp>
        <p:nvSpPr>
          <p:cNvPr id="33" name="fl-5"/>
          <p:cNvSpPr txBox="1"/>
          <p:nvPr/>
        </p:nvSpPr>
        <p:spPr>
          <a:xfrm>
            <a:off x="4617720" y="4053840"/>
            <a:ext cx="3474720" cy="381000"/>
          </a:xfrm>
          <a:prstGeom prst="rect">
            <a:avLst/>
          </a:prstGeom>
          <a:noFill/>
          <a:ln/>
        </p:spPr>
        <p:txBody>
          <a:bodyPr wrap="square" lIns="0" tIns="0" rIns="0" bIns="0" rtlCol="0" anchor="ctr"/>
          <a:lstStyle/>
          <a:p>
            <a:pPr indent="0" marL="0">
              <a:buNone/>
            </a:pPr>
            <a:r>
              <a:rPr lang="en-US" sz="1050" dirty="0">
                <a:solidFill>
                  <a:srgbClr val="1B2A41"/>
                </a:solidFill>
              </a:rPr>
              <a:t>   Appleton 2025 · MAILES, n 536 mužů, 8,3 let · nejnižší kvartil průměrné SpO₂</a:t>
            </a:r>
            <a:endParaRPr lang="en-US" sz="1050" dirty="0"/>
          </a:p>
        </p:txBody>
      </p:sp>
      <p:sp>
        <p:nvSpPr>
          <p:cNvPr id="34" name="ci-5"/>
          <p:cNvSpPr/>
          <p:nvPr/>
        </p:nvSpPr>
        <p:spPr>
          <a:xfrm>
            <a:off x="8859983" y="4244340"/>
            <a:ext cx="1062593" cy="0"/>
          </a:xfrm>
          <a:prstGeom prst="line">
            <a:avLst/>
          </a:prstGeom>
          <a:noFill/>
          <a:ln w="22225">
            <a:solidFill>
              <a:srgbClr val="3D5A80"/>
            </a:solidFill>
            <a:prstDash val="solid"/>
          </a:ln>
        </p:spPr>
      </p:sp>
      <p:sp>
        <p:nvSpPr>
          <p:cNvPr id="35" name="pt-5"/>
          <p:cNvSpPr/>
          <p:nvPr/>
        </p:nvSpPr>
        <p:spPr>
          <a:xfrm>
            <a:off x="9329453" y="4180332"/>
            <a:ext cx="128016" cy="128016"/>
          </a:xfrm>
          <a:prstGeom prst="rect">
            <a:avLst/>
          </a:prstGeom>
          <a:solidFill>
            <a:srgbClr val="3D5A80"/>
          </a:solidFill>
          <a:ln w="12700">
            <a:solidFill>
              <a:srgbClr val="3D5A80"/>
            </a:solidFill>
            <a:prstDash val="solid"/>
          </a:ln>
        </p:spPr>
      </p:sp>
      <p:sp>
        <p:nvSpPr>
          <p:cNvPr id="36" name="fv-5"/>
          <p:cNvSpPr txBox="1"/>
          <p:nvPr/>
        </p:nvSpPr>
        <p:spPr>
          <a:xfrm>
            <a:off x="10149840" y="4053840"/>
            <a:ext cx="1737360" cy="381000"/>
          </a:xfrm>
          <a:prstGeom prst="rect">
            <a:avLst/>
          </a:prstGeom>
          <a:noFill/>
          <a:ln/>
        </p:spPr>
        <p:txBody>
          <a:bodyPr wrap="square" lIns="0" tIns="0" rIns="0" bIns="0" rtlCol="0" anchor="ctr"/>
          <a:lstStyle/>
          <a:p>
            <a:pPr indent="0" marL="0">
              <a:buNone/>
            </a:pPr>
            <a:r>
              <a:rPr lang="en-US" sz="1000" dirty="0">
                <a:solidFill>
                  <a:srgbClr val="1B2A41"/>
                </a:solidFill>
              </a:rPr>
              <a:t>IRR 4,2 (1,7–10,3)</a:t>
            </a:r>
            <a:endParaRPr lang="en-US" sz="1000" dirty="0"/>
          </a:p>
        </p:txBody>
      </p:sp>
      <p:sp>
        <p:nvSpPr>
          <p:cNvPr id="37" name="zebra-6"/>
          <p:cNvSpPr/>
          <p:nvPr/>
        </p:nvSpPr>
        <p:spPr>
          <a:xfrm>
            <a:off x="4572000" y="4434840"/>
            <a:ext cx="7178040" cy="381000"/>
          </a:xfrm>
          <a:prstGeom prst="rect">
            <a:avLst/>
          </a:prstGeom>
          <a:solidFill>
            <a:srgbClr val="EEF2F7"/>
          </a:solidFill>
          <a:ln w="12700">
            <a:solidFill>
              <a:srgbClr val="EEF2F7"/>
            </a:solidFill>
            <a:prstDash val="solid"/>
          </a:ln>
        </p:spPr>
      </p:sp>
      <p:sp>
        <p:nvSpPr>
          <p:cNvPr id="38" name="fl-6"/>
          <p:cNvSpPr txBox="1"/>
          <p:nvPr/>
        </p:nvSpPr>
        <p:spPr>
          <a:xfrm>
            <a:off x="4617720" y="4434840"/>
            <a:ext cx="3474720" cy="381000"/>
          </a:xfrm>
          <a:prstGeom prst="rect">
            <a:avLst/>
          </a:prstGeom>
          <a:noFill/>
          <a:ln/>
        </p:spPr>
        <p:txBody>
          <a:bodyPr wrap="square" lIns="0" tIns="0" rIns="0" bIns="0" rtlCol="0" anchor="ctr"/>
          <a:lstStyle/>
          <a:p>
            <a:pPr indent="0" marL="0">
              <a:buNone/>
            </a:pPr>
            <a:r>
              <a:rPr lang="en-US" sz="1050" dirty="0">
                <a:solidFill>
                  <a:srgbClr val="1B2A41"/>
                </a:solidFill>
              </a:rPr>
              <a:t>   Appleton 2025 · kontinuální HBI (na jednotku); kategorický HBI/AHI/ODI NS</a:t>
            </a:r>
            <a:endParaRPr lang="en-US" sz="1050" dirty="0"/>
          </a:p>
        </p:txBody>
      </p:sp>
      <p:sp>
        <p:nvSpPr>
          <p:cNvPr id="39" name="ci-6"/>
          <p:cNvSpPr/>
          <p:nvPr/>
        </p:nvSpPr>
        <p:spPr>
          <a:xfrm>
            <a:off x="8550529" y="4625340"/>
            <a:ext cx="10460" cy="0"/>
          </a:xfrm>
          <a:prstGeom prst="line">
            <a:avLst/>
          </a:prstGeom>
          <a:noFill/>
          <a:ln w="22225">
            <a:solidFill>
              <a:srgbClr val="3D5A80"/>
            </a:solidFill>
            <a:prstDash val="solid"/>
          </a:ln>
        </p:spPr>
      </p:sp>
      <p:sp>
        <p:nvSpPr>
          <p:cNvPr id="40" name="pt-6"/>
          <p:cNvSpPr/>
          <p:nvPr/>
        </p:nvSpPr>
        <p:spPr>
          <a:xfrm>
            <a:off x="8491775" y="4561332"/>
            <a:ext cx="128016" cy="128016"/>
          </a:xfrm>
          <a:prstGeom prst="rect">
            <a:avLst/>
          </a:prstGeom>
          <a:solidFill>
            <a:srgbClr val="3D5A80"/>
          </a:solidFill>
          <a:ln w="12700">
            <a:solidFill>
              <a:srgbClr val="3D5A80"/>
            </a:solidFill>
            <a:prstDash val="solid"/>
          </a:ln>
        </p:spPr>
      </p:sp>
      <p:sp>
        <p:nvSpPr>
          <p:cNvPr id="41" name="fv-6"/>
          <p:cNvSpPr txBox="1"/>
          <p:nvPr/>
        </p:nvSpPr>
        <p:spPr>
          <a:xfrm>
            <a:off x="10149840" y="4434840"/>
            <a:ext cx="1737360" cy="381000"/>
          </a:xfrm>
          <a:prstGeom prst="rect">
            <a:avLst/>
          </a:prstGeom>
          <a:noFill/>
          <a:ln/>
        </p:spPr>
        <p:txBody>
          <a:bodyPr wrap="square" lIns="0" tIns="0" rIns="0" bIns="0" rtlCol="0" anchor="ctr"/>
          <a:lstStyle/>
          <a:p>
            <a:pPr indent="0" marL="0">
              <a:buNone/>
            </a:pPr>
            <a:r>
              <a:rPr lang="en-US" sz="1000" dirty="0">
                <a:solidFill>
                  <a:srgbClr val="1B2A41"/>
                </a:solidFill>
              </a:rPr>
              <a:t>IRR 1,015 (1,006–1,024)</a:t>
            </a:r>
            <a:endParaRPr lang="en-US" sz="1000" dirty="0"/>
          </a:p>
        </p:txBody>
      </p:sp>
      <p:sp>
        <p:nvSpPr>
          <p:cNvPr id="42" name="fl-7"/>
          <p:cNvSpPr txBox="1"/>
          <p:nvPr/>
        </p:nvSpPr>
        <p:spPr>
          <a:xfrm>
            <a:off x="4617720" y="4815840"/>
            <a:ext cx="3474720" cy="381000"/>
          </a:xfrm>
          <a:prstGeom prst="rect">
            <a:avLst/>
          </a:prstGeom>
          <a:noFill/>
          <a:ln/>
        </p:spPr>
        <p:txBody>
          <a:bodyPr wrap="square" lIns="0" tIns="0" rIns="0" bIns="0" rtlCol="0" anchor="ctr"/>
          <a:lstStyle/>
          <a:p>
            <a:pPr indent="0" marL="0">
              <a:buNone/>
            </a:pPr>
            <a:r>
              <a:rPr lang="en-US" sz="1050" dirty="0">
                <a:solidFill>
                  <a:srgbClr val="1B2A41"/>
                </a:solidFill>
              </a:rPr>
              <a:t>   Wojeck 2023 · DREAM, n 650 · T90 (na 1 %); AHI bez asociace</a:t>
            </a:r>
            <a:endParaRPr lang="en-US" sz="1050" dirty="0"/>
          </a:p>
        </p:txBody>
      </p:sp>
      <p:sp>
        <p:nvSpPr>
          <p:cNvPr id="43" name="ci-7"/>
          <p:cNvSpPr/>
          <p:nvPr/>
        </p:nvSpPr>
        <p:spPr>
          <a:xfrm>
            <a:off x="8547590" y="5006340"/>
            <a:ext cx="9353" cy="0"/>
          </a:xfrm>
          <a:prstGeom prst="line">
            <a:avLst/>
          </a:prstGeom>
          <a:noFill/>
          <a:ln w="22225">
            <a:solidFill>
              <a:srgbClr val="3D5A80"/>
            </a:solidFill>
            <a:prstDash val="solid"/>
          </a:ln>
        </p:spPr>
      </p:sp>
      <p:sp>
        <p:nvSpPr>
          <p:cNvPr id="44" name="pt-7"/>
          <p:cNvSpPr/>
          <p:nvPr/>
        </p:nvSpPr>
        <p:spPr>
          <a:xfrm>
            <a:off x="8488278" y="4942332"/>
            <a:ext cx="128016" cy="128016"/>
          </a:xfrm>
          <a:prstGeom prst="rect">
            <a:avLst/>
          </a:prstGeom>
          <a:solidFill>
            <a:srgbClr val="3D5A80"/>
          </a:solidFill>
          <a:ln w="12700">
            <a:solidFill>
              <a:srgbClr val="3D5A80"/>
            </a:solidFill>
            <a:prstDash val="solid"/>
          </a:ln>
        </p:spPr>
      </p:sp>
      <p:sp>
        <p:nvSpPr>
          <p:cNvPr id="45" name="fv-7"/>
          <p:cNvSpPr txBox="1"/>
          <p:nvPr/>
        </p:nvSpPr>
        <p:spPr>
          <a:xfrm>
            <a:off x="10149840" y="4815840"/>
            <a:ext cx="1737360" cy="381000"/>
          </a:xfrm>
          <a:prstGeom prst="rect">
            <a:avLst/>
          </a:prstGeom>
          <a:noFill/>
          <a:ln/>
        </p:spPr>
        <p:txBody>
          <a:bodyPr wrap="square" lIns="0" tIns="0" rIns="0" bIns="0" rtlCol="0" anchor="ctr"/>
          <a:lstStyle/>
          <a:p>
            <a:pPr indent="0" marL="0">
              <a:buNone/>
            </a:pPr>
            <a:r>
              <a:rPr lang="en-US" sz="1000" dirty="0">
                <a:solidFill>
                  <a:srgbClr val="1B2A41"/>
                </a:solidFill>
              </a:rPr>
              <a:t>HR 1,009 (1,001–1,017)</a:t>
            </a:r>
            <a:endParaRPr lang="en-US" sz="1000" dirty="0"/>
          </a:p>
        </p:txBody>
      </p:sp>
      <p:sp>
        <p:nvSpPr>
          <p:cNvPr id="46" name="zebra-8"/>
          <p:cNvSpPr/>
          <p:nvPr/>
        </p:nvSpPr>
        <p:spPr>
          <a:xfrm>
            <a:off x="4572000" y="5196840"/>
            <a:ext cx="7178040" cy="381000"/>
          </a:xfrm>
          <a:prstGeom prst="rect">
            <a:avLst/>
          </a:prstGeom>
          <a:solidFill>
            <a:srgbClr val="EEF2F7"/>
          </a:solidFill>
          <a:ln w="12700">
            <a:solidFill>
              <a:srgbClr val="EEF2F7"/>
            </a:solidFill>
            <a:prstDash val="solid"/>
          </a:ln>
        </p:spPr>
      </p:sp>
      <p:sp>
        <p:nvSpPr>
          <p:cNvPr id="47" name="fl-8"/>
          <p:cNvSpPr txBox="1"/>
          <p:nvPr/>
        </p:nvSpPr>
        <p:spPr>
          <a:xfrm>
            <a:off x="4617720" y="5196840"/>
            <a:ext cx="3474720" cy="381000"/>
          </a:xfrm>
          <a:prstGeom prst="rect">
            <a:avLst/>
          </a:prstGeom>
          <a:noFill/>
          <a:ln/>
        </p:spPr>
        <p:txBody>
          <a:bodyPr wrap="square" lIns="0" tIns="0" rIns="0" bIns="0" rtlCol="0" anchor="ctr"/>
          <a:lstStyle/>
          <a:p>
            <a:pPr indent="0" marL="0">
              <a:buNone/>
            </a:pPr>
            <a:r>
              <a:rPr lang="en-US" sz="1050" dirty="0">
                <a:solidFill>
                  <a:srgbClr val="1B2A41"/>
                </a:solidFill>
              </a:rPr>
              <a:t>   Wojeck 2023 · průměrná noční SpO₂ (na 1 %)</a:t>
            </a:r>
            <a:endParaRPr lang="en-US" sz="1050" dirty="0"/>
          </a:p>
        </p:txBody>
      </p:sp>
      <p:sp>
        <p:nvSpPr>
          <p:cNvPr id="48" name="ci-8"/>
          <p:cNvSpPr/>
          <p:nvPr/>
        </p:nvSpPr>
        <p:spPr>
          <a:xfrm>
            <a:off x="8455979" y="5387340"/>
            <a:ext cx="76088" cy="0"/>
          </a:xfrm>
          <a:prstGeom prst="line">
            <a:avLst/>
          </a:prstGeom>
          <a:noFill/>
          <a:ln w="22225">
            <a:solidFill>
              <a:srgbClr val="2A9D8F"/>
            </a:solidFill>
            <a:prstDash val="solid"/>
          </a:ln>
        </p:spPr>
      </p:sp>
      <p:sp>
        <p:nvSpPr>
          <p:cNvPr id="49" name="pt-8"/>
          <p:cNvSpPr/>
          <p:nvPr/>
        </p:nvSpPr>
        <p:spPr>
          <a:xfrm>
            <a:off x="8429952" y="5323332"/>
            <a:ext cx="128016" cy="128016"/>
          </a:xfrm>
          <a:prstGeom prst="rect">
            <a:avLst/>
          </a:prstGeom>
          <a:solidFill>
            <a:srgbClr val="2A9D8F"/>
          </a:solidFill>
          <a:ln w="12700">
            <a:solidFill>
              <a:srgbClr val="2A9D8F"/>
            </a:solidFill>
            <a:prstDash val="solid"/>
          </a:ln>
        </p:spPr>
      </p:sp>
      <p:sp>
        <p:nvSpPr>
          <p:cNvPr id="50" name="fv-8"/>
          <p:cNvSpPr txBox="1"/>
          <p:nvPr/>
        </p:nvSpPr>
        <p:spPr>
          <a:xfrm>
            <a:off x="10149840" y="5196840"/>
            <a:ext cx="1737360" cy="381000"/>
          </a:xfrm>
          <a:prstGeom prst="rect">
            <a:avLst/>
          </a:prstGeom>
          <a:noFill/>
          <a:ln/>
        </p:spPr>
        <p:txBody>
          <a:bodyPr wrap="square" lIns="0" tIns="0" rIns="0" bIns="0" rtlCol="0" anchor="ctr"/>
          <a:lstStyle/>
          <a:p>
            <a:pPr indent="0" marL="0">
              <a:buNone/>
            </a:pPr>
            <a:r>
              <a:rPr lang="en-US" sz="1000" dirty="0">
                <a:solidFill>
                  <a:srgbClr val="1B2A41"/>
                </a:solidFill>
              </a:rPr>
              <a:t>HR 0,914 (0,857–0,975)</a:t>
            </a:r>
            <a:endParaRPr lang="en-US" sz="1000" dirty="0"/>
          </a:p>
        </p:txBody>
      </p:sp>
      <p:sp>
        <p:nvSpPr>
          <p:cNvPr id="51" name="axis"/>
          <p:cNvSpPr/>
          <p:nvPr/>
        </p:nvSpPr>
        <p:spPr>
          <a:xfrm>
            <a:off x="8138160" y="5623560"/>
            <a:ext cx="1874520" cy="0"/>
          </a:xfrm>
          <a:prstGeom prst="line">
            <a:avLst/>
          </a:prstGeom>
          <a:noFill/>
          <a:ln w="12700">
            <a:solidFill>
              <a:srgbClr val="8D99AE"/>
            </a:solidFill>
            <a:prstDash val="solid"/>
          </a:ln>
        </p:spPr>
      </p:sp>
      <p:sp>
        <p:nvSpPr>
          <p:cNvPr id="52" name="ref"/>
          <p:cNvSpPr/>
          <p:nvPr/>
        </p:nvSpPr>
        <p:spPr>
          <a:xfrm>
            <a:off x="8547001" y="2148840"/>
            <a:ext cx="0" cy="3474720"/>
          </a:xfrm>
          <a:prstGeom prst="line">
            <a:avLst/>
          </a:prstGeom>
          <a:noFill/>
          <a:ln w="12700">
            <a:solidFill>
              <a:srgbClr val="C8553D"/>
            </a:solidFill>
            <a:prstDash val="dash"/>
          </a:ln>
        </p:spPr>
      </p:sp>
      <p:sp>
        <p:nvSpPr>
          <p:cNvPr id="53" name="tick-0.5"/>
          <p:cNvSpPr/>
          <p:nvPr/>
        </p:nvSpPr>
        <p:spPr>
          <a:xfrm>
            <a:off x="8138160" y="5623560"/>
            <a:ext cx="0" cy="54864"/>
          </a:xfrm>
          <a:prstGeom prst="line">
            <a:avLst/>
          </a:prstGeom>
          <a:noFill/>
          <a:ln w="12700">
            <a:solidFill>
              <a:srgbClr val="8D99AE"/>
            </a:solidFill>
            <a:prstDash val="solid"/>
          </a:ln>
        </p:spPr>
      </p:sp>
      <p:sp>
        <p:nvSpPr>
          <p:cNvPr id="54" name="tl-0.5"/>
          <p:cNvSpPr txBox="1"/>
          <p:nvPr/>
        </p:nvSpPr>
        <p:spPr>
          <a:xfrm>
            <a:off x="786384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0,5</a:t>
            </a:r>
            <a:endParaRPr lang="en-US" sz="900" dirty="0"/>
          </a:p>
        </p:txBody>
      </p:sp>
      <p:sp>
        <p:nvSpPr>
          <p:cNvPr id="55" name="tick-1"/>
          <p:cNvSpPr/>
          <p:nvPr/>
        </p:nvSpPr>
        <p:spPr>
          <a:xfrm>
            <a:off x="8547001" y="5623560"/>
            <a:ext cx="0" cy="54864"/>
          </a:xfrm>
          <a:prstGeom prst="line">
            <a:avLst/>
          </a:prstGeom>
          <a:noFill/>
          <a:ln w="12700">
            <a:solidFill>
              <a:srgbClr val="8D99AE"/>
            </a:solidFill>
            <a:prstDash val="solid"/>
          </a:ln>
        </p:spPr>
      </p:sp>
      <p:sp>
        <p:nvSpPr>
          <p:cNvPr id="56" name="tl-1"/>
          <p:cNvSpPr txBox="1"/>
          <p:nvPr/>
        </p:nvSpPr>
        <p:spPr>
          <a:xfrm>
            <a:off x="8272681"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a:t>
            </a:r>
            <a:endParaRPr lang="en-US" sz="900" dirty="0"/>
          </a:p>
        </p:txBody>
      </p:sp>
      <p:sp>
        <p:nvSpPr>
          <p:cNvPr id="57" name="tick-2"/>
          <p:cNvSpPr/>
          <p:nvPr/>
        </p:nvSpPr>
        <p:spPr>
          <a:xfrm>
            <a:off x="8955842" y="5623560"/>
            <a:ext cx="0" cy="54864"/>
          </a:xfrm>
          <a:prstGeom prst="line">
            <a:avLst/>
          </a:prstGeom>
          <a:noFill/>
          <a:ln w="12700">
            <a:solidFill>
              <a:srgbClr val="8D99AE"/>
            </a:solidFill>
            <a:prstDash val="solid"/>
          </a:ln>
        </p:spPr>
      </p:sp>
      <p:sp>
        <p:nvSpPr>
          <p:cNvPr id="58" name="tl-2"/>
          <p:cNvSpPr txBox="1"/>
          <p:nvPr/>
        </p:nvSpPr>
        <p:spPr>
          <a:xfrm>
            <a:off x="8681522"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2</a:t>
            </a:r>
            <a:endParaRPr lang="en-US" sz="900" dirty="0"/>
          </a:p>
        </p:txBody>
      </p:sp>
      <p:sp>
        <p:nvSpPr>
          <p:cNvPr id="59" name="tick-4"/>
          <p:cNvSpPr/>
          <p:nvPr/>
        </p:nvSpPr>
        <p:spPr>
          <a:xfrm>
            <a:off x="9364683" y="5623560"/>
            <a:ext cx="0" cy="54864"/>
          </a:xfrm>
          <a:prstGeom prst="line">
            <a:avLst/>
          </a:prstGeom>
          <a:noFill/>
          <a:ln w="12700">
            <a:solidFill>
              <a:srgbClr val="8D99AE"/>
            </a:solidFill>
            <a:prstDash val="solid"/>
          </a:ln>
        </p:spPr>
      </p:sp>
      <p:sp>
        <p:nvSpPr>
          <p:cNvPr id="60" name="tl-4"/>
          <p:cNvSpPr txBox="1"/>
          <p:nvPr/>
        </p:nvSpPr>
        <p:spPr>
          <a:xfrm>
            <a:off x="9090363"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4</a:t>
            </a:r>
            <a:endParaRPr lang="en-US" sz="900" dirty="0"/>
          </a:p>
        </p:txBody>
      </p:sp>
      <p:sp>
        <p:nvSpPr>
          <p:cNvPr id="61" name="tick-8"/>
          <p:cNvSpPr/>
          <p:nvPr/>
        </p:nvSpPr>
        <p:spPr>
          <a:xfrm>
            <a:off x="9773523" y="5623560"/>
            <a:ext cx="0" cy="54864"/>
          </a:xfrm>
          <a:prstGeom prst="line">
            <a:avLst/>
          </a:prstGeom>
          <a:noFill/>
          <a:ln w="12700">
            <a:solidFill>
              <a:srgbClr val="8D99AE"/>
            </a:solidFill>
            <a:prstDash val="solid"/>
          </a:ln>
        </p:spPr>
      </p:sp>
      <p:sp>
        <p:nvSpPr>
          <p:cNvPr id="62" name="tl-8"/>
          <p:cNvSpPr txBox="1"/>
          <p:nvPr/>
        </p:nvSpPr>
        <p:spPr>
          <a:xfrm>
            <a:off x="9499203"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8</a:t>
            </a:r>
            <a:endParaRPr lang="en-US" sz="900" dirty="0"/>
          </a:p>
        </p:txBody>
      </p:sp>
      <p:sp>
        <p:nvSpPr>
          <p:cNvPr id="63" name="xlabel"/>
          <p:cNvSpPr txBox="1"/>
          <p:nvPr/>
        </p:nvSpPr>
        <p:spPr>
          <a:xfrm>
            <a:off x="8138160" y="5824728"/>
            <a:ext cx="1874520" cy="201168"/>
          </a:xfrm>
          <a:prstGeom prst="rect">
            <a:avLst/>
          </a:prstGeom>
          <a:noFill/>
          <a:ln/>
        </p:spPr>
        <p:txBody>
          <a:bodyPr wrap="square" lIns="0" tIns="0" rIns="0" bIns="0" rtlCol="0" anchor="ctr"/>
          <a:lstStyle/>
          <a:p>
            <a:pPr algn="ctr" indent="0" marL="0">
              <a:buNone/>
            </a:pPr>
            <a:r>
              <a:rPr lang="en-US" sz="900" dirty="0">
                <a:solidFill>
                  <a:srgbClr val="8D99AE"/>
                </a:solidFill>
              </a:rPr>
              <a:t>HR / IRR (log škála)</a:t>
            </a:r>
            <a:endParaRPr lang="en-US" sz="900" dirty="0"/>
          </a:p>
        </p:txBody>
      </p:sp>
      <p:sp>
        <p:nvSpPr>
          <p:cNvPr id="64" name="box-Další kohorty: hypoxémie &gt; AHI"/>
          <p:cNvSpPr/>
          <p:nvPr/>
        </p:nvSpPr>
        <p:spPr>
          <a:xfrm>
            <a:off x="457200" y="4160520"/>
            <a:ext cx="3931920" cy="1645920"/>
          </a:xfrm>
          <a:prstGeom prst="roundRect">
            <a:avLst>
              <a:gd name="adj" fmla="val 5556"/>
            </a:avLst>
          </a:prstGeom>
          <a:solidFill>
            <a:srgbClr val="EEF2F7"/>
          </a:solidFill>
          <a:ln w="12700">
            <a:solidFill>
              <a:srgbClr val="EEF2F7"/>
            </a:solidFill>
            <a:prstDash val="solid"/>
          </a:ln>
        </p:spPr>
      </p:sp>
      <p:sp>
        <p:nvSpPr>
          <p:cNvPr id="65" name="box-title-Další kohorty: hypoxémie &amp;gt; AHI"/>
          <p:cNvSpPr txBox="1"/>
          <p:nvPr/>
        </p:nvSpPr>
        <p:spPr>
          <a:xfrm>
            <a:off x="594360" y="4251960"/>
            <a:ext cx="3657600" cy="329184"/>
          </a:xfrm>
          <a:prstGeom prst="rect">
            <a:avLst/>
          </a:prstGeom>
          <a:noFill/>
          <a:ln/>
        </p:spPr>
        <p:txBody>
          <a:bodyPr wrap="square" lIns="0" tIns="0" rIns="0" bIns="0" rtlCol="0" anchor="t"/>
          <a:lstStyle/>
          <a:p>
            <a:pPr indent="0" marL="0">
              <a:buNone/>
            </a:pPr>
            <a:r>
              <a:rPr lang="en-US" sz="1250" b="1" dirty="0">
                <a:solidFill>
                  <a:srgbClr val="1B2A41"/>
                </a:solidFill>
              </a:rPr>
              <a:t>Další kohorty: hypoxémie &gt; AHI</a:t>
            </a:r>
            <a:endParaRPr lang="en-US" sz="1250" dirty="0"/>
          </a:p>
        </p:txBody>
      </p:sp>
      <p:sp>
        <p:nvSpPr>
          <p:cNvPr id="66" name="box-body-Další kohorty: hypoxémie &gt; AHI"/>
          <p:cNvSpPr txBox="1"/>
          <p:nvPr/>
        </p:nvSpPr>
        <p:spPr>
          <a:xfrm>
            <a:off x="594360" y="4599432"/>
            <a:ext cx="3657600" cy="111556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B2A41"/>
                </a:solidFill>
              </a:rPr>
              <a:t>Toronto, n 8 678: AHI &gt; 30 ≈ +30 % hazard DM; nezávisle i T90 a REM-AHI (Kendzerska 2014; CI neuvedeno)</a:t>
            </a:r>
            <a:endParaRPr lang="en-US" sz="1000" dirty="0"/>
          </a:p>
          <a:p>
            <a:pPr marL="127000" indent="-127000">
              <a:spcAft>
                <a:spcPts val="300"/>
              </a:spcAft>
              <a:buSzPct val="100000"/>
              <a:buChar char="•"/>
            </a:pPr>
            <a:r>
              <a:rPr lang="en-US" sz="1000" dirty="0">
                <a:solidFill>
                  <a:srgbClr val="1B2A41"/>
                </a:solidFill>
              </a:rPr>
              <a:t>Uppsala, muži, 11 let: ODI &gt; 5 → DM OR 4,4 (1,1–18,1) (Lindberg 2012)</a:t>
            </a:r>
            <a:endParaRPr lang="en-US" sz="1000" dirty="0"/>
          </a:p>
          <a:p>
            <a:pPr marL="127000" indent="-127000">
              <a:spcAft>
                <a:spcPts val="300"/>
              </a:spcAft>
              <a:buSzPct val="100000"/>
              <a:buChar char="•"/>
            </a:pPr>
            <a:r>
              <a:rPr lang="en-US" sz="1000" dirty="0">
                <a:solidFill>
                  <a:srgbClr val="1B2A41"/>
                </a:solidFill>
              </a:rPr>
              <a:t>MA hypoxic burden → DM: neexistuje</a:t>
            </a:r>
            <a:endParaRPr lang="en-US" sz="1000" dirty="0"/>
          </a:p>
        </p:txBody>
      </p:sp>
      <p:sp>
        <p:nvSpPr>
          <p:cNvPr id="67"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Azarbarzin, Eur Heart J 2019 · Appleton, J Sleep Res 2025 · Wojeck, JCSM 2023 · Kendzerska, AJRCCM 2014 · Lindberg, Chest 2012 — observační; evidence pro HB → DM2 je novější a omezená</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Intervence I: CPAP a inzulinová rezistence u nediabetiků</a:t>
            </a:r>
            <a:endParaRPr lang="en-US" sz="2500" dirty="0"/>
          </a:p>
        </p:txBody>
      </p:sp>
      <p:sp>
        <p:nvSpPr>
          <p:cNvPr id="3" name="tag-RCT"/>
          <p:cNvSpPr/>
          <p:nvPr/>
        </p:nvSpPr>
        <p:spPr>
          <a:xfrm>
            <a:off x="10881360" y="384048"/>
            <a:ext cx="868680" cy="310896"/>
          </a:xfrm>
          <a:prstGeom prst="roundRect">
            <a:avLst>
              <a:gd name="adj" fmla="val 23529"/>
            </a:avLst>
          </a:prstGeom>
          <a:solidFill>
            <a:srgbClr val="2A9D8F"/>
          </a:solidFill>
          <a:ln w="12700">
            <a:solidFill>
              <a:srgbClr val="2A9D8F"/>
            </a:solidFill>
            <a:prstDash val="solid"/>
          </a:ln>
        </p:spPr>
      </p:sp>
      <p:sp>
        <p:nvSpPr>
          <p:cNvPr id="4" name="tag-text-RCT"/>
          <p:cNvSpPr txBox="1"/>
          <p:nvPr/>
        </p:nvSpPr>
        <p:spPr>
          <a:xfrm>
            <a:off x="10881360" y="384048"/>
            <a:ext cx="868680" cy="310896"/>
          </a:xfrm>
          <a:prstGeom prst="rect">
            <a:avLst/>
          </a:prstGeom>
          <a:noFill/>
          <a:ln/>
        </p:spPr>
        <p:txBody>
          <a:bodyPr wrap="square" lIns="0" tIns="0" rIns="0" bIns="0" rtlCol="0" anchor="ctr"/>
          <a:lstStyle/>
          <a:p>
            <a:pPr algn="ctr" indent="0" marL="0">
              <a:buNone/>
            </a:pPr>
            <a:r>
              <a:rPr lang="en-US" sz="1000" b="1" dirty="0">
                <a:solidFill>
                  <a:srgbClr val="FFFFFF"/>
                </a:solidFill>
              </a:rPr>
              <a:t>RCT</a:t>
            </a:r>
            <a:endParaRPr lang="en-US" sz="1000" dirty="0"/>
          </a:p>
        </p:txBody>
      </p:sp>
      <p:sp>
        <p:nvSpPr>
          <p:cNvPr id="5" name="tag-MA RCT"/>
          <p:cNvSpPr/>
          <p:nvPr/>
        </p:nvSpPr>
        <p:spPr>
          <a:xfrm>
            <a:off x="9921240" y="384048"/>
            <a:ext cx="886968" cy="310896"/>
          </a:xfrm>
          <a:prstGeom prst="roundRect">
            <a:avLst>
              <a:gd name="adj" fmla="val 23529"/>
            </a:avLst>
          </a:prstGeom>
          <a:solidFill>
            <a:srgbClr val="2A9D8F"/>
          </a:solidFill>
          <a:ln w="12700">
            <a:solidFill>
              <a:srgbClr val="2A9D8F"/>
            </a:solidFill>
            <a:prstDash val="solid"/>
          </a:ln>
        </p:spPr>
      </p:sp>
      <p:sp>
        <p:nvSpPr>
          <p:cNvPr id="6" name="tag-text-MA RCT"/>
          <p:cNvSpPr txBox="1"/>
          <p:nvPr/>
        </p:nvSpPr>
        <p:spPr>
          <a:xfrm>
            <a:off x="9921240"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MA RCT</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Metaanalýzy RCT ukazují malý pokles HOMA-IR (−0,4 až −0,55) bez změny glykémie; IPD MA sham-RCT a RCT s FSIVGTT efekt nenašly ani u adherentních.</a:t>
            </a:r>
            <a:endParaRPr lang="en-US" sz="1500" dirty="0"/>
          </a:p>
        </p:txBody>
      </p:sp>
      <p:sp>
        <p:nvSpPr>
          <p:cNvPr id="8" name="fh1"/>
          <p:cNvSpPr txBox="1"/>
          <p:nvPr/>
        </p:nvSpPr>
        <p:spPr>
          <a:xfrm>
            <a:off x="457200" y="1856232"/>
            <a:ext cx="3566160" cy="274320"/>
          </a:xfrm>
          <a:prstGeom prst="rect">
            <a:avLst/>
          </a:prstGeom>
          <a:noFill/>
          <a:ln/>
        </p:spPr>
        <p:txBody>
          <a:bodyPr wrap="square" lIns="0" tIns="0" rIns="0" bIns="0" rtlCol="0" anchor="ctr"/>
          <a:lstStyle/>
          <a:p>
            <a:pPr indent="0" marL="0">
              <a:buNone/>
            </a:pPr>
            <a:r>
              <a:rPr lang="en-US" sz="1000" b="1" dirty="0">
                <a:solidFill>
                  <a:srgbClr val="8D99AE"/>
                </a:solidFill>
              </a:rPr>
              <a:t>Metaanalýza RCT · nediabetici</a:t>
            </a:r>
            <a:endParaRPr lang="en-US" sz="1000" dirty="0"/>
          </a:p>
        </p:txBody>
      </p:sp>
      <p:sp>
        <p:nvSpPr>
          <p:cNvPr id="9" name="fh2"/>
          <p:cNvSpPr txBox="1"/>
          <p:nvPr/>
        </p:nvSpPr>
        <p:spPr>
          <a:xfrm>
            <a:off x="6263640" y="1856232"/>
            <a:ext cx="2011680" cy="274320"/>
          </a:xfrm>
          <a:prstGeom prst="rect">
            <a:avLst/>
          </a:prstGeom>
          <a:noFill/>
          <a:ln/>
        </p:spPr>
        <p:txBody>
          <a:bodyPr wrap="square" lIns="0" tIns="0" rIns="0" bIns="0" rtlCol="0" anchor="ctr"/>
          <a:lstStyle/>
          <a:p>
            <a:pPr indent="0" marL="0">
              <a:buNone/>
            </a:pPr>
            <a:r>
              <a:rPr lang="en-US" sz="1000" b="1" dirty="0">
                <a:solidFill>
                  <a:srgbClr val="8D99AE"/>
                </a:solidFill>
              </a:rPr>
              <a:t>MD (95 % CI); I²</a:t>
            </a:r>
            <a:endParaRPr lang="en-US" sz="1000" dirty="0"/>
          </a:p>
        </p:txBody>
      </p:sp>
      <p:sp>
        <p:nvSpPr>
          <p:cNvPr id="10" name="zebra-0"/>
          <p:cNvSpPr/>
          <p:nvPr/>
        </p:nvSpPr>
        <p:spPr>
          <a:xfrm>
            <a:off x="457200" y="2148840"/>
            <a:ext cx="7680960" cy="605790"/>
          </a:xfrm>
          <a:prstGeom prst="rect">
            <a:avLst/>
          </a:prstGeom>
          <a:solidFill>
            <a:srgbClr val="EEF2F7"/>
          </a:solidFill>
          <a:ln w="12700">
            <a:solidFill>
              <a:srgbClr val="EEF2F7"/>
            </a:solidFill>
            <a:prstDash val="solid"/>
          </a:ln>
        </p:spPr>
      </p:sp>
      <p:sp>
        <p:nvSpPr>
          <p:cNvPr id="11" name="fl-0"/>
          <p:cNvSpPr txBox="1"/>
          <p:nvPr/>
        </p:nvSpPr>
        <p:spPr>
          <a:xfrm>
            <a:off x="502920" y="2148840"/>
            <a:ext cx="3474720" cy="605790"/>
          </a:xfrm>
          <a:prstGeom prst="rect">
            <a:avLst/>
          </a:prstGeom>
          <a:noFill/>
          <a:ln/>
        </p:spPr>
        <p:txBody>
          <a:bodyPr wrap="square" lIns="0" tIns="0" rIns="0" bIns="0" rtlCol="0" anchor="ctr"/>
          <a:lstStyle/>
          <a:p>
            <a:pPr indent="0" marL="0">
              <a:buNone/>
            </a:pPr>
            <a:r>
              <a:rPr lang="en-US" sz="1050" dirty="0">
                <a:solidFill>
                  <a:srgbClr val="1B2A41"/>
                </a:solidFill>
              </a:rPr>
              <a:t>Iftikhar 2013 · 5 RCT, n 244</a:t>
            </a:r>
            <a:endParaRPr lang="en-US" sz="1050" dirty="0"/>
          </a:p>
        </p:txBody>
      </p:sp>
      <p:sp>
        <p:nvSpPr>
          <p:cNvPr id="12" name="ci-0"/>
          <p:cNvSpPr/>
          <p:nvPr/>
        </p:nvSpPr>
        <p:spPr>
          <a:xfrm>
            <a:off x="4522851" y="2451735"/>
            <a:ext cx="998982" cy="0"/>
          </a:xfrm>
          <a:prstGeom prst="line">
            <a:avLst/>
          </a:prstGeom>
          <a:noFill/>
          <a:ln w="22225">
            <a:solidFill>
              <a:srgbClr val="2A9D8F"/>
            </a:solidFill>
            <a:prstDash val="solid"/>
          </a:ln>
        </p:spPr>
      </p:sp>
      <p:sp>
        <p:nvSpPr>
          <p:cNvPr id="13" name="pt-0"/>
          <p:cNvSpPr/>
          <p:nvPr/>
        </p:nvSpPr>
        <p:spPr>
          <a:xfrm>
            <a:off x="4958334" y="2387727"/>
            <a:ext cx="128016" cy="128016"/>
          </a:xfrm>
          <a:prstGeom prst="rect">
            <a:avLst/>
          </a:prstGeom>
          <a:solidFill>
            <a:srgbClr val="2A9D8F"/>
          </a:solidFill>
          <a:ln w="12700">
            <a:solidFill>
              <a:srgbClr val="2A9D8F"/>
            </a:solidFill>
            <a:prstDash val="solid"/>
          </a:ln>
        </p:spPr>
      </p:sp>
      <p:sp>
        <p:nvSpPr>
          <p:cNvPr id="14" name="fv-0"/>
          <p:cNvSpPr txBox="1"/>
          <p:nvPr/>
        </p:nvSpPr>
        <p:spPr>
          <a:xfrm>
            <a:off x="6263640" y="2148840"/>
            <a:ext cx="2011680" cy="605790"/>
          </a:xfrm>
          <a:prstGeom prst="rect">
            <a:avLst/>
          </a:prstGeom>
          <a:noFill/>
          <a:ln/>
        </p:spPr>
        <p:txBody>
          <a:bodyPr wrap="square" lIns="0" tIns="0" rIns="0" bIns="0" rtlCol="0" anchor="ctr"/>
          <a:lstStyle/>
          <a:p>
            <a:pPr indent="0" marL="0">
              <a:buNone/>
            </a:pPr>
            <a:r>
              <a:rPr lang="en-US" sz="1000" dirty="0">
                <a:solidFill>
                  <a:srgbClr val="1B2A41"/>
                </a:solidFill>
              </a:rPr>
              <a:t>−0,44 (−0,82 až −0,06); I² 0 %</a:t>
            </a:r>
            <a:endParaRPr lang="en-US" sz="1000" dirty="0"/>
          </a:p>
        </p:txBody>
      </p:sp>
      <p:sp>
        <p:nvSpPr>
          <p:cNvPr id="15" name="fl-1"/>
          <p:cNvSpPr txBox="1"/>
          <p:nvPr/>
        </p:nvSpPr>
        <p:spPr>
          <a:xfrm>
            <a:off x="502920" y="2754630"/>
            <a:ext cx="3474720" cy="605790"/>
          </a:xfrm>
          <a:prstGeom prst="rect">
            <a:avLst/>
          </a:prstGeom>
          <a:noFill/>
          <a:ln/>
        </p:spPr>
        <p:txBody>
          <a:bodyPr wrap="square" lIns="0" tIns="0" rIns="0" bIns="0" rtlCol="0" anchor="ctr"/>
          <a:lstStyle/>
          <a:p>
            <a:pPr indent="0" marL="0">
              <a:buNone/>
            </a:pPr>
            <a:r>
              <a:rPr lang="en-US" sz="1050" dirty="0">
                <a:solidFill>
                  <a:srgbClr val="1B2A41"/>
                </a:solidFill>
              </a:rPr>
              <a:t>Iftikhar 2015 · aktualizace (n NEOVĚŘENO)</a:t>
            </a:r>
            <a:endParaRPr lang="en-US" sz="1050" dirty="0"/>
          </a:p>
        </p:txBody>
      </p:sp>
      <p:sp>
        <p:nvSpPr>
          <p:cNvPr id="16" name="ci-1"/>
          <p:cNvSpPr/>
          <p:nvPr/>
        </p:nvSpPr>
        <p:spPr>
          <a:xfrm>
            <a:off x="4614863" y="3057525"/>
            <a:ext cx="841248" cy="0"/>
          </a:xfrm>
          <a:prstGeom prst="line">
            <a:avLst/>
          </a:prstGeom>
          <a:noFill/>
          <a:ln w="22225">
            <a:solidFill>
              <a:srgbClr val="2A9D8F"/>
            </a:solidFill>
            <a:prstDash val="solid"/>
          </a:ln>
        </p:spPr>
      </p:sp>
      <p:sp>
        <p:nvSpPr>
          <p:cNvPr id="17" name="pt-1"/>
          <p:cNvSpPr/>
          <p:nvPr/>
        </p:nvSpPr>
        <p:spPr>
          <a:xfrm>
            <a:off x="4971479" y="2993517"/>
            <a:ext cx="128016" cy="128016"/>
          </a:xfrm>
          <a:prstGeom prst="rect">
            <a:avLst/>
          </a:prstGeom>
          <a:solidFill>
            <a:srgbClr val="2A9D8F"/>
          </a:solidFill>
          <a:ln w="12700">
            <a:solidFill>
              <a:srgbClr val="2A9D8F"/>
            </a:solidFill>
            <a:prstDash val="solid"/>
          </a:ln>
        </p:spPr>
      </p:sp>
      <p:sp>
        <p:nvSpPr>
          <p:cNvPr id="18" name="fv-1"/>
          <p:cNvSpPr txBox="1"/>
          <p:nvPr/>
        </p:nvSpPr>
        <p:spPr>
          <a:xfrm>
            <a:off x="6263640" y="2754630"/>
            <a:ext cx="2011680" cy="605790"/>
          </a:xfrm>
          <a:prstGeom prst="rect">
            <a:avLst/>
          </a:prstGeom>
          <a:noFill/>
          <a:ln/>
        </p:spPr>
        <p:txBody>
          <a:bodyPr wrap="square" lIns="0" tIns="0" rIns="0" bIns="0" rtlCol="0" anchor="ctr"/>
          <a:lstStyle/>
          <a:p>
            <a:pPr indent="0" marL="0">
              <a:buNone/>
            </a:pPr>
            <a:r>
              <a:rPr lang="en-US" sz="1000" dirty="0">
                <a:solidFill>
                  <a:srgbClr val="1B2A41"/>
                </a:solidFill>
              </a:rPr>
              <a:t>−0,43 (−0,75 až −0,11)</a:t>
            </a:r>
            <a:endParaRPr lang="en-US" sz="1000" dirty="0"/>
          </a:p>
        </p:txBody>
      </p:sp>
      <p:sp>
        <p:nvSpPr>
          <p:cNvPr id="19" name="zebra-2"/>
          <p:cNvSpPr/>
          <p:nvPr/>
        </p:nvSpPr>
        <p:spPr>
          <a:xfrm>
            <a:off x="457200" y="3360420"/>
            <a:ext cx="7680960" cy="605790"/>
          </a:xfrm>
          <a:prstGeom prst="rect">
            <a:avLst/>
          </a:prstGeom>
          <a:solidFill>
            <a:srgbClr val="EEF2F7"/>
          </a:solidFill>
          <a:ln w="12700">
            <a:solidFill>
              <a:srgbClr val="EEF2F7"/>
            </a:solidFill>
            <a:prstDash val="solid"/>
          </a:ln>
        </p:spPr>
      </p:sp>
      <p:sp>
        <p:nvSpPr>
          <p:cNvPr id="20" name="fl-2"/>
          <p:cNvSpPr txBox="1"/>
          <p:nvPr/>
        </p:nvSpPr>
        <p:spPr>
          <a:xfrm>
            <a:off x="502920" y="3360420"/>
            <a:ext cx="3474720" cy="605790"/>
          </a:xfrm>
          <a:prstGeom prst="rect">
            <a:avLst/>
          </a:prstGeom>
          <a:noFill/>
          <a:ln/>
        </p:spPr>
        <p:txBody>
          <a:bodyPr wrap="square" lIns="0" tIns="0" rIns="0" bIns="0" rtlCol="0" anchor="ctr"/>
          <a:lstStyle/>
          <a:p>
            <a:pPr indent="0" marL="0">
              <a:buNone/>
            </a:pPr>
            <a:r>
              <a:rPr lang="en-US" sz="1050" dirty="0">
                <a:solidFill>
                  <a:srgbClr val="1B2A41"/>
                </a:solidFill>
              </a:rPr>
              <a:t>Yang 2013 · 12 studií, 3–24 týdnů</a:t>
            </a:r>
            <a:endParaRPr lang="en-US" sz="1050" dirty="0"/>
          </a:p>
        </p:txBody>
      </p:sp>
      <p:sp>
        <p:nvSpPr>
          <p:cNvPr id="21" name="ci-2"/>
          <p:cNvSpPr/>
          <p:nvPr/>
        </p:nvSpPr>
        <p:spPr>
          <a:xfrm>
            <a:off x="4404551" y="3663315"/>
            <a:ext cx="933259" cy="0"/>
          </a:xfrm>
          <a:prstGeom prst="line">
            <a:avLst/>
          </a:prstGeom>
          <a:noFill/>
          <a:ln w="22225">
            <a:solidFill>
              <a:srgbClr val="2A9D8F"/>
            </a:solidFill>
            <a:prstDash val="solid"/>
          </a:ln>
        </p:spPr>
      </p:sp>
      <p:sp>
        <p:nvSpPr>
          <p:cNvPr id="22" name="pt-2"/>
          <p:cNvSpPr/>
          <p:nvPr/>
        </p:nvSpPr>
        <p:spPr>
          <a:xfrm>
            <a:off x="4813745" y="3599307"/>
            <a:ext cx="128016" cy="128016"/>
          </a:xfrm>
          <a:prstGeom prst="rect">
            <a:avLst/>
          </a:prstGeom>
          <a:solidFill>
            <a:srgbClr val="2A9D8F"/>
          </a:solidFill>
          <a:ln w="12700">
            <a:solidFill>
              <a:srgbClr val="2A9D8F"/>
            </a:solidFill>
            <a:prstDash val="solid"/>
          </a:ln>
        </p:spPr>
      </p:sp>
      <p:sp>
        <p:nvSpPr>
          <p:cNvPr id="23" name="fv-2"/>
          <p:cNvSpPr txBox="1"/>
          <p:nvPr/>
        </p:nvSpPr>
        <p:spPr>
          <a:xfrm>
            <a:off x="6263640" y="3360420"/>
            <a:ext cx="2011680" cy="605790"/>
          </a:xfrm>
          <a:prstGeom prst="rect">
            <a:avLst/>
          </a:prstGeom>
          <a:noFill/>
          <a:ln/>
        </p:spPr>
        <p:txBody>
          <a:bodyPr wrap="square" lIns="0" tIns="0" rIns="0" bIns="0" rtlCol="0" anchor="ctr"/>
          <a:lstStyle/>
          <a:p>
            <a:pPr indent="0" marL="0">
              <a:buNone/>
            </a:pPr>
            <a:r>
              <a:rPr lang="en-US" sz="1000" dirty="0">
                <a:solidFill>
                  <a:srgbClr val="1B2A41"/>
                </a:solidFill>
              </a:rPr>
              <a:t>−0,55 (−0,91 až −0,20)</a:t>
            </a:r>
            <a:endParaRPr lang="en-US" sz="1000" dirty="0"/>
          </a:p>
        </p:txBody>
      </p:sp>
      <p:sp>
        <p:nvSpPr>
          <p:cNvPr id="24" name="fl-3"/>
          <p:cNvSpPr txBox="1"/>
          <p:nvPr/>
        </p:nvSpPr>
        <p:spPr>
          <a:xfrm>
            <a:off x="502920" y="3966210"/>
            <a:ext cx="3474720" cy="605790"/>
          </a:xfrm>
          <a:prstGeom prst="rect">
            <a:avLst/>
          </a:prstGeom>
          <a:noFill/>
          <a:ln/>
        </p:spPr>
        <p:txBody>
          <a:bodyPr wrap="square" lIns="0" tIns="0" rIns="0" bIns="0" rtlCol="0" anchor="ctr"/>
          <a:lstStyle/>
          <a:p>
            <a:pPr indent="0" marL="0">
              <a:buNone/>
            </a:pPr>
            <a:r>
              <a:rPr lang="en-US" sz="1050" dirty="0">
                <a:solidFill>
                  <a:srgbClr val="1B2A41"/>
                </a:solidFill>
              </a:rPr>
              <a:t>Abud 2019 · 9 RCT, n 443, GRADE low</a:t>
            </a:r>
            <a:endParaRPr lang="en-US" sz="1050" dirty="0"/>
          </a:p>
        </p:txBody>
      </p:sp>
      <p:sp>
        <p:nvSpPr>
          <p:cNvPr id="25" name="ci-3"/>
          <p:cNvSpPr/>
          <p:nvPr/>
        </p:nvSpPr>
        <p:spPr>
          <a:xfrm>
            <a:off x="4693730" y="4269105"/>
            <a:ext cx="801814" cy="0"/>
          </a:xfrm>
          <a:prstGeom prst="line">
            <a:avLst/>
          </a:prstGeom>
          <a:noFill/>
          <a:ln w="22225">
            <a:solidFill>
              <a:srgbClr val="2A9D8F"/>
            </a:solidFill>
            <a:prstDash val="solid"/>
          </a:ln>
        </p:spPr>
      </p:sp>
      <p:sp>
        <p:nvSpPr>
          <p:cNvPr id="26" name="pt-3"/>
          <p:cNvSpPr/>
          <p:nvPr/>
        </p:nvSpPr>
        <p:spPr>
          <a:xfrm>
            <a:off x="5024057" y="4205097"/>
            <a:ext cx="128016" cy="128016"/>
          </a:xfrm>
          <a:prstGeom prst="rect">
            <a:avLst/>
          </a:prstGeom>
          <a:solidFill>
            <a:srgbClr val="2A9D8F"/>
          </a:solidFill>
          <a:ln w="12700">
            <a:solidFill>
              <a:srgbClr val="2A9D8F"/>
            </a:solidFill>
            <a:prstDash val="solid"/>
          </a:ln>
        </p:spPr>
      </p:sp>
      <p:sp>
        <p:nvSpPr>
          <p:cNvPr id="27" name="fv-3"/>
          <p:cNvSpPr txBox="1"/>
          <p:nvPr/>
        </p:nvSpPr>
        <p:spPr>
          <a:xfrm>
            <a:off x="6263640" y="3966210"/>
            <a:ext cx="2011680" cy="605790"/>
          </a:xfrm>
          <a:prstGeom prst="rect">
            <a:avLst/>
          </a:prstGeom>
          <a:noFill/>
          <a:ln/>
        </p:spPr>
        <p:txBody>
          <a:bodyPr wrap="square" lIns="0" tIns="0" rIns="0" bIns="0" rtlCol="0" anchor="ctr"/>
          <a:lstStyle/>
          <a:p>
            <a:pPr indent="0" marL="0">
              <a:buNone/>
            </a:pPr>
            <a:r>
              <a:rPr lang="en-US" sz="1000" dirty="0">
                <a:solidFill>
                  <a:srgbClr val="1B2A41"/>
                </a:solidFill>
              </a:rPr>
              <a:t>−0,39 (−0,69 až −0,08); I² 57 %</a:t>
            </a:r>
            <a:endParaRPr lang="en-US" sz="1000" dirty="0"/>
          </a:p>
        </p:txBody>
      </p:sp>
      <p:sp>
        <p:nvSpPr>
          <p:cNvPr id="28" name="axis"/>
          <p:cNvSpPr/>
          <p:nvPr/>
        </p:nvSpPr>
        <p:spPr>
          <a:xfrm>
            <a:off x="4023360" y="4617720"/>
            <a:ext cx="2103120" cy="0"/>
          </a:xfrm>
          <a:prstGeom prst="line">
            <a:avLst/>
          </a:prstGeom>
          <a:noFill/>
          <a:ln w="12700">
            <a:solidFill>
              <a:srgbClr val="8D99AE"/>
            </a:solidFill>
            <a:prstDash val="solid"/>
          </a:ln>
        </p:spPr>
      </p:sp>
      <p:sp>
        <p:nvSpPr>
          <p:cNvPr id="29" name="ref"/>
          <p:cNvSpPr/>
          <p:nvPr/>
        </p:nvSpPr>
        <p:spPr>
          <a:xfrm>
            <a:off x="5600700" y="2148840"/>
            <a:ext cx="0" cy="2468880"/>
          </a:xfrm>
          <a:prstGeom prst="line">
            <a:avLst/>
          </a:prstGeom>
          <a:noFill/>
          <a:ln w="12700">
            <a:solidFill>
              <a:srgbClr val="C8553D"/>
            </a:solidFill>
            <a:prstDash val="dash"/>
          </a:ln>
        </p:spPr>
      </p:sp>
      <p:sp>
        <p:nvSpPr>
          <p:cNvPr id="30" name="tick--1"/>
          <p:cNvSpPr/>
          <p:nvPr/>
        </p:nvSpPr>
        <p:spPr>
          <a:xfrm>
            <a:off x="4286250" y="4617720"/>
            <a:ext cx="0" cy="54864"/>
          </a:xfrm>
          <a:prstGeom prst="line">
            <a:avLst/>
          </a:prstGeom>
          <a:noFill/>
          <a:ln w="12700">
            <a:solidFill>
              <a:srgbClr val="8D99AE"/>
            </a:solidFill>
            <a:prstDash val="solid"/>
          </a:ln>
        </p:spPr>
      </p:sp>
      <p:sp>
        <p:nvSpPr>
          <p:cNvPr id="31" name="tl--1"/>
          <p:cNvSpPr txBox="1"/>
          <p:nvPr/>
        </p:nvSpPr>
        <p:spPr>
          <a:xfrm>
            <a:off x="4011930" y="4663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a:t>
            </a:r>
            <a:endParaRPr lang="en-US" sz="900" dirty="0"/>
          </a:p>
        </p:txBody>
      </p:sp>
      <p:sp>
        <p:nvSpPr>
          <p:cNvPr id="32" name="tick--0.5"/>
          <p:cNvSpPr/>
          <p:nvPr/>
        </p:nvSpPr>
        <p:spPr>
          <a:xfrm>
            <a:off x="4943475" y="4617720"/>
            <a:ext cx="0" cy="54864"/>
          </a:xfrm>
          <a:prstGeom prst="line">
            <a:avLst/>
          </a:prstGeom>
          <a:noFill/>
          <a:ln w="12700">
            <a:solidFill>
              <a:srgbClr val="8D99AE"/>
            </a:solidFill>
            <a:prstDash val="solid"/>
          </a:ln>
        </p:spPr>
      </p:sp>
      <p:sp>
        <p:nvSpPr>
          <p:cNvPr id="33" name="tl--0.5"/>
          <p:cNvSpPr txBox="1"/>
          <p:nvPr/>
        </p:nvSpPr>
        <p:spPr>
          <a:xfrm>
            <a:off x="4669155" y="4663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-0,5</a:t>
            </a:r>
            <a:endParaRPr lang="en-US" sz="900" dirty="0"/>
          </a:p>
        </p:txBody>
      </p:sp>
      <p:sp>
        <p:nvSpPr>
          <p:cNvPr id="34" name="tick-0"/>
          <p:cNvSpPr/>
          <p:nvPr/>
        </p:nvSpPr>
        <p:spPr>
          <a:xfrm>
            <a:off x="5600700" y="4617720"/>
            <a:ext cx="0" cy="54864"/>
          </a:xfrm>
          <a:prstGeom prst="line">
            <a:avLst/>
          </a:prstGeom>
          <a:noFill/>
          <a:ln w="12700">
            <a:solidFill>
              <a:srgbClr val="8D99AE"/>
            </a:solidFill>
            <a:prstDash val="solid"/>
          </a:ln>
        </p:spPr>
      </p:sp>
      <p:sp>
        <p:nvSpPr>
          <p:cNvPr id="35" name="tl-0"/>
          <p:cNvSpPr txBox="1"/>
          <p:nvPr/>
        </p:nvSpPr>
        <p:spPr>
          <a:xfrm>
            <a:off x="5326380" y="4663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a:t>
            </a:r>
            <a:endParaRPr lang="en-US" sz="900" dirty="0"/>
          </a:p>
        </p:txBody>
      </p:sp>
      <p:sp>
        <p:nvSpPr>
          <p:cNvPr id="36" name="xlabel"/>
          <p:cNvSpPr txBox="1"/>
          <p:nvPr/>
        </p:nvSpPr>
        <p:spPr>
          <a:xfrm>
            <a:off x="4023360" y="4818888"/>
            <a:ext cx="2103120" cy="201168"/>
          </a:xfrm>
          <a:prstGeom prst="rect">
            <a:avLst/>
          </a:prstGeom>
          <a:noFill/>
          <a:ln/>
        </p:spPr>
        <p:txBody>
          <a:bodyPr wrap="square" lIns="0" tIns="0" rIns="0" bIns="0" rtlCol="0" anchor="ctr"/>
          <a:lstStyle/>
          <a:p>
            <a:pPr algn="ctr" indent="0" marL="0">
              <a:buNone/>
            </a:pPr>
            <a:r>
              <a:rPr lang="en-US" sz="900" dirty="0">
                <a:solidFill>
                  <a:srgbClr val="8D99AE"/>
                </a:solidFill>
              </a:rPr>
              <a:t>Rozdíl HOMA-IR, CPAP vs. sham/kontrola (MD)</a:t>
            </a:r>
            <a:endParaRPr lang="en-US" sz="900" dirty="0"/>
          </a:p>
        </p:txBody>
      </p:sp>
      <p:sp>
        <p:nvSpPr>
          <p:cNvPr id="37" name="fbg"/>
          <p:cNvSpPr txBox="1"/>
          <p:nvPr/>
        </p:nvSpPr>
        <p:spPr>
          <a:xfrm>
            <a:off x="457200" y="4892040"/>
            <a:ext cx="7680960" cy="457200"/>
          </a:xfrm>
          <a:prstGeom prst="rect">
            <a:avLst/>
          </a:prstGeom>
          <a:noFill/>
          <a:ln/>
        </p:spPr>
        <p:txBody>
          <a:bodyPr wrap="square" lIns="0" tIns="0" rIns="0" bIns="0" rtlCol="0" anchor="ctr"/>
          <a:lstStyle/>
          <a:p>
            <a:pPr indent="0" marL="0">
              <a:buNone/>
            </a:pPr>
            <a:r>
              <a:rPr lang="en-US" sz="1050" dirty="0">
                <a:solidFill>
                  <a:srgbClr val="3D5A80"/>
                </a:solidFill>
              </a:rPr>
              <a:t>Glykémie nalačno: bez změny ve všech MA (Iftikhar 2013; Yang 2013; Abud 2019). Viscerální tuk a adiponektin beze změny (Iftikhar 2015).</a:t>
            </a:r>
            <a:endParaRPr lang="en-US" sz="1050" dirty="0"/>
          </a:p>
        </p:txBody>
      </p:sp>
      <p:sp>
        <p:nvSpPr>
          <p:cNvPr id="38" name="box-Proti: IPD MA sham-RCT (Hoyos 2019)"/>
          <p:cNvSpPr/>
          <p:nvPr/>
        </p:nvSpPr>
        <p:spPr>
          <a:xfrm>
            <a:off x="8366760" y="1874520"/>
            <a:ext cx="3383280" cy="1920240"/>
          </a:xfrm>
          <a:prstGeom prst="roundRect">
            <a:avLst>
              <a:gd name="adj" fmla="val 4762"/>
            </a:avLst>
          </a:prstGeom>
          <a:solidFill>
            <a:srgbClr val="FBEDE9"/>
          </a:solidFill>
          <a:ln w="12700">
            <a:solidFill>
              <a:srgbClr val="FBEDE9"/>
            </a:solidFill>
            <a:prstDash val="solid"/>
          </a:ln>
        </p:spPr>
      </p:sp>
      <p:sp>
        <p:nvSpPr>
          <p:cNvPr id="39" name="box-title-Proti: IPD MA sham-RCT (Hoyos 2019)"/>
          <p:cNvSpPr txBox="1"/>
          <p:nvPr/>
        </p:nvSpPr>
        <p:spPr>
          <a:xfrm>
            <a:off x="8503920" y="1965960"/>
            <a:ext cx="3108960" cy="329184"/>
          </a:xfrm>
          <a:prstGeom prst="rect">
            <a:avLst/>
          </a:prstGeom>
          <a:noFill/>
          <a:ln/>
        </p:spPr>
        <p:txBody>
          <a:bodyPr wrap="square" lIns="0" tIns="0" rIns="0" bIns="0" rtlCol="0" anchor="t"/>
          <a:lstStyle/>
          <a:p>
            <a:pPr indent="0" marL="0">
              <a:buNone/>
            </a:pPr>
            <a:r>
              <a:rPr lang="en-US" sz="1250" b="1" dirty="0">
                <a:solidFill>
                  <a:srgbClr val="C8553D"/>
                </a:solidFill>
              </a:rPr>
              <a:t>Proti: IPD MA sham-RCT (Hoyos 2019)</a:t>
            </a:r>
            <a:endParaRPr lang="en-US" sz="1250" dirty="0"/>
          </a:p>
        </p:txBody>
      </p:sp>
      <p:sp>
        <p:nvSpPr>
          <p:cNvPr id="40" name="box-body-Proti: IPD MA sham-RCT (Hoyos 2019)"/>
          <p:cNvSpPr txBox="1"/>
          <p:nvPr/>
        </p:nvSpPr>
        <p:spPr>
          <a:xfrm>
            <a:off x="8503920" y="2313432"/>
            <a:ext cx="3108960" cy="138988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B2A41"/>
                </a:solidFill>
              </a:rPr>
              <a:t>3 sham-kontrolované RCT, n 128, 2–3 měsíce</a:t>
            </a:r>
            <a:endParaRPr lang="en-US" sz="1000" dirty="0"/>
          </a:p>
          <a:p>
            <a:pPr marL="127000" indent="-127000">
              <a:spcAft>
                <a:spcPts val="300"/>
              </a:spcAft>
              <a:buSzPct val="100000"/>
              <a:buChar char="•"/>
            </a:pPr>
            <a:r>
              <a:rPr lang="en-US" sz="1000" dirty="0">
                <a:solidFill>
                  <a:srgbClr val="1B2A41"/>
                </a:solidFill>
              </a:rPr>
              <a:t>Ani CPAP, ani dávka CPAP nezměnily žádný metabolický parametr</a:t>
            </a:r>
            <a:endParaRPr lang="en-US" sz="1000" dirty="0"/>
          </a:p>
          <a:p>
            <a:pPr marL="127000" indent="-127000">
              <a:spcAft>
                <a:spcPts val="300"/>
              </a:spcAft>
              <a:buSzPct val="100000"/>
              <a:buChar char="•"/>
            </a:pPr>
            <a:r>
              <a:rPr lang="en-US" sz="1000" dirty="0">
                <a:solidFill>
                  <a:srgbClr val="1B2A41"/>
                </a:solidFill>
              </a:rPr>
              <a:t>Hmotnost +1,17 kg (0,37–1,97); +0,30 kg na každou hodinu/noc</a:t>
            </a:r>
            <a:endParaRPr lang="en-US" sz="1000" dirty="0"/>
          </a:p>
        </p:txBody>
      </p:sp>
      <p:sp>
        <p:nvSpPr>
          <p:cNvPr id="41" name="box-Proti: RCT s FSIVGTT (Chirinos 2014)"/>
          <p:cNvSpPr/>
          <p:nvPr/>
        </p:nvSpPr>
        <p:spPr>
          <a:xfrm>
            <a:off x="8366760" y="3931920"/>
            <a:ext cx="3383280" cy="1874520"/>
          </a:xfrm>
          <a:prstGeom prst="roundRect">
            <a:avLst>
              <a:gd name="adj" fmla="val 4878"/>
            </a:avLst>
          </a:prstGeom>
          <a:solidFill>
            <a:srgbClr val="FBEDE9"/>
          </a:solidFill>
          <a:ln w="12700">
            <a:solidFill>
              <a:srgbClr val="FBEDE9"/>
            </a:solidFill>
            <a:prstDash val="solid"/>
          </a:ln>
        </p:spPr>
      </p:sp>
      <p:sp>
        <p:nvSpPr>
          <p:cNvPr id="42" name="box-title-Proti: RCT s FSIVGTT (Chirinos 2014)"/>
          <p:cNvSpPr txBox="1"/>
          <p:nvPr/>
        </p:nvSpPr>
        <p:spPr>
          <a:xfrm>
            <a:off x="8503920" y="4023360"/>
            <a:ext cx="3108960" cy="329184"/>
          </a:xfrm>
          <a:prstGeom prst="rect">
            <a:avLst/>
          </a:prstGeom>
          <a:noFill/>
          <a:ln/>
        </p:spPr>
        <p:txBody>
          <a:bodyPr wrap="square" lIns="0" tIns="0" rIns="0" bIns="0" rtlCol="0" anchor="t"/>
          <a:lstStyle/>
          <a:p>
            <a:pPr indent="0" marL="0">
              <a:buNone/>
            </a:pPr>
            <a:r>
              <a:rPr lang="en-US" sz="1250" b="1" dirty="0">
                <a:solidFill>
                  <a:srgbClr val="C8553D"/>
                </a:solidFill>
              </a:rPr>
              <a:t>Proti: RCT s FSIVGTT (Chirinos 2014)</a:t>
            </a:r>
            <a:endParaRPr lang="en-US" sz="1250" dirty="0"/>
          </a:p>
        </p:txBody>
      </p:sp>
      <p:sp>
        <p:nvSpPr>
          <p:cNvPr id="43" name="box-body-Proti: RCT s FSIVGTT (Chirinos 2014)"/>
          <p:cNvSpPr txBox="1"/>
          <p:nvPr/>
        </p:nvSpPr>
        <p:spPr>
          <a:xfrm>
            <a:off x="8503920" y="4370832"/>
            <a:ext cx="3108960" cy="134416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B2A41"/>
                </a:solidFill>
              </a:rPr>
              <a:t>181 obézních s AHI ≥ 15, bez DM; CPAP vs. redukce hmotnosti vs. obojí, 24 týdnů</a:t>
            </a:r>
            <a:endParaRPr lang="en-US" sz="1000" dirty="0"/>
          </a:p>
          <a:p>
            <a:pPr marL="127000" indent="-127000">
              <a:spcAft>
                <a:spcPts val="300"/>
              </a:spcAft>
              <a:buSzPct val="100000"/>
              <a:buChar char="•"/>
            </a:pPr>
            <a:r>
              <a:rPr lang="en-US" sz="1000" dirty="0">
                <a:solidFill>
                  <a:srgbClr val="1B2A41"/>
                </a:solidFill>
              </a:rPr>
              <a:t>Inzulinová rezistence klesla jen s úbytkem hmotnosti – ne u CPAP samotného, ani u adherentních (4,0 h/noc)</a:t>
            </a:r>
            <a:endParaRPr lang="en-US" sz="1000" dirty="0"/>
          </a:p>
        </p:txBody>
      </p:sp>
      <p:sp>
        <p:nvSpPr>
          <p:cNvPr id="44"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Iftikhar, Ann Am Thorac Soc 2013 · Iftikhar, JCSM 2015 · Yang, Sleep Breath 2013 · Abud, Sleep Med 2019 · Hoyos, J Sleep Res 2019 · Chirinos, N Engl J Med 2014 — adherence v MA neuvedena</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Intervence II: CPAP a HbA1c u DM2 – rozporné metaanalýzy, negativní velká RCT</a:t>
            </a:r>
            <a:endParaRPr lang="en-US" sz="2500" dirty="0"/>
          </a:p>
        </p:txBody>
      </p:sp>
      <p:sp>
        <p:nvSpPr>
          <p:cNvPr id="3" name="tag-RCT"/>
          <p:cNvSpPr/>
          <p:nvPr/>
        </p:nvSpPr>
        <p:spPr>
          <a:xfrm>
            <a:off x="10881360" y="384048"/>
            <a:ext cx="868680" cy="310896"/>
          </a:xfrm>
          <a:prstGeom prst="roundRect">
            <a:avLst>
              <a:gd name="adj" fmla="val 23529"/>
            </a:avLst>
          </a:prstGeom>
          <a:solidFill>
            <a:srgbClr val="2A9D8F"/>
          </a:solidFill>
          <a:ln w="12700">
            <a:solidFill>
              <a:srgbClr val="2A9D8F"/>
            </a:solidFill>
            <a:prstDash val="solid"/>
          </a:ln>
        </p:spPr>
      </p:sp>
      <p:sp>
        <p:nvSpPr>
          <p:cNvPr id="4" name="tag-text-RCT"/>
          <p:cNvSpPr txBox="1"/>
          <p:nvPr/>
        </p:nvSpPr>
        <p:spPr>
          <a:xfrm>
            <a:off x="10881360" y="384048"/>
            <a:ext cx="868680" cy="310896"/>
          </a:xfrm>
          <a:prstGeom prst="rect">
            <a:avLst/>
          </a:prstGeom>
          <a:noFill/>
          <a:ln/>
        </p:spPr>
        <p:txBody>
          <a:bodyPr wrap="square" lIns="0" tIns="0" rIns="0" bIns="0" rtlCol="0" anchor="ctr"/>
          <a:lstStyle/>
          <a:p>
            <a:pPr algn="ctr" indent="0" marL="0">
              <a:buNone/>
            </a:pPr>
            <a:r>
              <a:rPr lang="en-US" sz="1000" b="1" dirty="0">
                <a:solidFill>
                  <a:srgbClr val="FFFFFF"/>
                </a:solidFill>
              </a:rPr>
              <a:t>RCT</a:t>
            </a:r>
            <a:endParaRPr lang="en-US" sz="1000" dirty="0"/>
          </a:p>
        </p:txBody>
      </p:sp>
      <p:sp>
        <p:nvSpPr>
          <p:cNvPr id="5" name="tag-MA RCT"/>
          <p:cNvSpPr/>
          <p:nvPr/>
        </p:nvSpPr>
        <p:spPr>
          <a:xfrm>
            <a:off x="9921240" y="384048"/>
            <a:ext cx="886968" cy="310896"/>
          </a:xfrm>
          <a:prstGeom prst="roundRect">
            <a:avLst>
              <a:gd name="adj" fmla="val 23529"/>
            </a:avLst>
          </a:prstGeom>
          <a:solidFill>
            <a:srgbClr val="2A9D8F"/>
          </a:solidFill>
          <a:ln w="12700">
            <a:solidFill>
              <a:srgbClr val="2A9D8F"/>
            </a:solidFill>
            <a:prstDash val="solid"/>
          </a:ln>
        </p:spPr>
      </p:sp>
      <p:sp>
        <p:nvSpPr>
          <p:cNvPr id="6" name="tag-text-MA RCT"/>
          <p:cNvSpPr txBox="1"/>
          <p:nvPr/>
        </p:nvSpPr>
        <p:spPr>
          <a:xfrm>
            <a:off x="9921240"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MA RCT</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Starší MA negativní, Herth 2023 pozitivní (−0,24 %, I² 71 %, publikační bias), nejnovější a největší Wu 2026 negativní pro HbA1c ve všech délkách – HOMA-IR klesá jen při léčbě ≥ 24 týdnů.</a:t>
            </a:r>
            <a:endParaRPr lang="en-US" sz="1500" dirty="0"/>
          </a:p>
        </p:txBody>
      </p:sp>
      <p:sp>
        <p:nvSpPr>
          <p:cNvPr id="8" name="fh1"/>
          <p:cNvSpPr txBox="1"/>
          <p:nvPr/>
        </p:nvSpPr>
        <p:spPr>
          <a:xfrm>
            <a:off x="457200" y="1856232"/>
            <a:ext cx="3657600" cy="274320"/>
          </a:xfrm>
          <a:prstGeom prst="rect">
            <a:avLst/>
          </a:prstGeom>
          <a:noFill/>
          <a:ln/>
        </p:spPr>
        <p:txBody>
          <a:bodyPr wrap="square" lIns="0" tIns="0" rIns="0" bIns="0" rtlCol="0" anchor="ctr"/>
          <a:lstStyle/>
          <a:p>
            <a:pPr indent="0" marL="0">
              <a:buNone/>
            </a:pPr>
            <a:r>
              <a:rPr lang="en-US" sz="1000" b="1" dirty="0">
                <a:solidFill>
                  <a:srgbClr val="8D99AE"/>
                </a:solidFill>
              </a:rPr>
              <a:t>Metaanalýza RCT · DM2</a:t>
            </a:r>
            <a:endParaRPr lang="en-US" sz="1000" dirty="0"/>
          </a:p>
        </p:txBody>
      </p:sp>
      <p:sp>
        <p:nvSpPr>
          <p:cNvPr id="9" name="fh2"/>
          <p:cNvSpPr txBox="1"/>
          <p:nvPr/>
        </p:nvSpPr>
        <p:spPr>
          <a:xfrm>
            <a:off x="6355080" y="1856232"/>
            <a:ext cx="2103120" cy="274320"/>
          </a:xfrm>
          <a:prstGeom prst="rect">
            <a:avLst/>
          </a:prstGeom>
          <a:noFill/>
          <a:ln/>
        </p:spPr>
        <p:txBody>
          <a:bodyPr wrap="square" lIns="0" tIns="0" rIns="0" bIns="0" rtlCol="0" anchor="ctr"/>
          <a:lstStyle/>
          <a:p>
            <a:pPr indent="0" marL="0">
              <a:buNone/>
            </a:pPr>
            <a:r>
              <a:rPr lang="en-US" sz="1000" b="1" dirty="0">
                <a:solidFill>
                  <a:srgbClr val="8D99AE"/>
                </a:solidFill>
              </a:rPr>
              <a:t>MD % (95 % CI); I²</a:t>
            </a:r>
            <a:endParaRPr lang="en-US" sz="1000" dirty="0"/>
          </a:p>
        </p:txBody>
      </p:sp>
      <p:sp>
        <p:nvSpPr>
          <p:cNvPr id="10" name="zebra-0"/>
          <p:cNvSpPr/>
          <p:nvPr/>
        </p:nvSpPr>
        <p:spPr>
          <a:xfrm>
            <a:off x="457200" y="2148840"/>
            <a:ext cx="7863840" cy="487680"/>
          </a:xfrm>
          <a:prstGeom prst="rect">
            <a:avLst/>
          </a:prstGeom>
          <a:solidFill>
            <a:srgbClr val="EEF2F7"/>
          </a:solidFill>
          <a:ln w="12700">
            <a:solidFill>
              <a:srgbClr val="EEF2F7"/>
            </a:solidFill>
            <a:prstDash val="solid"/>
          </a:ln>
        </p:spPr>
      </p:sp>
      <p:sp>
        <p:nvSpPr>
          <p:cNvPr id="11" name="fl-0"/>
          <p:cNvSpPr txBox="1"/>
          <p:nvPr/>
        </p:nvSpPr>
        <p:spPr>
          <a:xfrm>
            <a:off x="502920" y="2148840"/>
            <a:ext cx="3566160" cy="487680"/>
          </a:xfrm>
          <a:prstGeom prst="rect">
            <a:avLst/>
          </a:prstGeom>
          <a:noFill/>
          <a:ln/>
        </p:spPr>
        <p:txBody>
          <a:bodyPr wrap="square" lIns="0" tIns="0" rIns="0" bIns="0" rtlCol="0" anchor="ctr"/>
          <a:lstStyle/>
          <a:p>
            <a:pPr indent="0" marL="0">
              <a:buNone/>
            </a:pPr>
            <a:r>
              <a:rPr lang="en-US" sz="1050" dirty="0">
                <a:solidFill>
                  <a:srgbClr val="1B2A41"/>
                </a:solidFill>
              </a:rPr>
              <a:t>Zhu 2018 · 6 RCT, n 496</a:t>
            </a:r>
            <a:endParaRPr lang="en-US" sz="1050" dirty="0"/>
          </a:p>
        </p:txBody>
      </p:sp>
      <p:sp>
        <p:nvSpPr>
          <p:cNvPr id="12" name="ci-0"/>
          <p:cNvSpPr/>
          <p:nvPr/>
        </p:nvSpPr>
        <p:spPr>
          <a:xfrm>
            <a:off x="5406717" y="2392680"/>
            <a:ext cx="570847" cy="0"/>
          </a:xfrm>
          <a:prstGeom prst="line">
            <a:avLst/>
          </a:prstGeom>
          <a:noFill/>
          <a:ln w="22225">
            <a:solidFill>
              <a:srgbClr val="8D99AE"/>
            </a:solidFill>
            <a:prstDash val="solid"/>
          </a:ln>
        </p:spPr>
      </p:sp>
      <p:sp>
        <p:nvSpPr>
          <p:cNvPr id="13" name="pt-0"/>
          <p:cNvSpPr/>
          <p:nvPr/>
        </p:nvSpPr>
        <p:spPr>
          <a:xfrm>
            <a:off x="5628132" y="2328672"/>
            <a:ext cx="128016" cy="128016"/>
          </a:xfrm>
          <a:prstGeom prst="rect">
            <a:avLst/>
          </a:prstGeom>
          <a:solidFill>
            <a:srgbClr val="8D99AE"/>
          </a:solidFill>
          <a:ln w="12700">
            <a:solidFill>
              <a:srgbClr val="8D99AE"/>
            </a:solidFill>
            <a:prstDash val="solid"/>
          </a:ln>
        </p:spPr>
      </p:sp>
      <p:sp>
        <p:nvSpPr>
          <p:cNvPr id="14" name="fv-0"/>
          <p:cNvSpPr txBox="1"/>
          <p:nvPr/>
        </p:nvSpPr>
        <p:spPr>
          <a:xfrm>
            <a:off x="6355080" y="2148840"/>
            <a:ext cx="2103120" cy="487680"/>
          </a:xfrm>
          <a:prstGeom prst="rect">
            <a:avLst/>
          </a:prstGeom>
          <a:noFill/>
          <a:ln/>
        </p:spPr>
        <p:txBody>
          <a:bodyPr wrap="square" lIns="0" tIns="0" rIns="0" bIns="0" rtlCol="0" anchor="ctr"/>
          <a:lstStyle/>
          <a:p>
            <a:pPr indent="0" marL="0">
              <a:buNone/>
            </a:pPr>
            <a:r>
              <a:rPr lang="en-US" sz="1000" dirty="0">
                <a:solidFill>
                  <a:srgbClr val="1B2A41"/>
                </a:solidFill>
              </a:rPr>
              <a:t>+0,05 (−0,14 až 0,24) NS</a:t>
            </a:r>
            <a:endParaRPr lang="en-US" sz="1000" dirty="0"/>
          </a:p>
        </p:txBody>
      </p:sp>
      <p:sp>
        <p:nvSpPr>
          <p:cNvPr id="15" name="fl-1"/>
          <p:cNvSpPr txBox="1"/>
          <p:nvPr/>
        </p:nvSpPr>
        <p:spPr>
          <a:xfrm>
            <a:off x="502920" y="2636520"/>
            <a:ext cx="3566160" cy="487680"/>
          </a:xfrm>
          <a:prstGeom prst="rect">
            <a:avLst/>
          </a:prstGeom>
          <a:noFill/>
          <a:ln/>
        </p:spPr>
        <p:txBody>
          <a:bodyPr wrap="square" lIns="0" tIns="0" rIns="0" bIns="0" rtlCol="0" anchor="ctr"/>
          <a:lstStyle/>
          <a:p>
            <a:pPr indent="0" marL="0">
              <a:buNone/>
            </a:pPr>
            <a:r>
              <a:rPr lang="en-US" sz="1050" dirty="0">
                <a:solidFill>
                  <a:srgbClr val="1B2A41"/>
                </a:solidFill>
              </a:rPr>
              <a:t>Labarca 2018 · 6 RCT, n 581; ≥ 4 h subanalýza též NS</a:t>
            </a:r>
            <a:endParaRPr lang="en-US" sz="1050" dirty="0"/>
          </a:p>
        </p:txBody>
      </p:sp>
      <p:sp>
        <p:nvSpPr>
          <p:cNvPr id="16" name="ci-1"/>
          <p:cNvSpPr/>
          <p:nvPr/>
        </p:nvSpPr>
        <p:spPr>
          <a:xfrm>
            <a:off x="5241471" y="2880360"/>
            <a:ext cx="435646" cy="0"/>
          </a:xfrm>
          <a:prstGeom prst="line">
            <a:avLst/>
          </a:prstGeom>
          <a:noFill/>
          <a:ln w="22225">
            <a:solidFill>
              <a:srgbClr val="8D99AE"/>
            </a:solidFill>
            <a:prstDash val="solid"/>
          </a:ln>
        </p:spPr>
      </p:sp>
      <p:sp>
        <p:nvSpPr>
          <p:cNvPr id="17" name="pt-1"/>
          <p:cNvSpPr/>
          <p:nvPr/>
        </p:nvSpPr>
        <p:spPr>
          <a:xfrm>
            <a:off x="5402798" y="2816352"/>
            <a:ext cx="128016" cy="128016"/>
          </a:xfrm>
          <a:prstGeom prst="rect">
            <a:avLst/>
          </a:prstGeom>
          <a:solidFill>
            <a:srgbClr val="8D99AE"/>
          </a:solidFill>
          <a:ln w="12700">
            <a:solidFill>
              <a:srgbClr val="8D99AE"/>
            </a:solidFill>
            <a:prstDash val="solid"/>
          </a:ln>
        </p:spPr>
      </p:sp>
      <p:sp>
        <p:nvSpPr>
          <p:cNvPr id="18" name="fv-1"/>
          <p:cNvSpPr txBox="1"/>
          <p:nvPr/>
        </p:nvSpPr>
        <p:spPr>
          <a:xfrm>
            <a:off x="6355080" y="2636520"/>
            <a:ext cx="2103120" cy="487680"/>
          </a:xfrm>
          <a:prstGeom prst="rect">
            <a:avLst/>
          </a:prstGeom>
          <a:noFill/>
          <a:ln/>
        </p:spPr>
        <p:txBody>
          <a:bodyPr wrap="square" lIns="0" tIns="0" rIns="0" bIns="0" rtlCol="0" anchor="ctr"/>
          <a:lstStyle/>
          <a:p>
            <a:pPr indent="0" marL="0">
              <a:buNone/>
            </a:pPr>
            <a:r>
              <a:rPr lang="en-US" sz="1000" dirty="0">
                <a:solidFill>
                  <a:srgbClr val="1B2A41"/>
                </a:solidFill>
              </a:rPr>
              <a:t>−0,10 (−0,25 až 0,04) NS</a:t>
            </a:r>
            <a:endParaRPr lang="en-US" sz="1000" dirty="0"/>
          </a:p>
        </p:txBody>
      </p:sp>
      <p:sp>
        <p:nvSpPr>
          <p:cNvPr id="19" name="zebra-2"/>
          <p:cNvSpPr/>
          <p:nvPr/>
        </p:nvSpPr>
        <p:spPr>
          <a:xfrm>
            <a:off x="457200" y="3124200"/>
            <a:ext cx="7863840" cy="487680"/>
          </a:xfrm>
          <a:prstGeom prst="rect">
            <a:avLst/>
          </a:prstGeom>
          <a:solidFill>
            <a:srgbClr val="EEF2F7"/>
          </a:solidFill>
          <a:ln w="12700">
            <a:solidFill>
              <a:srgbClr val="EEF2F7"/>
            </a:solidFill>
            <a:prstDash val="solid"/>
          </a:ln>
        </p:spPr>
      </p:sp>
      <p:sp>
        <p:nvSpPr>
          <p:cNvPr id="20" name="fl-2"/>
          <p:cNvSpPr txBox="1"/>
          <p:nvPr/>
        </p:nvSpPr>
        <p:spPr>
          <a:xfrm>
            <a:off x="502920" y="3124200"/>
            <a:ext cx="3566160" cy="487680"/>
          </a:xfrm>
          <a:prstGeom prst="rect">
            <a:avLst/>
          </a:prstGeom>
          <a:noFill/>
          <a:ln/>
        </p:spPr>
        <p:txBody>
          <a:bodyPr wrap="square" lIns="0" tIns="0" rIns="0" bIns="0" rtlCol="0" anchor="ctr"/>
          <a:lstStyle/>
          <a:p>
            <a:pPr indent="0" marL="0">
              <a:buNone/>
            </a:pPr>
            <a:r>
              <a:rPr lang="en-US" sz="1050" dirty="0">
                <a:solidFill>
                  <a:srgbClr val="1B2A41"/>
                </a:solidFill>
              </a:rPr>
              <a:t>Herth 2023 · 9 RCT, n 807 (Egger p = 0,039)</a:t>
            </a:r>
            <a:endParaRPr lang="en-US" sz="1050" dirty="0"/>
          </a:p>
        </p:txBody>
      </p:sp>
      <p:sp>
        <p:nvSpPr>
          <p:cNvPr id="21" name="ci-2"/>
          <p:cNvSpPr/>
          <p:nvPr/>
        </p:nvSpPr>
        <p:spPr>
          <a:xfrm>
            <a:off x="4971070" y="3368040"/>
            <a:ext cx="555825" cy="0"/>
          </a:xfrm>
          <a:prstGeom prst="line">
            <a:avLst/>
          </a:prstGeom>
          <a:noFill/>
          <a:ln w="22225">
            <a:solidFill>
              <a:srgbClr val="2A9D8F"/>
            </a:solidFill>
            <a:prstDash val="solid"/>
          </a:ln>
        </p:spPr>
      </p:sp>
      <p:sp>
        <p:nvSpPr>
          <p:cNvPr id="22" name="pt-2"/>
          <p:cNvSpPr/>
          <p:nvPr/>
        </p:nvSpPr>
        <p:spPr>
          <a:xfrm>
            <a:off x="5165054" y="3276600"/>
            <a:ext cx="182880" cy="182880"/>
          </a:xfrm>
          <a:prstGeom prst="rect">
            <a:avLst/>
          </a:prstGeom>
          <a:solidFill>
            <a:srgbClr val="2A9D8F"/>
          </a:solidFill>
          <a:ln w="12700">
            <a:solidFill>
              <a:srgbClr val="2A9D8F"/>
            </a:solidFill>
            <a:prstDash val="solid"/>
          </a:ln>
        </p:spPr>
      </p:sp>
      <p:sp>
        <p:nvSpPr>
          <p:cNvPr id="23" name="fv-2"/>
          <p:cNvSpPr txBox="1"/>
          <p:nvPr/>
        </p:nvSpPr>
        <p:spPr>
          <a:xfrm>
            <a:off x="6355080" y="3124200"/>
            <a:ext cx="2103120" cy="487680"/>
          </a:xfrm>
          <a:prstGeom prst="rect">
            <a:avLst/>
          </a:prstGeom>
          <a:noFill/>
          <a:ln/>
        </p:spPr>
        <p:txBody>
          <a:bodyPr wrap="square" lIns="0" tIns="0" rIns="0" bIns="0" rtlCol="0" anchor="ctr"/>
          <a:lstStyle/>
          <a:p>
            <a:pPr indent="0" marL="0">
              <a:buNone/>
            </a:pPr>
            <a:r>
              <a:rPr lang="en-US" sz="1000" dirty="0">
                <a:solidFill>
                  <a:srgbClr val="1B2A41"/>
                </a:solidFill>
              </a:rPr>
              <a:t>−0,24 (−0,43 až −0,06); I² 71 %</a:t>
            </a:r>
            <a:endParaRPr lang="en-US" sz="1000" dirty="0"/>
          </a:p>
        </p:txBody>
      </p:sp>
      <p:sp>
        <p:nvSpPr>
          <p:cNvPr id="24" name="fl-3"/>
          <p:cNvSpPr txBox="1"/>
          <p:nvPr/>
        </p:nvSpPr>
        <p:spPr>
          <a:xfrm>
            <a:off x="502920" y="3611880"/>
            <a:ext cx="3566160" cy="487680"/>
          </a:xfrm>
          <a:prstGeom prst="rect">
            <a:avLst/>
          </a:prstGeom>
          <a:noFill/>
          <a:ln/>
        </p:spPr>
        <p:txBody>
          <a:bodyPr wrap="square" lIns="0" tIns="0" rIns="0" bIns="0" rtlCol="0" anchor="ctr"/>
          <a:lstStyle/>
          <a:p>
            <a:pPr indent="0" marL="0">
              <a:buNone/>
            </a:pPr>
            <a:r>
              <a:rPr lang="en-US" sz="1050" dirty="0">
                <a:solidFill>
                  <a:srgbClr val="1B2A41"/>
                </a:solidFill>
              </a:rPr>
              <a:t>Herth 2023 · bez outlieru (Zhao 2022, 8,3 h/noc)</a:t>
            </a:r>
            <a:endParaRPr lang="en-US" sz="1050" dirty="0"/>
          </a:p>
        </p:txBody>
      </p:sp>
      <p:sp>
        <p:nvSpPr>
          <p:cNvPr id="25" name="ci-3"/>
          <p:cNvSpPr/>
          <p:nvPr/>
        </p:nvSpPr>
        <p:spPr>
          <a:xfrm>
            <a:off x="5196405" y="3855720"/>
            <a:ext cx="375557" cy="0"/>
          </a:xfrm>
          <a:prstGeom prst="line">
            <a:avLst/>
          </a:prstGeom>
          <a:noFill/>
          <a:ln w="22225">
            <a:solidFill>
              <a:srgbClr val="2A9D8F"/>
            </a:solidFill>
            <a:prstDash val="solid"/>
          </a:ln>
        </p:spPr>
      </p:sp>
      <p:sp>
        <p:nvSpPr>
          <p:cNvPr id="26" name="pt-3"/>
          <p:cNvSpPr/>
          <p:nvPr/>
        </p:nvSpPr>
        <p:spPr>
          <a:xfrm>
            <a:off x="5312664" y="3791712"/>
            <a:ext cx="128016" cy="128016"/>
          </a:xfrm>
          <a:prstGeom prst="rect">
            <a:avLst/>
          </a:prstGeom>
          <a:solidFill>
            <a:srgbClr val="2A9D8F"/>
          </a:solidFill>
          <a:ln w="12700">
            <a:solidFill>
              <a:srgbClr val="2A9D8F"/>
            </a:solidFill>
            <a:prstDash val="solid"/>
          </a:ln>
        </p:spPr>
      </p:sp>
      <p:sp>
        <p:nvSpPr>
          <p:cNvPr id="27" name="fv-3"/>
          <p:cNvSpPr txBox="1"/>
          <p:nvPr/>
        </p:nvSpPr>
        <p:spPr>
          <a:xfrm>
            <a:off x="6355080" y="3611880"/>
            <a:ext cx="2103120" cy="487680"/>
          </a:xfrm>
          <a:prstGeom prst="rect">
            <a:avLst/>
          </a:prstGeom>
          <a:noFill/>
          <a:ln/>
        </p:spPr>
        <p:txBody>
          <a:bodyPr wrap="square" lIns="0" tIns="0" rIns="0" bIns="0" rtlCol="0" anchor="ctr"/>
          <a:lstStyle/>
          <a:p>
            <a:pPr indent="0" marL="0">
              <a:buNone/>
            </a:pPr>
            <a:r>
              <a:rPr lang="en-US" sz="1000" dirty="0">
                <a:solidFill>
                  <a:srgbClr val="1B2A41"/>
                </a:solidFill>
              </a:rPr>
              <a:t>−0,16 (−0,28 až −0,03); I² 39 %</a:t>
            </a:r>
            <a:endParaRPr lang="en-US" sz="1000" dirty="0"/>
          </a:p>
        </p:txBody>
      </p:sp>
      <p:sp>
        <p:nvSpPr>
          <p:cNvPr id="28" name="zebra-4"/>
          <p:cNvSpPr/>
          <p:nvPr/>
        </p:nvSpPr>
        <p:spPr>
          <a:xfrm>
            <a:off x="457200" y="4099560"/>
            <a:ext cx="7863840" cy="487680"/>
          </a:xfrm>
          <a:prstGeom prst="rect">
            <a:avLst/>
          </a:prstGeom>
          <a:solidFill>
            <a:srgbClr val="EEF2F7"/>
          </a:solidFill>
          <a:ln w="12700">
            <a:solidFill>
              <a:srgbClr val="EEF2F7"/>
            </a:solidFill>
            <a:prstDash val="solid"/>
          </a:ln>
        </p:spPr>
      </p:sp>
      <p:sp>
        <p:nvSpPr>
          <p:cNvPr id="29" name="fl-4"/>
          <p:cNvSpPr txBox="1"/>
          <p:nvPr/>
        </p:nvSpPr>
        <p:spPr>
          <a:xfrm>
            <a:off x="502920" y="4099560"/>
            <a:ext cx="3566160" cy="487680"/>
          </a:xfrm>
          <a:prstGeom prst="rect">
            <a:avLst/>
          </a:prstGeom>
          <a:noFill/>
          <a:ln/>
        </p:spPr>
        <p:txBody>
          <a:bodyPr wrap="square" lIns="0" tIns="0" rIns="0" bIns="0" rtlCol="0" anchor="ctr"/>
          <a:lstStyle/>
          <a:p>
            <a:pPr indent="0" marL="0">
              <a:buNone/>
            </a:pPr>
            <a:r>
              <a:rPr lang="en-US" sz="1050" dirty="0">
                <a:solidFill>
                  <a:srgbClr val="1B2A41"/>
                </a:solidFill>
              </a:rPr>
              <a:t>Wu 2026 · 14 RCT, n 1 273 · léčba 12–&lt; 24 týdnů (4 RCT)</a:t>
            </a:r>
            <a:endParaRPr lang="en-US" sz="1050" dirty="0"/>
          </a:p>
        </p:txBody>
      </p:sp>
      <p:sp>
        <p:nvSpPr>
          <p:cNvPr id="30" name="ci-4"/>
          <p:cNvSpPr/>
          <p:nvPr/>
        </p:nvSpPr>
        <p:spPr>
          <a:xfrm>
            <a:off x="5256494" y="4343400"/>
            <a:ext cx="555825" cy="0"/>
          </a:xfrm>
          <a:prstGeom prst="line">
            <a:avLst/>
          </a:prstGeom>
          <a:noFill/>
          <a:ln w="22225">
            <a:solidFill>
              <a:srgbClr val="8D99AE"/>
            </a:solidFill>
            <a:prstDash val="solid"/>
          </a:ln>
        </p:spPr>
      </p:sp>
      <p:sp>
        <p:nvSpPr>
          <p:cNvPr id="31" name="pt-4"/>
          <p:cNvSpPr/>
          <p:nvPr/>
        </p:nvSpPr>
        <p:spPr>
          <a:xfrm>
            <a:off x="5477909" y="4279392"/>
            <a:ext cx="128016" cy="128016"/>
          </a:xfrm>
          <a:prstGeom prst="rect">
            <a:avLst/>
          </a:prstGeom>
          <a:solidFill>
            <a:srgbClr val="8D99AE"/>
          </a:solidFill>
          <a:ln w="12700">
            <a:solidFill>
              <a:srgbClr val="8D99AE"/>
            </a:solidFill>
            <a:prstDash val="solid"/>
          </a:ln>
        </p:spPr>
      </p:sp>
      <p:sp>
        <p:nvSpPr>
          <p:cNvPr id="32" name="fv-4"/>
          <p:cNvSpPr txBox="1"/>
          <p:nvPr/>
        </p:nvSpPr>
        <p:spPr>
          <a:xfrm>
            <a:off x="6355080" y="4099560"/>
            <a:ext cx="2103120" cy="487680"/>
          </a:xfrm>
          <a:prstGeom prst="rect">
            <a:avLst/>
          </a:prstGeom>
          <a:noFill/>
          <a:ln/>
        </p:spPr>
        <p:txBody>
          <a:bodyPr wrap="square" lIns="0" tIns="0" rIns="0" bIns="0" rtlCol="0" anchor="ctr"/>
          <a:lstStyle/>
          <a:p>
            <a:pPr indent="0" marL="0">
              <a:buNone/>
            </a:pPr>
            <a:r>
              <a:rPr lang="en-US" sz="1000" dirty="0">
                <a:solidFill>
                  <a:srgbClr val="1B2A41"/>
                </a:solidFill>
              </a:rPr>
              <a:t>−0,05 (−0,24 až 0,13); I² 0 %</a:t>
            </a:r>
            <a:endParaRPr lang="en-US" sz="1000" dirty="0"/>
          </a:p>
        </p:txBody>
      </p:sp>
      <p:sp>
        <p:nvSpPr>
          <p:cNvPr id="33" name="fl-5"/>
          <p:cNvSpPr txBox="1"/>
          <p:nvPr/>
        </p:nvSpPr>
        <p:spPr>
          <a:xfrm>
            <a:off x="502920" y="4587240"/>
            <a:ext cx="3566160" cy="487680"/>
          </a:xfrm>
          <a:prstGeom prst="rect">
            <a:avLst/>
          </a:prstGeom>
          <a:noFill/>
          <a:ln/>
        </p:spPr>
        <p:txBody>
          <a:bodyPr wrap="square" lIns="0" tIns="0" rIns="0" bIns="0" rtlCol="0" anchor="ctr"/>
          <a:lstStyle/>
          <a:p>
            <a:pPr indent="0" marL="0">
              <a:buNone/>
            </a:pPr>
            <a:r>
              <a:rPr lang="en-US" sz="1050" dirty="0">
                <a:solidFill>
                  <a:srgbClr val="1B2A41"/>
                </a:solidFill>
              </a:rPr>
              <a:t>Wu 2026 · léčba ≥ 24 týdnů (4 RCT)</a:t>
            </a:r>
            <a:endParaRPr lang="en-US" sz="1050" dirty="0"/>
          </a:p>
        </p:txBody>
      </p:sp>
      <p:sp>
        <p:nvSpPr>
          <p:cNvPr id="34" name="ci-5"/>
          <p:cNvSpPr/>
          <p:nvPr/>
        </p:nvSpPr>
        <p:spPr>
          <a:xfrm>
            <a:off x="4910981" y="4831080"/>
            <a:ext cx="946404" cy="0"/>
          </a:xfrm>
          <a:prstGeom prst="line">
            <a:avLst/>
          </a:prstGeom>
          <a:noFill/>
          <a:ln w="22225">
            <a:solidFill>
              <a:srgbClr val="8D99AE"/>
            </a:solidFill>
            <a:prstDash val="solid"/>
          </a:ln>
        </p:spPr>
      </p:sp>
      <p:sp>
        <p:nvSpPr>
          <p:cNvPr id="35" name="pt-5"/>
          <p:cNvSpPr/>
          <p:nvPr/>
        </p:nvSpPr>
        <p:spPr>
          <a:xfrm>
            <a:off x="5327686" y="4767072"/>
            <a:ext cx="128016" cy="128016"/>
          </a:xfrm>
          <a:prstGeom prst="rect">
            <a:avLst/>
          </a:prstGeom>
          <a:solidFill>
            <a:srgbClr val="8D99AE"/>
          </a:solidFill>
          <a:ln w="12700">
            <a:solidFill>
              <a:srgbClr val="8D99AE"/>
            </a:solidFill>
            <a:prstDash val="solid"/>
          </a:ln>
        </p:spPr>
      </p:sp>
      <p:sp>
        <p:nvSpPr>
          <p:cNvPr id="36" name="fv-5"/>
          <p:cNvSpPr txBox="1"/>
          <p:nvPr/>
        </p:nvSpPr>
        <p:spPr>
          <a:xfrm>
            <a:off x="6355080" y="4587240"/>
            <a:ext cx="2103120" cy="487680"/>
          </a:xfrm>
          <a:prstGeom prst="rect">
            <a:avLst/>
          </a:prstGeom>
          <a:noFill/>
          <a:ln/>
        </p:spPr>
        <p:txBody>
          <a:bodyPr wrap="square" lIns="0" tIns="0" rIns="0" bIns="0" rtlCol="0" anchor="ctr"/>
          <a:lstStyle/>
          <a:p>
            <a:pPr indent="0" marL="0">
              <a:buNone/>
            </a:pPr>
            <a:r>
              <a:rPr lang="en-US" sz="1000" dirty="0">
                <a:solidFill>
                  <a:srgbClr val="1B2A41"/>
                </a:solidFill>
              </a:rPr>
              <a:t>−0,15 (−0,47 až 0,16); I² 72 %</a:t>
            </a:r>
            <a:endParaRPr lang="en-US" sz="1000" dirty="0"/>
          </a:p>
        </p:txBody>
      </p:sp>
      <p:sp>
        <p:nvSpPr>
          <p:cNvPr id="37" name="axis"/>
          <p:cNvSpPr/>
          <p:nvPr/>
        </p:nvSpPr>
        <p:spPr>
          <a:xfrm>
            <a:off x="4114800" y="5120640"/>
            <a:ext cx="2103120" cy="0"/>
          </a:xfrm>
          <a:prstGeom prst="line">
            <a:avLst/>
          </a:prstGeom>
          <a:noFill/>
          <a:ln w="12700">
            <a:solidFill>
              <a:srgbClr val="8D99AE"/>
            </a:solidFill>
            <a:prstDash val="solid"/>
          </a:ln>
        </p:spPr>
      </p:sp>
      <p:sp>
        <p:nvSpPr>
          <p:cNvPr id="38" name="ref"/>
          <p:cNvSpPr/>
          <p:nvPr/>
        </p:nvSpPr>
        <p:spPr>
          <a:xfrm>
            <a:off x="5617029" y="2148840"/>
            <a:ext cx="0" cy="2971800"/>
          </a:xfrm>
          <a:prstGeom prst="line">
            <a:avLst/>
          </a:prstGeom>
          <a:noFill/>
          <a:ln w="12700">
            <a:solidFill>
              <a:srgbClr val="C8553D"/>
            </a:solidFill>
            <a:prstDash val="dash"/>
          </a:ln>
        </p:spPr>
      </p:sp>
      <p:sp>
        <p:nvSpPr>
          <p:cNvPr id="39" name="tick--1"/>
          <p:cNvSpPr/>
          <p:nvPr/>
        </p:nvSpPr>
        <p:spPr>
          <a:xfrm>
            <a:off x="4114800" y="5120640"/>
            <a:ext cx="0" cy="54864"/>
          </a:xfrm>
          <a:prstGeom prst="line">
            <a:avLst/>
          </a:prstGeom>
          <a:noFill/>
          <a:ln w="12700">
            <a:solidFill>
              <a:srgbClr val="8D99AE"/>
            </a:solidFill>
            <a:prstDash val="solid"/>
          </a:ln>
        </p:spPr>
      </p:sp>
      <p:sp>
        <p:nvSpPr>
          <p:cNvPr id="40" name="tl--1"/>
          <p:cNvSpPr txBox="1"/>
          <p:nvPr/>
        </p:nvSpPr>
        <p:spPr>
          <a:xfrm>
            <a:off x="3840480" y="516636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a:t>
            </a:r>
            <a:endParaRPr lang="en-US" sz="900" dirty="0"/>
          </a:p>
        </p:txBody>
      </p:sp>
      <p:sp>
        <p:nvSpPr>
          <p:cNvPr id="41" name="tick--0.5"/>
          <p:cNvSpPr/>
          <p:nvPr/>
        </p:nvSpPr>
        <p:spPr>
          <a:xfrm>
            <a:off x="4865914" y="5120640"/>
            <a:ext cx="0" cy="54864"/>
          </a:xfrm>
          <a:prstGeom prst="line">
            <a:avLst/>
          </a:prstGeom>
          <a:noFill/>
          <a:ln w="12700">
            <a:solidFill>
              <a:srgbClr val="8D99AE"/>
            </a:solidFill>
            <a:prstDash val="solid"/>
          </a:ln>
        </p:spPr>
      </p:sp>
      <p:sp>
        <p:nvSpPr>
          <p:cNvPr id="42" name="tl--0.5"/>
          <p:cNvSpPr txBox="1"/>
          <p:nvPr/>
        </p:nvSpPr>
        <p:spPr>
          <a:xfrm>
            <a:off x="4591594" y="516636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-0,5</a:t>
            </a:r>
            <a:endParaRPr lang="en-US" sz="900" dirty="0"/>
          </a:p>
        </p:txBody>
      </p:sp>
      <p:sp>
        <p:nvSpPr>
          <p:cNvPr id="43" name="tick-0"/>
          <p:cNvSpPr/>
          <p:nvPr/>
        </p:nvSpPr>
        <p:spPr>
          <a:xfrm>
            <a:off x="5617029" y="5120640"/>
            <a:ext cx="0" cy="54864"/>
          </a:xfrm>
          <a:prstGeom prst="line">
            <a:avLst/>
          </a:prstGeom>
          <a:noFill/>
          <a:ln w="12700">
            <a:solidFill>
              <a:srgbClr val="8D99AE"/>
            </a:solidFill>
            <a:prstDash val="solid"/>
          </a:ln>
        </p:spPr>
      </p:sp>
      <p:sp>
        <p:nvSpPr>
          <p:cNvPr id="44" name="tl-0"/>
          <p:cNvSpPr txBox="1"/>
          <p:nvPr/>
        </p:nvSpPr>
        <p:spPr>
          <a:xfrm>
            <a:off x="5342709" y="516636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a:t>
            </a:r>
            <a:endParaRPr lang="en-US" sz="900" dirty="0"/>
          </a:p>
        </p:txBody>
      </p:sp>
      <p:sp>
        <p:nvSpPr>
          <p:cNvPr id="45" name="xlabel"/>
          <p:cNvSpPr txBox="1"/>
          <p:nvPr/>
        </p:nvSpPr>
        <p:spPr>
          <a:xfrm>
            <a:off x="4114800" y="5321808"/>
            <a:ext cx="2103120" cy="201168"/>
          </a:xfrm>
          <a:prstGeom prst="rect">
            <a:avLst/>
          </a:prstGeom>
          <a:noFill/>
          <a:ln/>
        </p:spPr>
        <p:txBody>
          <a:bodyPr wrap="square" lIns="0" tIns="0" rIns="0" bIns="0" rtlCol="0" anchor="ctr"/>
          <a:lstStyle/>
          <a:p>
            <a:pPr algn="ctr" indent="0" marL="0">
              <a:buNone/>
            </a:pPr>
            <a:r>
              <a:rPr lang="en-US" sz="900" dirty="0">
                <a:solidFill>
                  <a:srgbClr val="8D99AE"/>
                </a:solidFill>
              </a:rPr>
              <a:t>Rozdíl HbA1c (%), CPAP vs. kontrola (MD)</a:t>
            </a:r>
            <a:endParaRPr lang="en-US" sz="900" dirty="0"/>
          </a:p>
        </p:txBody>
      </p:sp>
      <p:sp>
        <p:nvSpPr>
          <p:cNvPr id="46" name="shang"/>
          <p:cNvSpPr txBox="1"/>
          <p:nvPr/>
        </p:nvSpPr>
        <p:spPr>
          <a:xfrm>
            <a:off x="457200" y="5349240"/>
            <a:ext cx="7863840" cy="640080"/>
          </a:xfrm>
          <a:prstGeom prst="rect">
            <a:avLst/>
          </a:prstGeom>
          <a:noFill/>
          <a:ln/>
        </p:spPr>
        <p:txBody>
          <a:bodyPr wrap="square" lIns="0" tIns="0" rIns="0" bIns="0" rtlCol="0" anchor="ctr"/>
          <a:lstStyle/>
          <a:p>
            <a:pPr indent="0" marL="0">
              <a:buNone/>
            </a:pPr>
            <a:r>
              <a:rPr lang="en-US" sz="1000" dirty="0">
                <a:solidFill>
                  <a:srgbClr val="3D5A80"/>
                </a:solidFill>
              </a:rPr>
              <a:t>Shang 2021 (7 RCT, n 691): HbA1c SMD −0,32 (−0,60 až −0,03) – jiná škála, proto není v grafu. Wu 2026: HOMA-IR při léčbě ≥ 24 týdnů (2 RCT) MD −1,67 (−2,57 až −0,77), I² 0 %; BMI +0,74 kg/m² (0,20–1,27); adherenci nebylo možné adjustovat.</a:t>
            </a:r>
            <a:endParaRPr lang="en-US" sz="1000" dirty="0"/>
          </a:p>
        </p:txBody>
      </p:sp>
      <p:sp>
        <p:nvSpPr>
          <p:cNvPr id="47" name="box-Velká pragmatická RCT: negativní"/>
          <p:cNvSpPr/>
          <p:nvPr/>
        </p:nvSpPr>
        <p:spPr>
          <a:xfrm>
            <a:off x="8549640" y="1874520"/>
            <a:ext cx="3200400" cy="4069080"/>
          </a:xfrm>
          <a:prstGeom prst="roundRect">
            <a:avLst>
              <a:gd name="adj" fmla="val 2857"/>
            </a:avLst>
          </a:prstGeom>
          <a:solidFill>
            <a:srgbClr val="EEF2F7"/>
          </a:solidFill>
          <a:ln w="12700">
            <a:solidFill>
              <a:srgbClr val="EEF2F7"/>
            </a:solidFill>
            <a:prstDash val="solid"/>
          </a:ln>
        </p:spPr>
      </p:sp>
      <p:sp>
        <p:nvSpPr>
          <p:cNvPr id="48" name="box-title-Velká pragmatická RCT: negativní"/>
          <p:cNvSpPr txBox="1"/>
          <p:nvPr/>
        </p:nvSpPr>
        <p:spPr>
          <a:xfrm>
            <a:off x="8686800" y="1965960"/>
            <a:ext cx="2926080" cy="329184"/>
          </a:xfrm>
          <a:prstGeom prst="rect">
            <a:avLst/>
          </a:prstGeom>
          <a:noFill/>
          <a:ln/>
        </p:spPr>
        <p:txBody>
          <a:bodyPr wrap="square" lIns="0" tIns="0" rIns="0" bIns="0" rtlCol="0" anchor="t"/>
          <a:lstStyle/>
          <a:p>
            <a:pPr indent="0" marL="0">
              <a:buNone/>
            </a:pPr>
            <a:r>
              <a:rPr lang="en-US" sz="1250" b="1" dirty="0">
                <a:solidFill>
                  <a:srgbClr val="1B2A41"/>
                </a:solidFill>
              </a:rPr>
              <a:t>Velká pragmatická RCT: negativní</a:t>
            </a:r>
            <a:endParaRPr lang="en-US" sz="1250" dirty="0"/>
          </a:p>
        </p:txBody>
      </p:sp>
      <p:sp>
        <p:nvSpPr>
          <p:cNvPr id="49" name="box-body-Velká pragmatická RCT: negativní"/>
          <p:cNvSpPr txBox="1"/>
          <p:nvPr/>
        </p:nvSpPr>
        <p:spPr>
          <a:xfrm>
            <a:off x="8686800" y="2313432"/>
            <a:ext cx="2926080" cy="353872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B2A41"/>
                </a:solidFill>
              </a:rPr>
              <a:t>Shaw 2016: n 298, DM2 s HbA1c 6,5–8,5 %, 6 měsíců, bez sham – žádný rozdíl HbA1c ani u adherentních, horší kontroly či těžší OSA; DTK −3,5 vs. −1,5</a:t>
            </a:r>
            <a:endParaRPr lang="en-US" sz="1000" dirty="0"/>
          </a:p>
          <a:p>
            <a:pPr marL="127000" indent="-127000">
              <a:spcAft>
                <a:spcPts val="300"/>
              </a:spcAft>
              <a:buSzPct val="100000"/>
              <a:buChar char="•"/>
            </a:pPr>
            <a:r>
              <a:rPr lang="en-US" sz="1000" dirty="0">
                <a:solidFill>
                  <a:srgbClr val="1B2A41"/>
                </a:solidFill>
              </a:rPr>
              <a:t>Loffler 2020 (SAVE substudie): n 888, KV pacienti, medián 4,3 roku – bez rozdílu v glukóze, HbA1c ani nových diagnózách DM</a:t>
            </a:r>
            <a:endParaRPr lang="en-US" sz="1000" dirty="0"/>
          </a:p>
          <a:p>
            <a:pPr marL="127000" indent="-127000">
              <a:spcAft>
                <a:spcPts val="300"/>
              </a:spcAft>
              <a:buSzPct val="100000"/>
              <a:buChar char="•"/>
            </a:pPr>
            <a:r>
              <a:rPr lang="en-US" sz="1000" dirty="0">
                <a:solidFill>
                  <a:srgbClr val="1B2A41"/>
                </a:solidFill>
              </a:rPr>
              <a:t>Aurora 2023 (HYPNOS): n 184, CGM 3 měsíce, adherence 5,4 h – bez rozdílu ve variabilitě glykémie</a:t>
            </a:r>
            <a:endParaRPr lang="en-US" sz="1000" dirty="0"/>
          </a:p>
          <a:p>
            <a:pPr marL="127000" indent="-127000">
              <a:spcAft>
                <a:spcPts val="300"/>
              </a:spcAft>
              <a:buSzPct val="100000"/>
              <a:buChar char="•"/>
            </a:pPr>
            <a:r>
              <a:rPr lang="en-US" sz="1000" dirty="0">
                <a:solidFill>
                  <a:srgbClr val="1B2A41"/>
                </a:solidFill>
              </a:rPr>
              <a:t>Banghøj 2021: n 72, CGM 12 týdnů, 5,6 h – negativní i v subanalýze ≥ 4 h</a:t>
            </a:r>
            <a:endParaRPr lang="en-US" sz="1000" dirty="0"/>
          </a:p>
        </p:txBody>
      </p:sp>
      <p:sp>
        <p:nvSpPr>
          <p:cNvPr id="50"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Zhu, Sleep Breath 2018 · Labarca, Clin Respir J 2018 · Shang, Diabetes Obes Metab 2021 · Herth, Eur Respir Rev 2023 · Wu, BMJ Open Respir Res 2026 · Shaw, AJRCCM 2016 · Loffler, Diabetes Care 2020 · Aurora, Chest 2023 · Banghøj, Endocrinol Diabetes Metab 2021</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Adherence jako dávka: proč se RCT rozcházejí</a:t>
            </a:r>
            <a:endParaRPr lang="en-US" sz="2500" dirty="0"/>
          </a:p>
        </p:txBody>
      </p:sp>
      <p:sp>
        <p:nvSpPr>
          <p:cNvPr id="3" name="tag-MA RCT"/>
          <p:cNvSpPr/>
          <p:nvPr/>
        </p:nvSpPr>
        <p:spPr>
          <a:xfrm>
            <a:off x="10863072" y="384048"/>
            <a:ext cx="886968" cy="310896"/>
          </a:xfrm>
          <a:prstGeom prst="roundRect">
            <a:avLst>
              <a:gd name="adj" fmla="val 23529"/>
            </a:avLst>
          </a:prstGeom>
          <a:solidFill>
            <a:srgbClr val="2A9D8F"/>
          </a:solidFill>
          <a:ln w="12700">
            <a:solidFill>
              <a:srgbClr val="2A9D8F"/>
            </a:solidFill>
            <a:prstDash val="solid"/>
          </a:ln>
        </p:spPr>
      </p:sp>
      <p:sp>
        <p:nvSpPr>
          <p:cNvPr id="4" name="tag-text-MA RCT"/>
          <p:cNvSpPr txBox="1"/>
          <p:nvPr/>
        </p:nvSpPr>
        <p:spPr>
          <a:xfrm>
            <a:off x="10863072"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MA RCT</a:t>
            </a:r>
            <a:endParaRPr lang="en-US" sz="1000" dirty="0"/>
          </a:p>
        </p:txBody>
      </p:sp>
      <p:sp>
        <p:nvSpPr>
          <p:cNvPr id="5" name="tag-RCT"/>
          <p:cNvSpPr/>
          <p:nvPr/>
        </p:nvSpPr>
        <p:spPr>
          <a:xfrm>
            <a:off x="9921240" y="384048"/>
            <a:ext cx="868680" cy="310896"/>
          </a:xfrm>
          <a:prstGeom prst="roundRect">
            <a:avLst>
              <a:gd name="adj" fmla="val 23529"/>
            </a:avLst>
          </a:prstGeom>
          <a:solidFill>
            <a:srgbClr val="2A9D8F"/>
          </a:solidFill>
          <a:ln w="12700">
            <a:solidFill>
              <a:srgbClr val="2A9D8F"/>
            </a:solidFill>
            <a:prstDash val="solid"/>
          </a:ln>
        </p:spPr>
      </p:sp>
      <p:sp>
        <p:nvSpPr>
          <p:cNvPr id="6" name="tag-text-RCT"/>
          <p:cNvSpPr txBox="1"/>
          <p:nvPr/>
        </p:nvSpPr>
        <p:spPr>
          <a:xfrm>
            <a:off x="9921240" y="384048"/>
            <a:ext cx="868680" cy="310896"/>
          </a:xfrm>
          <a:prstGeom prst="rect">
            <a:avLst/>
          </a:prstGeom>
          <a:noFill/>
          <a:ln/>
        </p:spPr>
        <p:txBody>
          <a:bodyPr wrap="square" lIns="0" tIns="0" rIns="0" bIns="0" rtlCol="0" anchor="ctr"/>
          <a:lstStyle/>
          <a:p>
            <a:pPr algn="ctr" indent="0" marL="0">
              <a:buNone/>
            </a:pPr>
            <a:r>
              <a:rPr lang="en-US" sz="1000" b="1" dirty="0">
                <a:solidFill>
                  <a:srgbClr val="FFFFFF"/>
                </a:solidFill>
              </a:rPr>
              <a:t>RCT</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Jediné clampové RCT (3,6 h/noc) je negativní; pozitivní signál dávají protokoly s ~8 h/noc a meta-regrese – metabolismus zřejmě potřebuje vyšší dávku než symptomy.</a:t>
            </a:r>
            <a:endParaRPr lang="en-US" sz="1500" dirty="0"/>
          </a:p>
        </p:txBody>
      </p:sp>
      <p:sp>
        <p:nvSpPr>
          <p:cNvPr id="8" name="dose-axis"/>
          <p:cNvSpPr/>
          <p:nvPr/>
        </p:nvSpPr>
        <p:spPr>
          <a:xfrm>
            <a:off x="822960" y="3703320"/>
            <a:ext cx="10515600" cy="0"/>
          </a:xfrm>
          <a:prstGeom prst="line">
            <a:avLst/>
          </a:prstGeom>
          <a:noFill/>
          <a:ln w="19050">
            <a:solidFill>
              <a:srgbClr val="8D99AE"/>
            </a:solidFill>
            <a:prstDash val="solid"/>
          </a:ln>
        </p:spPr>
      </p:sp>
      <p:sp>
        <p:nvSpPr>
          <p:cNvPr id="9" name="dt2"/>
          <p:cNvSpPr/>
          <p:nvPr/>
        </p:nvSpPr>
        <p:spPr>
          <a:xfrm>
            <a:off x="822960" y="3703320"/>
            <a:ext cx="0" cy="73152"/>
          </a:xfrm>
          <a:prstGeom prst="line">
            <a:avLst/>
          </a:prstGeom>
          <a:noFill/>
          <a:ln w="12700">
            <a:solidFill>
              <a:srgbClr val="8D99AE"/>
            </a:solidFill>
            <a:prstDash val="solid"/>
          </a:ln>
        </p:spPr>
      </p:sp>
      <p:sp>
        <p:nvSpPr>
          <p:cNvPr id="10" name="dtl2"/>
          <p:cNvSpPr txBox="1"/>
          <p:nvPr/>
        </p:nvSpPr>
        <p:spPr>
          <a:xfrm>
            <a:off x="365760" y="3794760"/>
            <a:ext cx="914400" cy="201168"/>
          </a:xfrm>
          <a:prstGeom prst="rect">
            <a:avLst/>
          </a:prstGeom>
          <a:noFill/>
          <a:ln/>
        </p:spPr>
        <p:txBody>
          <a:bodyPr wrap="square" lIns="0" tIns="0" rIns="0" bIns="0" rtlCol="0" anchor="ctr"/>
          <a:lstStyle/>
          <a:p>
            <a:pPr algn="ctr" indent="0" marL="0">
              <a:buNone/>
            </a:pPr>
            <a:r>
              <a:rPr lang="en-US" sz="900" dirty="0">
                <a:solidFill>
                  <a:srgbClr val="8D99AE"/>
                </a:solidFill>
              </a:rPr>
              <a:t>2 h</a:t>
            </a:r>
            <a:endParaRPr lang="en-US" sz="900" dirty="0"/>
          </a:p>
        </p:txBody>
      </p:sp>
      <p:sp>
        <p:nvSpPr>
          <p:cNvPr id="11" name="dt3"/>
          <p:cNvSpPr/>
          <p:nvPr/>
        </p:nvSpPr>
        <p:spPr>
          <a:xfrm>
            <a:off x="2325189" y="3703320"/>
            <a:ext cx="0" cy="73152"/>
          </a:xfrm>
          <a:prstGeom prst="line">
            <a:avLst/>
          </a:prstGeom>
          <a:noFill/>
          <a:ln w="12700">
            <a:solidFill>
              <a:srgbClr val="8D99AE"/>
            </a:solidFill>
            <a:prstDash val="solid"/>
          </a:ln>
        </p:spPr>
      </p:sp>
      <p:sp>
        <p:nvSpPr>
          <p:cNvPr id="12" name="dtl3"/>
          <p:cNvSpPr txBox="1"/>
          <p:nvPr/>
        </p:nvSpPr>
        <p:spPr>
          <a:xfrm>
            <a:off x="1867989" y="3794760"/>
            <a:ext cx="914400" cy="201168"/>
          </a:xfrm>
          <a:prstGeom prst="rect">
            <a:avLst/>
          </a:prstGeom>
          <a:noFill/>
          <a:ln/>
        </p:spPr>
        <p:txBody>
          <a:bodyPr wrap="square" lIns="0" tIns="0" rIns="0" bIns="0" rtlCol="0" anchor="ctr"/>
          <a:lstStyle/>
          <a:p>
            <a:pPr algn="ctr" indent="0" marL="0">
              <a:buNone/>
            </a:pPr>
            <a:r>
              <a:rPr lang="en-US" sz="900" dirty="0">
                <a:solidFill>
                  <a:srgbClr val="8D99AE"/>
                </a:solidFill>
              </a:rPr>
              <a:t>3 h</a:t>
            </a:r>
            <a:endParaRPr lang="en-US" sz="900" dirty="0"/>
          </a:p>
        </p:txBody>
      </p:sp>
      <p:sp>
        <p:nvSpPr>
          <p:cNvPr id="13" name="dt4"/>
          <p:cNvSpPr/>
          <p:nvPr/>
        </p:nvSpPr>
        <p:spPr>
          <a:xfrm>
            <a:off x="3827417" y="3703320"/>
            <a:ext cx="0" cy="73152"/>
          </a:xfrm>
          <a:prstGeom prst="line">
            <a:avLst/>
          </a:prstGeom>
          <a:noFill/>
          <a:ln w="12700">
            <a:solidFill>
              <a:srgbClr val="8D99AE"/>
            </a:solidFill>
            <a:prstDash val="solid"/>
          </a:ln>
        </p:spPr>
      </p:sp>
      <p:sp>
        <p:nvSpPr>
          <p:cNvPr id="14" name="dtl4"/>
          <p:cNvSpPr txBox="1"/>
          <p:nvPr/>
        </p:nvSpPr>
        <p:spPr>
          <a:xfrm>
            <a:off x="3370217" y="3794760"/>
            <a:ext cx="914400" cy="201168"/>
          </a:xfrm>
          <a:prstGeom prst="rect">
            <a:avLst/>
          </a:prstGeom>
          <a:noFill/>
          <a:ln/>
        </p:spPr>
        <p:txBody>
          <a:bodyPr wrap="square" lIns="0" tIns="0" rIns="0" bIns="0" rtlCol="0" anchor="ctr"/>
          <a:lstStyle/>
          <a:p>
            <a:pPr algn="ctr" indent="0" marL="0">
              <a:buNone/>
            </a:pPr>
            <a:r>
              <a:rPr lang="en-US" sz="900" dirty="0">
                <a:solidFill>
                  <a:srgbClr val="8D99AE"/>
                </a:solidFill>
              </a:rPr>
              <a:t>4 h</a:t>
            </a:r>
            <a:endParaRPr lang="en-US" sz="900" dirty="0"/>
          </a:p>
        </p:txBody>
      </p:sp>
      <p:sp>
        <p:nvSpPr>
          <p:cNvPr id="15" name="dt5"/>
          <p:cNvSpPr/>
          <p:nvPr/>
        </p:nvSpPr>
        <p:spPr>
          <a:xfrm>
            <a:off x="5329646" y="3703320"/>
            <a:ext cx="0" cy="73152"/>
          </a:xfrm>
          <a:prstGeom prst="line">
            <a:avLst/>
          </a:prstGeom>
          <a:noFill/>
          <a:ln w="12700">
            <a:solidFill>
              <a:srgbClr val="8D99AE"/>
            </a:solidFill>
            <a:prstDash val="solid"/>
          </a:ln>
        </p:spPr>
      </p:sp>
      <p:sp>
        <p:nvSpPr>
          <p:cNvPr id="16" name="dtl5"/>
          <p:cNvSpPr txBox="1"/>
          <p:nvPr/>
        </p:nvSpPr>
        <p:spPr>
          <a:xfrm>
            <a:off x="4872446" y="3794760"/>
            <a:ext cx="914400" cy="201168"/>
          </a:xfrm>
          <a:prstGeom prst="rect">
            <a:avLst/>
          </a:prstGeom>
          <a:noFill/>
          <a:ln/>
        </p:spPr>
        <p:txBody>
          <a:bodyPr wrap="square" lIns="0" tIns="0" rIns="0" bIns="0" rtlCol="0" anchor="ctr"/>
          <a:lstStyle/>
          <a:p>
            <a:pPr algn="ctr" indent="0" marL="0">
              <a:buNone/>
            </a:pPr>
            <a:r>
              <a:rPr lang="en-US" sz="900" dirty="0">
                <a:solidFill>
                  <a:srgbClr val="8D99AE"/>
                </a:solidFill>
              </a:rPr>
              <a:t>5 h</a:t>
            </a:r>
            <a:endParaRPr lang="en-US" sz="900" dirty="0"/>
          </a:p>
        </p:txBody>
      </p:sp>
      <p:sp>
        <p:nvSpPr>
          <p:cNvPr id="17" name="dt6"/>
          <p:cNvSpPr/>
          <p:nvPr/>
        </p:nvSpPr>
        <p:spPr>
          <a:xfrm>
            <a:off x="6831874" y="3703320"/>
            <a:ext cx="0" cy="73152"/>
          </a:xfrm>
          <a:prstGeom prst="line">
            <a:avLst/>
          </a:prstGeom>
          <a:noFill/>
          <a:ln w="12700">
            <a:solidFill>
              <a:srgbClr val="8D99AE"/>
            </a:solidFill>
            <a:prstDash val="solid"/>
          </a:ln>
        </p:spPr>
      </p:sp>
      <p:sp>
        <p:nvSpPr>
          <p:cNvPr id="18" name="dtl6"/>
          <p:cNvSpPr txBox="1"/>
          <p:nvPr/>
        </p:nvSpPr>
        <p:spPr>
          <a:xfrm>
            <a:off x="6374674" y="3794760"/>
            <a:ext cx="914400" cy="201168"/>
          </a:xfrm>
          <a:prstGeom prst="rect">
            <a:avLst/>
          </a:prstGeom>
          <a:noFill/>
          <a:ln/>
        </p:spPr>
        <p:txBody>
          <a:bodyPr wrap="square" lIns="0" tIns="0" rIns="0" bIns="0" rtlCol="0" anchor="ctr"/>
          <a:lstStyle/>
          <a:p>
            <a:pPr algn="ctr" indent="0" marL="0">
              <a:buNone/>
            </a:pPr>
            <a:r>
              <a:rPr lang="en-US" sz="900" dirty="0">
                <a:solidFill>
                  <a:srgbClr val="8D99AE"/>
                </a:solidFill>
              </a:rPr>
              <a:t>6 h</a:t>
            </a:r>
            <a:endParaRPr lang="en-US" sz="900" dirty="0"/>
          </a:p>
        </p:txBody>
      </p:sp>
      <p:sp>
        <p:nvSpPr>
          <p:cNvPr id="19" name="dt7"/>
          <p:cNvSpPr/>
          <p:nvPr/>
        </p:nvSpPr>
        <p:spPr>
          <a:xfrm>
            <a:off x="8334103" y="3703320"/>
            <a:ext cx="0" cy="73152"/>
          </a:xfrm>
          <a:prstGeom prst="line">
            <a:avLst/>
          </a:prstGeom>
          <a:noFill/>
          <a:ln w="12700">
            <a:solidFill>
              <a:srgbClr val="8D99AE"/>
            </a:solidFill>
            <a:prstDash val="solid"/>
          </a:ln>
        </p:spPr>
      </p:sp>
      <p:sp>
        <p:nvSpPr>
          <p:cNvPr id="20" name="dtl7"/>
          <p:cNvSpPr txBox="1"/>
          <p:nvPr/>
        </p:nvSpPr>
        <p:spPr>
          <a:xfrm>
            <a:off x="7876903" y="3794760"/>
            <a:ext cx="914400" cy="201168"/>
          </a:xfrm>
          <a:prstGeom prst="rect">
            <a:avLst/>
          </a:prstGeom>
          <a:noFill/>
          <a:ln/>
        </p:spPr>
        <p:txBody>
          <a:bodyPr wrap="square" lIns="0" tIns="0" rIns="0" bIns="0" rtlCol="0" anchor="ctr"/>
          <a:lstStyle/>
          <a:p>
            <a:pPr algn="ctr" indent="0" marL="0">
              <a:buNone/>
            </a:pPr>
            <a:r>
              <a:rPr lang="en-US" sz="900" dirty="0">
                <a:solidFill>
                  <a:srgbClr val="8D99AE"/>
                </a:solidFill>
              </a:rPr>
              <a:t>7 h</a:t>
            </a:r>
            <a:endParaRPr lang="en-US" sz="900" dirty="0"/>
          </a:p>
        </p:txBody>
      </p:sp>
      <p:sp>
        <p:nvSpPr>
          <p:cNvPr id="21" name="dt8"/>
          <p:cNvSpPr/>
          <p:nvPr/>
        </p:nvSpPr>
        <p:spPr>
          <a:xfrm>
            <a:off x="9836331" y="3703320"/>
            <a:ext cx="0" cy="73152"/>
          </a:xfrm>
          <a:prstGeom prst="line">
            <a:avLst/>
          </a:prstGeom>
          <a:noFill/>
          <a:ln w="12700">
            <a:solidFill>
              <a:srgbClr val="8D99AE"/>
            </a:solidFill>
            <a:prstDash val="solid"/>
          </a:ln>
        </p:spPr>
      </p:sp>
      <p:sp>
        <p:nvSpPr>
          <p:cNvPr id="22" name="dtl8"/>
          <p:cNvSpPr txBox="1"/>
          <p:nvPr/>
        </p:nvSpPr>
        <p:spPr>
          <a:xfrm>
            <a:off x="9379131" y="3794760"/>
            <a:ext cx="914400" cy="201168"/>
          </a:xfrm>
          <a:prstGeom prst="rect">
            <a:avLst/>
          </a:prstGeom>
          <a:noFill/>
          <a:ln/>
        </p:spPr>
        <p:txBody>
          <a:bodyPr wrap="square" lIns="0" tIns="0" rIns="0" bIns="0" rtlCol="0" anchor="ctr"/>
          <a:lstStyle/>
          <a:p>
            <a:pPr algn="ctr" indent="0" marL="0">
              <a:buNone/>
            </a:pPr>
            <a:r>
              <a:rPr lang="en-US" sz="900" dirty="0">
                <a:solidFill>
                  <a:srgbClr val="8D99AE"/>
                </a:solidFill>
              </a:rPr>
              <a:t>8 h</a:t>
            </a:r>
            <a:endParaRPr lang="en-US" sz="900" dirty="0"/>
          </a:p>
        </p:txBody>
      </p:sp>
      <p:sp>
        <p:nvSpPr>
          <p:cNvPr id="23" name="dt9"/>
          <p:cNvSpPr/>
          <p:nvPr/>
        </p:nvSpPr>
        <p:spPr>
          <a:xfrm>
            <a:off x="11338560" y="3703320"/>
            <a:ext cx="0" cy="73152"/>
          </a:xfrm>
          <a:prstGeom prst="line">
            <a:avLst/>
          </a:prstGeom>
          <a:noFill/>
          <a:ln w="12700">
            <a:solidFill>
              <a:srgbClr val="8D99AE"/>
            </a:solidFill>
            <a:prstDash val="solid"/>
          </a:ln>
        </p:spPr>
      </p:sp>
      <p:sp>
        <p:nvSpPr>
          <p:cNvPr id="24" name="dtl9"/>
          <p:cNvSpPr txBox="1"/>
          <p:nvPr/>
        </p:nvSpPr>
        <p:spPr>
          <a:xfrm>
            <a:off x="10881360" y="3794760"/>
            <a:ext cx="914400" cy="201168"/>
          </a:xfrm>
          <a:prstGeom prst="rect">
            <a:avLst/>
          </a:prstGeom>
          <a:noFill/>
          <a:ln/>
        </p:spPr>
        <p:txBody>
          <a:bodyPr wrap="square" lIns="0" tIns="0" rIns="0" bIns="0" rtlCol="0" anchor="ctr"/>
          <a:lstStyle/>
          <a:p>
            <a:pPr algn="ctr" indent="0" marL="0">
              <a:buNone/>
            </a:pPr>
            <a:r>
              <a:rPr lang="en-US" sz="900" dirty="0">
                <a:solidFill>
                  <a:srgbClr val="8D99AE"/>
                </a:solidFill>
              </a:rPr>
              <a:t>9 h/noc CPAP</a:t>
            </a:r>
            <a:endParaRPr lang="en-US" sz="900" dirty="0"/>
          </a:p>
        </p:txBody>
      </p:sp>
      <p:sp>
        <p:nvSpPr>
          <p:cNvPr id="25" name="thr4"/>
          <p:cNvSpPr/>
          <p:nvPr/>
        </p:nvSpPr>
        <p:spPr>
          <a:xfrm>
            <a:off x="3827417" y="1874520"/>
            <a:ext cx="18288" cy="1828800"/>
          </a:xfrm>
          <a:prstGeom prst="rect">
            <a:avLst/>
          </a:prstGeom>
          <a:solidFill>
            <a:srgbClr val="E9C46A"/>
          </a:solidFill>
          <a:ln w="12700">
            <a:solidFill>
              <a:srgbClr val="E9C46A"/>
            </a:solidFill>
            <a:prstDash val="solid"/>
          </a:ln>
        </p:spPr>
      </p:sp>
      <p:sp>
        <p:nvSpPr>
          <p:cNvPr id="26" name="thr4l"/>
          <p:cNvSpPr txBox="1"/>
          <p:nvPr/>
        </p:nvSpPr>
        <p:spPr>
          <a:xfrm>
            <a:off x="3900569" y="1828800"/>
            <a:ext cx="2011680" cy="228600"/>
          </a:xfrm>
          <a:prstGeom prst="rect">
            <a:avLst/>
          </a:prstGeom>
          <a:noFill/>
          <a:ln/>
        </p:spPr>
        <p:txBody>
          <a:bodyPr wrap="square" lIns="0" tIns="0" rIns="0" bIns="0" rtlCol="0" anchor="ctr"/>
          <a:lstStyle/>
          <a:p>
            <a:pPr indent="0" marL="0">
              <a:buNone/>
            </a:pPr>
            <a:r>
              <a:rPr lang="en-US" sz="850" i="1" dirty="0">
                <a:solidFill>
                  <a:srgbClr val="8D99AE"/>
                </a:solidFill>
              </a:rPr>
              <a:t>„≥ 4 h“ – obvyklý práh adherence</a:t>
            </a:r>
            <a:endParaRPr lang="en-US" sz="850" dirty="0"/>
          </a:p>
        </p:txBody>
      </p:sp>
      <p:sp>
        <p:nvSpPr>
          <p:cNvPr id="27" name="dp0"/>
          <p:cNvSpPr/>
          <p:nvPr/>
        </p:nvSpPr>
        <p:spPr>
          <a:xfrm>
            <a:off x="1473490" y="3602736"/>
            <a:ext cx="201168" cy="201168"/>
          </a:xfrm>
          <a:prstGeom prst="ellipse">
            <a:avLst/>
          </a:prstGeom>
          <a:solidFill>
            <a:srgbClr val="8D99AE"/>
          </a:solidFill>
          <a:ln w="12700">
            <a:solidFill>
              <a:srgbClr val="FFFFFF"/>
            </a:solidFill>
            <a:prstDash val="solid"/>
          </a:ln>
        </p:spPr>
      </p:sp>
      <p:sp>
        <p:nvSpPr>
          <p:cNvPr id="28" name="dl0"/>
          <p:cNvSpPr/>
          <p:nvPr/>
        </p:nvSpPr>
        <p:spPr>
          <a:xfrm>
            <a:off x="1574074" y="3803904"/>
            <a:ext cx="0" cy="265176"/>
          </a:xfrm>
          <a:prstGeom prst="line">
            <a:avLst/>
          </a:prstGeom>
          <a:noFill/>
          <a:ln w="9525">
            <a:solidFill>
              <a:srgbClr val="8D99AE"/>
            </a:solidFill>
            <a:prstDash val="solid"/>
          </a:ln>
        </p:spPr>
      </p:sp>
      <p:sp>
        <p:nvSpPr>
          <p:cNvPr id="29" name="dtx0"/>
          <p:cNvSpPr txBox="1"/>
          <p:nvPr/>
        </p:nvSpPr>
        <p:spPr>
          <a:xfrm>
            <a:off x="613954" y="4069080"/>
            <a:ext cx="1920240" cy="640080"/>
          </a:xfrm>
          <a:prstGeom prst="rect">
            <a:avLst/>
          </a:prstGeom>
          <a:noFill/>
          <a:ln/>
        </p:spPr>
        <p:txBody>
          <a:bodyPr wrap="square" lIns="0" tIns="0" rIns="0" bIns="0" rtlCol="0" anchor="t"/>
          <a:lstStyle/>
          <a:p>
            <a:pPr algn="ctr" indent="0" marL="0">
              <a:buNone/>
            </a:pPr>
            <a:r>
              <a:rPr lang="en-US" sz="850" dirty="0">
                <a:solidFill>
                  <a:srgbClr val="3D5A80"/>
                </a:solidFill>
              </a:rPr>
              <a:t>Lam 2017 · DM2, n 64, 3 měs.</a:t>
            </a:r>
            <a:endParaRPr lang="en-US" sz="850" dirty="0"/>
          </a:p>
          <a:p>
            <a:pPr algn="ctr" indent="0" marL="0">
              <a:buNone/>
            </a:pPr>
            <a:r>
              <a:rPr lang="en-US" sz="850" dirty="0">
                <a:solidFill>
                  <a:srgbClr val="3D5A80"/>
                </a:solidFill>
              </a:rPr>
              <a:t>HbA1c NS (2,5 h*)</a:t>
            </a:r>
            <a:endParaRPr lang="en-US" sz="850" dirty="0"/>
          </a:p>
        </p:txBody>
      </p:sp>
      <p:sp>
        <p:nvSpPr>
          <p:cNvPr id="30" name="dp1"/>
          <p:cNvSpPr/>
          <p:nvPr/>
        </p:nvSpPr>
        <p:spPr>
          <a:xfrm>
            <a:off x="3125942" y="3602736"/>
            <a:ext cx="201168" cy="201168"/>
          </a:xfrm>
          <a:prstGeom prst="ellipse">
            <a:avLst/>
          </a:prstGeom>
          <a:solidFill>
            <a:srgbClr val="8D99AE"/>
          </a:solidFill>
          <a:ln w="12700">
            <a:solidFill>
              <a:srgbClr val="FFFFFF"/>
            </a:solidFill>
            <a:prstDash val="solid"/>
          </a:ln>
        </p:spPr>
      </p:sp>
      <p:sp>
        <p:nvSpPr>
          <p:cNvPr id="31" name="dl1"/>
          <p:cNvSpPr/>
          <p:nvPr/>
        </p:nvSpPr>
        <p:spPr>
          <a:xfrm>
            <a:off x="3226526" y="3474720"/>
            <a:ext cx="0" cy="128016"/>
          </a:xfrm>
          <a:prstGeom prst="line">
            <a:avLst/>
          </a:prstGeom>
          <a:noFill/>
          <a:ln w="9525">
            <a:solidFill>
              <a:srgbClr val="8D99AE"/>
            </a:solidFill>
            <a:prstDash val="solid"/>
          </a:ln>
        </p:spPr>
      </p:sp>
      <p:sp>
        <p:nvSpPr>
          <p:cNvPr id="32" name="dtx1"/>
          <p:cNvSpPr txBox="1"/>
          <p:nvPr/>
        </p:nvSpPr>
        <p:spPr>
          <a:xfrm>
            <a:off x="2266406" y="2834640"/>
            <a:ext cx="1920240" cy="640080"/>
          </a:xfrm>
          <a:prstGeom prst="rect">
            <a:avLst/>
          </a:prstGeom>
          <a:noFill/>
          <a:ln/>
        </p:spPr>
        <p:txBody>
          <a:bodyPr wrap="square" lIns="0" tIns="0" rIns="0" bIns="0" rtlCol="0" anchor="b"/>
          <a:lstStyle/>
          <a:p>
            <a:pPr algn="ctr" indent="0" marL="0">
              <a:buNone/>
            </a:pPr>
            <a:r>
              <a:rPr lang="en-US" sz="850" dirty="0">
                <a:solidFill>
                  <a:srgbClr val="3D5A80"/>
                </a:solidFill>
              </a:rPr>
              <a:t>West 2007 · DM2, sham, n 42, 3 měs.</a:t>
            </a:r>
            <a:endParaRPr lang="en-US" sz="850" dirty="0"/>
          </a:p>
          <a:p>
            <a:pPr algn="ctr" indent="0" marL="0">
              <a:buNone/>
            </a:pPr>
            <a:r>
              <a:rPr lang="en-US" sz="850" dirty="0">
                <a:solidFill>
                  <a:srgbClr val="3D5A80"/>
                </a:solidFill>
              </a:rPr>
              <a:t>CLAMP negativní (3,6 h)</a:t>
            </a:r>
            <a:endParaRPr lang="en-US" sz="850" dirty="0"/>
          </a:p>
        </p:txBody>
      </p:sp>
      <p:sp>
        <p:nvSpPr>
          <p:cNvPr id="33" name="dp2"/>
          <p:cNvSpPr/>
          <p:nvPr/>
        </p:nvSpPr>
        <p:spPr>
          <a:xfrm>
            <a:off x="5078839" y="3602736"/>
            <a:ext cx="201168" cy="201168"/>
          </a:xfrm>
          <a:prstGeom prst="ellipse">
            <a:avLst/>
          </a:prstGeom>
          <a:solidFill>
            <a:srgbClr val="8D99AE"/>
          </a:solidFill>
          <a:ln w="12700">
            <a:solidFill>
              <a:srgbClr val="FFFFFF"/>
            </a:solidFill>
            <a:prstDash val="solid"/>
          </a:ln>
        </p:spPr>
      </p:sp>
      <p:sp>
        <p:nvSpPr>
          <p:cNvPr id="34" name="dl2"/>
          <p:cNvSpPr/>
          <p:nvPr/>
        </p:nvSpPr>
        <p:spPr>
          <a:xfrm>
            <a:off x="5179423" y="3803904"/>
            <a:ext cx="0" cy="265176"/>
          </a:xfrm>
          <a:prstGeom prst="line">
            <a:avLst/>
          </a:prstGeom>
          <a:noFill/>
          <a:ln w="9525">
            <a:solidFill>
              <a:srgbClr val="8D99AE"/>
            </a:solidFill>
            <a:prstDash val="solid"/>
          </a:ln>
        </p:spPr>
      </p:sp>
      <p:sp>
        <p:nvSpPr>
          <p:cNvPr id="35" name="dtx2"/>
          <p:cNvSpPr txBox="1"/>
          <p:nvPr/>
        </p:nvSpPr>
        <p:spPr>
          <a:xfrm>
            <a:off x="3716383" y="4069080"/>
            <a:ext cx="1920240" cy="640080"/>
          </a:xfrm>
          <a:prstGeom prst="rect">
            <a:avLst/>
          </a:prstGeom>
          <a:noFill/>
          <a:ln/>
        </p:spPr>
        <p:txBody>
          <a:bodyPr wrap="square" lIns="0" tIns="0" rIns="0" bIns="0" rtlCol="0" anchor="t"/>
          <a:lstStyle/>
          <a:p>
            <a:pPr algn="ctr" indent="0" marL="0">
              <a:buNone/>
            </a:pPr>
            <a:r>
              <a:rPr lang="en-US" sz="850" dirty="0">
                <a:solidFill>
                  <a:srgbClr val="3D5A80"/>
                </a:solidFill>
              </a:rPr>
              <a:t>Shaw 2016 · DM2, n 298, 6 měs.</a:t>
            </a:r>
            <a:endParaRPr lang="en-US" sz="850" dirty="0"/>
          </a:p>
          <a:p>
            <a:pPr algn="ctr" indent="0" marL="0">
              <a:buNone/>
            </a:pPr>
            <a:r>
              <a:rPr lang="en-US" sz="850" dirty="0">
                <a:solidFill>
                  <a:srgbClr val="3D5A80"/>
                </a:solidFill>
              </a:rPr>
              <a:t>HbA1c NS i u adherentních (4,9 h*)</a:t>
            </a:r>
            <a:endParaRPr lang="en-US" sz="850" dirty="0"/>
          </a:p>
        </p:txBody>
      </p:sp>
      <p:sp>
        <p:nvSpPr>
          <p:cNvPr id="36" name="dp3"/>
          <p:cNvSpPr/>
          <p:nvPr/>
        </p:nvSpPr>
        <p:spPr>
          <a:xfrm>
            <a:off x="5529507" y="3602736"/>
            <a:ext cx="201168" cy="201168"/>
          </a:xfrm>
          <a:prstGeom prst="ellipse">
            <a:avLst/>
          </a:prstGeom>
          <a:solidFill>
            <a:srgbClr val="2A9D8F"/>
          </a:solidFill>
          <a:ln w="12700">
            <a:solidFill>
              <a:srgbClr val="FFFFFF"/>
            </a:solidFill>
            <a:prstDash val="solid"/>
          </a:ln>
        </p:spPr>
      </p:sp>
      <p:sp>
        <p:nvSpPr>
          <p:cNvPr id="37" name="dl3"/>
          <p:cNvSpPr/>
          <p:nvPr/>
        </p:nvSpPr>
        <p:spPr>
          <a:xfrm>
            <a:off x="5630091" y="2651760"/>
            <a:ext cx="0" cy="950976"/>
          </a:xfrm>
          <a:prstGeom prst="line">
            <a:avLst/>
          </a:prstGeom>
          <a:noFill/>
          <a:ln w="9525">
            <a:solidFill>
              <a:srgbClr val="2A9D8F"/>
            </a:solidFill>
            <a:prstDash val="dash"/>
          </a:ln>
        </p:spPr>
      </p:sp>
      <p:sp>
        <p:nvSpPr>
          <p:cNvPr id="38" name="dtx3"/>
          <p:cNvSpPr txBox="1"/>
          <p:nvPr/>
        </p:nvSpPr>
        <p:spPr>
          <a:xfrm>
            <a:off x="4669971" y="2011680"/>
            <a:ext cx="1920240" cy="640080"/>
          </a:xfrm>
          <a:prstGeom prst="rect">
            <a:avLst/>
          </a:prstGeom>
          <a:noFill/>
          <a:ln/>
        </p:spPr>
        <p:txBody>
          <a:bodyPr wrap="square" lIns="0" tIns="0" rIns="0" bIns="0" rtlCol="0" anchor="b"/>
          <a:lstStyle/>
          <a:p>
            <a:pPr algn="ctr" indent="0" marL="0">
              <a:buNone/>
            </a:pPr>
            <a:r>
              <a:rPr lang="en-US" sz="850" dirty="0">
                <a:solidFill>
                  <a:srgbClr val="2A9D8F"/>
                </a:solidFill>
              </a:rPr>
              <a:t>Martínez-Cerón 2016 · DM2, n 50, HbA1c 7,6 %</a:t>
            </a:r>
            <a:endParaRPr lang="en-US" sz="850" dirty="0"/>
          </a:p>
          <a:p>
            <a:pPr algn="ctr" indent="0" marL="0">
              <a:buNone/>
            </a:pPr>
            <a:r>
              <a:rPr lang="en-US" sz="850" dirty="0">
                <a:solidFill>
                  <a:srgbClr val="2A9D8F"/>
                </a:solidFill>
              </a:rPr>
              <a:t>HbA1c ↓, HOMA ↓ (5,2 h*)</a:t>
            </a:r>
            <a:endParaRPr lang="en-US" sz="850" dirty="0"/>
          </a:p>
        </p:txBody>
      </p:sp>
      <p:sp>
        <p:nvSpPr>
          <p:cNvPr id="39" name="dp4"/>
          <p:cNvSpPr/>
          <p:nvPr/>
        </p:nvSpPr>
        <p:spPr>
          <a:xfrm>
            <a:off x="5829953" y="3602736"/>
            <a:ext cx="201168" cy="201168"/>
          </a:xfrm>
          <a:prstGeom prst="ellipse">
            <a:avLst/>
          </a:prstGeom>
          <a:solidFill>
            <a:srgbClr val="8D99AE"/>
          </a:solidFill>
          <a:ln w="12700">
            <a:solidFill>
              <a:srgbClr val="FFFFFF"/>
            </a:solidFill>
            <a:prstDash val="solid"/>
          </a:ln>
        </p:spPr>
      </p:sp>
      <p:sp>
        <p:nvSpPr>
          <p:cNvPr id="40" name="dl4"/>
          <p:cNvSpPr/>
          <p:nvPr/>
        </p:nvSpPr>
        <p:spPr>
          <a:xfrm>
            <a:off x="5930537" y="3803904"/>
            <a:ext cx="0" cy="1088136"/>
          </a:xfrm>
          <a:prstGeom prst="line">
            <a:avLst/>
          </a:prstGeom>
          <a:noFill/>
          <a:ln w="9525">
            <a:solidFill>
              <a:srgbClr val="8D99AE"/>
            </a:solidFill>
            <a:prstDash val="dash"/>
          </a:ln>
        </p:spPr>
      </p:sp>
      <p:sp>
        <p:nvSpPr>
          <p:cNvPr id="41" name="dtx4"/>
          <p:cNvSpPr txBox="1"/>
          <p:nvPr/>
        </p:nvSpPr>
        <p:spPr>
          <a:xfrm>
            <a:off x="5244737" y="4892040"/>
            <a:ext cx="1920240" cy="640080"/>
          </a:xfrm>
          <a:prstGeom prst="rect">
            <a:avLst/>
          </a:prstGeom>
          <a:noFill/>
          <a:ln/>
        </p:spPr>
        <p:txBody>
          <a:bodyPr wrap="square" lIns="0" tIns="0" rIns="0" bIns="0" rtlCol="0" anchor="t"/>
          <a:lstStyle/>
          <a:p>
            <a:pPr algn="ctr" indent="0" marL="0">
              <a:buNone/>
            </a:pPr>
            <a:r>
              <a:rPr lang="en-US" sz="850" dirty="0">
                <a:solidFill>
                  <a:srgbClr val="3D5A80"/>
                </a:solidFill>
              </a:rPr>
              <a:t>Aurora 2023 · DM2, CGM, n 184</a:t>
            </a:r>
            <a:endParaRPr lang="en-US" sz="850" dirty="0"/>
          </a:p>
          <a:p>
            <a:pPr algn="ctr" indent="0" marL="0">
              <a:buNone/>
            </a:pPr>
            <a:r>
              <a:rPr lang="en-US" sz="850" dirty="0">
                <a:solidFill>
                  <a:srgbClr val="3D5A80"/>
                </a:solidFill>
              </a:rPr>
              <a:t>NS (5,4 h)</a:t>
            </a:r>
            <a:endParaRPr lang="en-US" sz="850" dirty="0"/>
          </a:p>
        </p:txBody>
      </p:sp>
      <p:sp>
        <p:nvSpPr>
          <p:cNvPr id="42" name="dp5"/>
          <p:cNvSpPr/>
          <p:nvPr/>
        </p:nvSpPr>
        <p:spPr>
          <a:xfrm>
            <a:off x="6130399" y="3602736"/>
            <a:ext cx="201168" cy="201168"/>
          </a:xfrm>
          <a:prstGeom prst="ellipse">
            <a:avLst/>
          </a:prstGeom>
          <a:solidFill>
            <a:srgbClr val="8D99AE"/>
          </a:solidFill>
          <a:ln w="12700">
            <a:solidFill>
              <a:srgbClr val="FFFFFF"/>
            </a:solidFill>
            <a:prstDash val="solid"/>
          </a:ln>
        </p:spPr>
      </p:sp>
      <p:sp>
        <p:nvSpPr>
          <p:cNvPr id="43" name="dl5"/>
          <p:cNvSpPr/>
          <p:nvPr/>
        </p:nvSpPr>
        <p:spPr>
          <a:xfrm>
            <a:off x="6230983" y="3474720"/>
            <a:ext cx="0" cy="128016"/>
          </a:xfrm>
          <a:prstGeom prst="line">
            <a:avLst/>
          </a:prstGeom>
          <a:noFill/>
          <a:ln w="9525">
            <a:solidFill>
              <a:srgbClr val="8D99AE"/>
            </a:solidFill>
            <a:prstDash val="solid"/>
          </a:ln>
        </p:spPr>
      </p:sp>
      <p:sp>
        <p:nvSpPr>
          <p:cNvPr id="44" name="dtx5"/>
          <p:cNvSpPr txBox="1"/>
          <p:nvPr/>
        </p:nvSpPr>
        <p:spPr>
          <a:xfrm>
            <a:off x="5819503" y="2834640"/>
            <a:ext cx="1920240" cy="640080"/>
          </a:xfrm>
          <a:prstGeom prst="rect">
            <a:avLst/>
          </a:prstGeom>
          <a:noFill/>
          <a:ln/>
        </p:spPr>
        <p:txBody>
          <a:bodyPr wrap="square" lIns="0" tIns="0" rIns="0" bIns="0" rtlCol="0" anchor="b"/>
          <a:lstStyle/>
          <a:p>
            <a:pPr algn="ctr" indent="0" marL="0">
              <a:buNone/>
            </a:pPr>
            <a:r>
              <a:rPr lang="en-US" sz="850" dirty="0">
                <a:solidFill>
                  <a:srgbClr val="3D5A80"/>
                </a:solidFill>
              </a:rPr>
              <a:t>Banghøj 2021 · DM2, CGM, n 72</a:t>
            </a:r>
            <a:endParaRPr lang="en-US" sz="850" dirty="0"/>
          </a:p>
          <a:p>
            <a:pPr algn="ctr" indent="0" marL="0">
              <a:buNone/>
            </a:pPr>
            <a:r>
              <a:rPr lang="en-US" sz="850" dirty="0">
                <a:solidFill>
                  <a:srgbClr val="3D5A80"/>
                </a:solidFill>
              </a:rPr>
              <a:t>NS i ≥ 4 h (5,6 h*)</a:t>
            </a:r>
            <a:endParaRPr lang="en-US" sz="850" dirty="0"/>
          </a:p>
        </p:txBody>
      </p:sp>
      <p:sp>
        <p:nvSpPr>
          <p:cNvPr id="45" name="dp6"/>
          <p:cNvSpPr/>
          <p:nvPr/>
        </p:nvSpPr>
        <p:spPr>
          <a:xfrm>
            <a:off x="8233519" y="3602736"/>
            <a:ext cx="201168" cy="201168"/>
          </a:xfrm>
          <a:prstGeom prst="ellipse">
            <a:avLst/>
          </a:prstGeom>
          <a:solidFill>
            <a:srgbClr val="2A9D8F"/>
          </a:solidFill>
          <a:ln w="12700">
            <a:solidFill>
              <a:srgbClr val="FFFFFF"/>
            </a:solidFill>
            <a:prstDash val="solid"/>
          </a:ln>
        </p:spPr>
      </p:sp>
      <p:sp>
        <p:nvSpPr>
          <p:cNvPr id="46" name="dl6"/>
          <p:cNvSpPr/>
          <p:nvPr/>
        </p:nvSpPr>
        <p:spPr>
          <a:xfrm>
            <a:off x="8334103" y="3803904"/>
            <a:ext cx="0" cy="265176"/>
          </a:xfrm>
          <a:prstGeom prst="line">
            <a:avLst/>
          </a:prstGeom>
          <a:noFill/>
          <a:ln w="9525">
            <a:solidFill>
              <a:srgbClr val="2A9D8F"/>
            </a:solidFill>
            <a:prstDash val="solid"/>
          </a:ln>
        </p:spPr>
      </p:sp>
      <p:sp>
        <p:nvSpPr>
          <p:cNvPr id="47" name="dtx6"/>
          <p:cNvSpPr txBox="1"/>
          <p:nvPr/>
        </p:nvSpPr>
        <p:spPr>
          <a:xfrm>
            <a:off x="7373983" y="4069080"/>
            <a:ext cx="1920240" cy="640080"/>
          </a:xfrm>
          <a:prstGeom prst="rect">
            <a:avLst/>
          </a:prstGeom>
          <a:noFill/>
          <a:ln/>
        </p:spPr>
        <p:txBody>
          <a:bodyPr wrap="square" lIns="0" tIns="0" rIns="0" bIns="0" rtlCol="0" anchor="t"/>
          <a:lstStyle/>
          <a:p>
            <a:pPr algn="ctr" indent="0" marL="0">
              <a:buNone/>
            </a:pPr>
            <a:r>
              <a:rPr lang="en-US" sz="850" dirty="0">
                <a:solidFill>
                  <a:srgbClr val="2A9D8F"/>
                </a:solidFill>
              </a:rPr>
              <a:t>Chasens 2022 · DM2, sham, n 98</a:t>
            </a:r>
            <a:endParaRPr lang="en-US" sz="850" dirty="0"/>
          </a:p>
          <a:p>
            <a:pPr algn="ctr" indent="0" marL="0">
              <a:buNone/>
            </a:pPr>
            <a:r>
              <a:rPr lang="en-US" sz="850" dirty="0">
                <a:solidFill>
                  <a:srgbClr val="2A9D8F"/>
                </a:solidFill>
              </a:rPr>
              <a:t>ITT NS; ≥ 7 h → HbA1c ↓ (b 0,54; p = 0,001)</a:t>
            </a:r>
            <a:endParaRPr lang="en-US" sz="850" dirty="0"/>
          </a:p>
        </p:txBody>
      </p:sp>
      <p:sp>
        <p:nvSpPr>
          <p:cNvPr id="48" name="dp7"/>
          <p:cNvSpPr/>
          <p:nvPr/>
        </p:nvSpPr>
        <p:spPr>
          <a:xfrm>
            <a:off x="9585525" y="3602736"/>
            <a:ext cx="201168" cy="201168"/>
          </a:xfrm>
          <a:prstGeom prst="ellipse">
            <a:avLst/>
          </a:prstGeom>
          <a:solidFill>
            <a:srgbClr val="2A9D8F"/>
          </a:solidFill>
          <a:ln w="12700">
            <a:solidFill>
              <a:srgbClr val="FFFFFF"/>
            </a:solidFill>
            <a:prstDash val="solid"/>
          </a:ln>
        </p:spPr>
      </p:sp>
      <p:sp>
        <p:nvSpPr>
          <p:cNvPr id="49" name="dl7"/>
          <p:cNvSpPr/>
          <p:nvPr/>
        </p:nvSpPr>
        <p:spPr>
          <a:xfrm>
            <a:off x="9686109" y="3474720"/>
            <a:ext cx="0" cy="128016"/>
          </a:xfrm>
          <a:prstGeom prst="line">
            <a:avLst/>
          </a:prstGeom>
          <a:noFill/>
          <a:ln w="9525">
            <a:solidFill>
              <a:srgbClr val="2A9D8F"/>
            </a:solidFill>
            <a:prstDash val="solid"/>
          </a:ln>
        </p:spPr>
      </p:sp>
      <p:sp>
        <p:nvSpPr>
          <p:cNvPr id="50" name="dtx7"/>
          <p:cNvSpPr txBox="1"/>
          <p:nvPr/>
        </p:nvSpPr>
        <p:spPr>
          <a:xfrm>
            <a:off x="8725989" y="2834640"/>
            <a:ext cx="1920240" cy="640080"/>
          </a:xfrm>
          <a:prstGeom prst="rect">
            <a:avLst/>
          </a:prstGeom>
          <a:noFill/>
          <a:ln/>
        </p:spPr>
        <p:txBody>
          <a:bodyPr wrap="square" lIns="0" tIns="0" rIns="0" bIns="0" rtlCol="0" anchor="b"/>
          <a:lstStyle/>
          <a:p>
            <a:pPr algn="ctr" indent="0" marL="0">
              <a:buNone/>
            </a:pPr>
            <a:r>
              <a:rPr lang="en-US" sz="850" dirty="0">
                <a:solidFill>
                  <a:srgbClr val="2A9D8F"/>
                </a:solidFill>
              </a:rPr>
              <a:t>Mokhlesi 2017 · DM2, in-lab 1 týden</a:t>
            </a:r>
            <a:endParaRPr lang="en-US" sz="850" dirty="0"/>
          </a:p>
          <a:p>
            <a:pPr algn="ctr" indent="0" marL="0">
              <a:buNone/>
            </a:pPr>
            <a:r>
              <a:rPr lang="en-US" sz="850" dirty="0">
                <a:solidFill>
                  <a:srgbClr val="2A9D8F"/>
                </a:solidFill>
              </a:rPr>
              <a:t>24h glykémie −13,5 mg/dl (7,9 h*)</a:t>
            </a:r>
            <a:endParaRPr lang="en-US" sz="850" dirty="0"/>
          </a:p>
        </p:txBody>
      </p:sp>
      <p:sp>
        <p:nvSpPr>
          <p:cNvPr id="51" name="dp8"/>
          <p:cNvSpPr/>
          <p:nvPr/>
        </p:nvSpPr>
        <p:spPr>
          <a:xfrm>
            <a:off x="9735747" y="3602736"/>
            <a:ext cx="201168" cy="201168"/>
          </a:xfrm>
          <a:prstGeom prst="ellipse">
            <a:avLst/>
          </a:prstGeom>
          <a:solidFill>
            <a:srgbClr val="2A9D8F"/>
          </a:solidFill>
          <a:ln w="12700">
            <a:solidFill>
              <a:srgbClr val="FFFFFF"/>
            </a:solidFill>
            <a:prstDash val="solid"/>
          </a:ln>
        </p:spPr>
      </p:sp>
      <p:sp>
        <p:nvSpPr>
          <p:cNvPr id="52" name="dl8"/>
          <p:cNvSpPr/>
          <p:nvPr/>
        </p:nvSpPr>
        <p:spPr>
          <a:xfrm>
            <a:off x="9836331" y="3803904"/>
            <a:ext cx="0" cy="1088136"/>
          </a:xfrm>
          <a:prstGeom prst="line">
            <a:avLst/>
          </a:prstGeom>
          <a:noFill/>
          <a:ln w="9525">
            <a:solidFill>
              <a:srgbClr val="2A9D8F"/>
            </a:solidFill>
            <a:prstDash val="dash"/>
          </a:ln>
        </p:spPr>
      </p:sp>
      <p:sp>
        <p:nvSpPr>
          <p:cNvPr id="53" name="dtx8"/>
          <p:cNvSpPr txBox="1"/>
          <p:nvPr/>
        </p:nvSpPr>
        <p:spPr>
          <a:xfrm>
            <a:off x="8876211" y="4892040"/>
            <a:ext cx="1920240" cy="640080"/>
          </a:xfrm>
          <a:prstGeom prst="rect">
            <a:avLst/>
          </a:prstGeom>
          <a:noFill/>
          <a:ln/>
        </p:spPr>
        <p:txBody>
          <a:bodyPr wrap="square" lIns="0" tIns="0" rIns="0" bIns="0" rtlCol="0" anchor="t"/>
          <a:lstStyle/>
          <a:p>
            <a:pPr algn="ctr" indent="0" marL="0">
              <a:buNone/>
            </a:pPr>
            <a:r>
              <a:rPr lang="en-US" sz="850" dirty="0">
                <a:solidFill>
                  <a:srgbClr val="2A9D8F"/>
                </a:solidFill>
              </a:rPr>
              <a:t>Pamidi 2015 · prediabetes, in-lab 2 týdny</a:t>
            </a:r>
            <a:endParaRPr lang="en-US" sz="850" dirty="0"/>
          </a:p>
          <a:p>
            <a:pPr algn="ctr" indent="0" marL="0">
              <a:buNone/>
            </a:pPr>
            <a:r>
              <a:rPr lang="en-US" sz="850" dirty="0">
                <a:solidFill>
                  <a:srgbClr val="2A9D8F"/>
                </a:solidFill>
              </a:rPr>
              <a:t>AUC glukózy ↓, inz. senzitivita ↑ (8 h předepsáno)</a:t>
            </a:r>
            <a:endParaRPr lang="en-US" sz="850" dirty="0"/>
          </a:p>
        </p:txBody>
      </p:sp>
      <p:sp>
        <p:nvSpPr>
          <p:cNvPr id="54" name="metareg"/>
          <p:cNvSpPr txBox="1"/>
          <p:nvPr/>
        </p:nvSpPr>
        <p:spPr>
          <a:xfrm>
            <a:off x="457200" y="5577840"/>
            <a:ext cx="7863840" cy="411480"/>
          </a:xfrm>
          <a:prstGeom prst="rect">
            <a:avLst/>
          </a:prstGeom>
          <a:noFill/>
          <a:ln/>
        </p:spPr>
        <p:txBody>
          <a:bodyPr wrap="square" lIns="0" tIns="0" rIns="0" bIns="0" rtlCol="0" anchor="ctr"/>
          <a:lstStyle/>
          <a:p>
            <a:pPr indent="0" marL="0">
              <a:buNone/>
            </a:pPr>
            <a:r>
              <a:rPr lang="en-US" sz="1000" b="1" dirty="0">
                <a:solidFill>
                  <a:srgbClr val="2A9D8F"/>
                </a:solidFill>
              </a:rPr>
              <a:t>Meta-regrese (Herth 2023, 11 RCT, n 964): každá hodina nočního užívání navíc → HbA1c −0,17 % (−0,31 až −0,04; p = 0,010); vyšší výchozí HbA1c → větší pokles (−0,34; p = 0,001).</a:t>
            </a:r>
            <a:endParaRPr lang="en-US" sz="1000" dirty="0"/>
          </a:p>
        </p:txBody>
      </p:sp>
      <p:sp>
        <p:nvSpPr>
          <p:cNvPr id="55" name="leg"/>
          <p:cNvSpPr txBox="1"/>
          <p:nvPr/>
        </p:nvSpPr>
        <p:spPr>
          <a:xfrm>
            <a:off x="8503920" y="5577840"/>
            <a:ext cx="3246120" cy="411480"/>
          </a:xfrm>
          <a:prstGeom prst="rect">
            <a:avLst/>
          </a:prstGeom>
          <a:noFill/>
          <a:ln/>
        </p:spPr>
        <p:txBody>
          <a:bodyPr wrap="square" lIns="0" tIns="0" rIns="0" bIns="0" rtlCol="0" anchor="ctr"/>
          <a:lstStyle/>
          <a:p>
            <a:pPr indent="0" marL="0">
              <a:buNone/>
            </a:pPr>
            <a:r>
              <a:rPr lang="en-US" sz="800" dirty="0">
                <a:solidFill>
                  <a:srgbClr val="8D99AE"/>
                </a:solidFill>
              </a:rPr>
              <a:t>● pozitivní  ● negativní / NS   * adherence dle tab. 1 v MA Herth 2023 / Wu 2026 (sekundární zdroj)</a:t>
            </a:r>
            <a:endParaRPr lang="en-US" sz="800" dirty="0"/>
          </a:p>
        </p:txBody>
      </p:sp>
      <p:sp>
        <p:nvSpPr>
          <p:cNvPr id="56"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West, Thorax 2007 · Lam, Sleep Breath 2017 · Shaw, AJRCCM 2016 · Martínez-Cerón, AJRCCM 2016 · Banghøj 2021 · Aurora, Chest 2023 · Chasens, Endocr Pract 2022 · Mokhlesi, Diabetes Obes Metab 2017 · Pamidi, AJRCCM 2015 · Herth, Eur Respir Rev 2023</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Intervence III: redukce hmotnosti je metabolicky silnější než CPAP</a:t>
            </a:r>
            <a:endParaRPr lang="en-US" sz="2500" dirty="0"/>
          </a:p>
        </p:txBody>
      </p:sp>
      <p:sp>
        <p:nvSpPr>
          <p:cNvPr id="3" name="tag-MA obs."/>
          <p:cNvSpPr/>
          <p:nvPr/>
        </p:nvSpPr>
        <p:spPr>
          <a:xfrm>
            <a:off x="10753344" y="384048"/>
            <a:ext cx="996696" cy="310896"/>
          </a:xfrm>
          <a:prstGeom prst="roundRect">
            <a:avLst>
              <a:gd name="adj" fmla="val 23529"/>
            </a:avLst>
          </a:prstGeom>
          <a:solidFill>
            <a:srgbClr val="3D5A80"/>
          </a:solidFill>
          <a:ln w="12700">
            <a:solidFill>
              <a:srgbClr val="3D5A80"/>
            </a:solidFill>
            <a:prstDash val="solid"/>
          </a:ln>
        </p:spPr>
      </p:sp>
      <p:sp>
        <p:nvSpPr>
          <p:cNvPr id="4" name="tag-text-MA obs."/>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MA obs.</a:t>
            </a:r>
            <a:endParaRPr lang="en-US" sz="1000" dirty="0"/>
          </a:p>
        </p:txBody>
      </p:sp>
      <p:sp>
        <p:nvSpPr>
          <p:cNvPr id="5" name="tag-MA RCT"/>
          <p:cNvSpPr/>
          <p:nvPr/>
        </p:nvSpPr>
        <p:spPr>
          <a:xfrm>
            <a:off x="9793224" y="384048"/>
            <a:ext cx="886968" cy="310896"/>
          </a:xfrm>
          <a:prstGeom prst="roundRect">
            <a:avLst>
              <a:gd name="adj" fmla="val 23529"/>
            </a:avLst>
          </a:prstGeom>
          <a:solidFill>
            <a:srgbClr val="2A9D8F"/>
          </a:solidFill>
          <a:ln w="12700">
            <a:solidFill>
              <a:srgbClr val="2A9D8F"/>
            </a:solidFill>
            <a:prstDash val="solid"/>
          </a:ln>
        </p:spPr>
      </p:sp>
      <p:sp>
        <p:nvSpPr>
          <p:cNvPr id="6" name="tag-text-MA RCT"/>
          <p:cNvSpPr txBox="1"/>
          <p:nvPr/>
        </p:nvSpPr>
        <p:spPr>
          <a:xfrm>
            <a:off x="9793224"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MA RCT</a:t>
            </a:r>
            <a:endParaRPr lang="en-US" sz="1000" dirty="0"/>
          </a:p>
        </p:txBody>
      </p:sp>
      <p:sp>
        <p:nvSpPr>
          <p:cNvPr id="7" name="tag-RCT"/>
          <p:cNvSpPr/>
          <p:nvPr/>
        </p:nvSpPr>
        <p:spPr>
          <a:xfrm>
            <a:off x="8851392" y="384048"/>
            <a:ext cx="868680" cy="310896"/>
          </a:xfrm>
          <a:prstGeom prst="roundRect">
            <a:avLst>
              <a:gd name="adj" fmla="val 23529"/>
            </a:avLst>
          </a:prstGeom>
          <a:solidFill>
            <a:srgbClr val="2A9D8F"/>
          </a:solidFill>
          <a:ln w="12700">
            <a:solidFill>
              <a:srgbClr val="2A9D8F"/>
            </a:solidFill>
            <a:prstDash val="solid"/>
          </a:ln>
        </p:spPr>
      </p:sp>
      <p:sp>
        <p:nvSpPr>
          <p:cNvPr id="8" name="tag-text-RCT"/>
          <p:cNvSpPr txBox="1"/>
          <p:nvPr/>
        </p:nvSpPr>
        <p:spPr>
          <a:xfrm>
            <a:off x="8851392" y="384048"/>
            <a:ext cx="868680" cy="310896"/>
          </a:xfrm>
          <a:prstGeom prst="rect">
            <a:avLst/>
          </a:prstGeom>
          <a:noFill/>
          <a:ln/>
        </p:spPr>
        <p:txBody>
          <a:bodyPr wrap="square" lIns="0" tIns="0" rIns="0" bIns="0" rtlCol="0" anchor="ctr"/>
          <a:lstStyle/>
          <a:p>
            <a:pPr algn="ctr" indent="0" marL="0">
              <a:buNone/>
            </a:pPr>
            <a:r>
              <a:rPr lang="en-US" sz="1000" b="1" dirty="0">
                <a:solidFill>
                  <a:srgbClr val="FFFFFF"/>
                </a:solidFill>
              </a:rPr>
              <a:t>RCT</a:t>
            </a:r>
            <a:endParaRPr lang="en-US" sz="1000" dirty="0"/>
          </a:p>
        </p:txBody>
      </p:sp>
      <p:sp>
        <p:nvSpPr>
          <p:cNvPr id="9"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V RCT CPAP vs. redukce hmotnosti vs. obojí klesly CRP, inzulinová rezistence a TG jen s úbytkem hmotnosti; hubnutí snižuje AHI o 6–23/h, bariatrie o ~38/h – zpravidla bez normalizace.</a:t>
            </a:r>
            <a:endParaRPr lang="en-US" sz="1500" dirty="0"/>
          </a:p>
        </p:txBody>
      </p:sp>
      <p:graphicFrame>
        <p:nvGraphicFramePr>
          <p:cNvPr id="10" name="Chart 0" descr=""/>
          <p:cNvGraphicFramePr/>
          <p:nvPr/>
        </p:nvGraphicFramePr>
        <p:xfrm>
          <a:off x="457200" y="1828800"/>
          <a:ext cx="292608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Chart 1" descr=""/>
          <p:cNvGraphicFramePr/>
          <p:nvPr/>
        </p:nvGraphicFramePr>
        <p:xfrm>
          <a:off x="3566160" y="1828800"/>
          <a:ext cx="2926080" cy="2377440"/>
        </p:xfrm>
        <a:graphic xmlns:a="http://schemas.openxmlformats.org/drawingml/2006/main">
          <a:graphicData uri="http://schemas.openxmlformats.org/drawingml/2006/chart">
            <c:chart xmlns:c="http://schemas.openxmlformats.org/drawingml/2006/chart" r:id="rId2"/>
          </a:graphicData>
        </a:graphic>
      </p:graphicFrame>
      <p:sp>
        <p:nvSpPr>
          <p:cNvPr id="12" name="chir"/>
          <p:cNvSpPr txBox="1"/>
          <p:nvPr/>
        </p:nvSpPr>
        <p:spPr>
          <a:xfrm>
            <a:off x="457200" y="4251960"/>
            <a:ext cx="6035040" cy="685800"/>
          </a:xfrm>
          <a:prstGeom prst="rect">
            <a:avLst/>
          </a:prstGeom>
          <a:noFill/>
          <a:ln/>
        </p:spPr>
        <p:txBody>
          <a:bodyPr wrap="square" lIns="0" tIns="0" rIns="0" bIns="0" rtlCol="0" anchor="ctr"/>
          <a:lstStyle/>
          <a:p>
            <a:pPr indent="0" marL="0">
              <a:buNone/>
            </a:pPr>
            <a:r>
              <a:rPr lang="en-US" sz="1000" dirty="0">
                <a:solidFill>
                  <a:srgbClr val="3D5A80"/>
                </a:solidFill>
              </a:rPr>
              <a:t>Chirinos 2014 (NEJM): 181 obézních, AHI ≥ 15, CRP &gt; 1, bez DM. CRP, inzulinová rezistence (FSIVGTT) a TG klesly pouze v ramenech s redukcí hmotnosti; CPAP adherence 4,0 h/noc. Per-protokol TK = nerandomizovaná analýza.</a:t>
            </a:r>
            <a:endParaRPr lang="en-US" sz="1000" dirty="0"/>
          </a:p>
        </p:txBody>
      </p:sp>
      <p:sp>
        <p:nvSpPr>
          <p:cNvPr id="13" name="fh1"/>
          <p:cNvSpPr txBox="1"/>
          <p:nvPr/>
        </p:nvSpPr>
        <p:spPr>
          <a:xfrm>
            <a:off x="6720840" y="1856232"/>
            <a:ext cx="2240280" cy="274320"/>
          </a:xfrm>
          <a:prstGeom prst="rect">
            <a:avLst/>
          </a:prstGeom>
          <a:noFill/>
          <a:ln/>
        </p:spPr>
        <p:txBody>
          <a:bodyPr wrap="square" lIns="0" tIns="0" rIns="0" bIns="0" rtlCol="0" anchor="ctr"/>
          <a:lstStyle/>
          <a:p>
            <a:pPr indent="0" marL="0">
              <a:buNone/>
            </a:pPr>
            <a:r>
              <a:rPr lang="en-US" sz="1000" b="1" dirty="0">
                <a:solidFill>
                  <a:srgbClr val="8D99AE"/>
                </a:solidFill>
              </a:rPr>
              <a:t>Redukce hmotnosti → AHI</a:t>
            </a:r>
            <a:endParaRPr lang="en-US" sz="1000" dirty="0"/>
          </a:p>
        </p:txBody>
      </p:sp>
      <p:sp>
        <p:nvSpPr>
          <p:cNvPr id="14" name="fh2"/>
          <p:cNvSpPr txBox="1"/>
          <p:nvPr/>
        </p:nvSpPr>
        <p:spPr>
          <a:xfrm>
            <a:off x="10424160" y="1856232"/>
            <a:ext cx="1463040" cy="274320"/>
          </a:xfrm>
          <a:prstGeom prst="rect">
            <a:avLst/>
          </a:prstGeom>
          <a:noFill/>
          <a:ln/>
        </p:spPr>
        <p:txBody>
          <a:bodyPr wrap="square" lIns="0" tIns="0" rIns="0" bIns="0" rtlCol="0" anchor="ctr"/>
          <a:lstStyle/>
          <a:p>
            <a:pPr indent="0" marL="0">
              <a:buNone/>
            </a:pPr>
            <a:r>
              <a:rPr lang="en-US" sz="1000" b="1" dirty="0">
                <a:solidFill>
                  <a:srgbClr val="8D99AE"/>
                </a:solidFill>
              </a:rPr>
              <a:t>Δ AHI (95 % CI)</a:t>
            </a:r>
            <a:endParaRPr lang="en-US" sz="1000" dirty="0"/>
          </a:p>
        </p:txBody>
      </p:sp>
      <p:sp>
        <p:nvSpPr>
          <p:cNvPr id="15" name="zebra-0"/>
          <p:cNvSpPr/>
          <p:nvPr/>
        </p:nvSpPr>
        <p:spPr>
          <a:xfrm>
            <a:off x="6720840" y="2148840"/>
            <a:ext cx="5029200" cy="426720"/>
          </a:xfrm>
          <a:prstGeom prst="rect">
            <a:avLst/>
          </a:prstGeom>
          <a:solidFill>
            <a:srgbClr val="EEF2F7"/>
          </a:solidFill>
          <a:ln w="12700">
            <a:solidFill>
              <a:srgbClr val="EEF2F7"/>
            </a:solidFill>
            <a:prstDash val="solid"/>
          </a:ln>
        </p:spPr>
      </p:sp>
      <p:sp>
        <p:nvSpPr>
          <p:cNvPr id="16" name="fl-0"/>
          <p:cNvSpPr txBox="1"/>
          <p:nvPr/>
        </p:nvSpPr>
        <p:spPr>
          <a:xfrm>
            <a:off x="6766560" y="2148840"/>
            <a:ext cx="2148840" cy="426720"/>
          </a:xfrm>
          <a:prstGeom prst="rect">
            <a:avLst/>
          </a:prstGeom>
          <a:noFill/>
          <a:ln/>
        </p:spPr>
        <p:txBody>
          <a:bodyPr wrap="square" lIns="0" tIns="0" rIns="0" bIns="0" rtlCol="0" anchor="ctr"/>
          <a:lstStyle/>
          <a:p>
            <a:pPr indent="0" marL="0">
              <a:buNone/>
            </a:pPr>
            <a:r>
              <a:rPr lang="en-US" sz="1050" dirty="0">
                <a:solidFill>
                  <a:srgbClr val="1B2A41"/>
                </a:solidFill>
              </a:rPr>
              <a:t>Foster 2009 · ILI vs. edukace, DM2, 1 rok (RCT)</a:t>
            </a:r>
            <a:endParaRPr lang="en-US" sz="1050" dirty="0"/>
          </a:p>
        </p:txBody>
      </p:sp>
      <p:sp>
        <p:nvSpPr>
          <p:cNvPr id="17" name="ci-0"/>
          <p:cNvSpPr/>
          <p:nvPr/>
        </p:nvSpPr>
        <p:spPr>
          <a:xfrm>
            <a:off x="9897191" y="2362200"/>
            <a:ext cx="9144" cy="0"/>
          </a:xfrm>
          <a:prstGeom prst="line">
            <a:avLst/>
          </a:prstGeom>
          <a:noFill/>
          <a:ln w="22225">
            <a:solidFill>
              <a:srgbClr val="2A9D8F"/>
            </a:solidFill>
            <a:prstDash val="solid"/>
          </a:ln>
        </p:spPr>
      </p:sp>
      <p:sp>
        <p:nvSpPr>
          <p:cNvPr id="18" name="pt-0"/>
          <p:cNvSpPr/>
          <p:nvPr/>
        </p:nvSpPr>
        <p:spPr>
          <a:xfrm>
            <a:off x="9833183" y="2298192"/>
            <a:ext cx="128016" cy="128016"/>
          </a:xfrm>
          <a:prstGeom prst="rect">
            <a:avLst/>
          </a:prstGeom>
          <a:solidFill>
            <a:srgbClr val="2A9D8F"/>
          </a:solidFill>
          <a:ln w="12700">
            <a:solidFill>
              <a:srgbClr val="2A9D8F"/>
            </a:solidFill>
            <a:prstDash val="solid"/>
          </a:ln>
        </p:spPr>
      </p:sp>
      <p:sp>
        <p:nvSpPr>
          <p:cNvPr id="19" name="fv-0"/>
          <p:cNvSpPr txBox="1"/>
          <p:nvPr/>
        </p:nvSpPr>
        <p:spPr>
          <a:xfrm>
            <a:off x="10424160" y="2148840"/>
            <a:ext cx="1463040" cy="426720"/>
          </a:xfrm>
          <a:prstGeom prst="rect">
            <a:avLst/>
          </a:prstGeom>
          <a:noFill/>
          <a:ln/>
        </p:spPr>
        <p:txBody>
          <a:bodyPr wrap="square" lIns="0" tIns="0" rIns="0" bIns="0" rtlCol="0" anchor="ctr"/>
          <a:lstStyle/>
          <a:p>
            <a:pPr indent="0" marL="0">
              <a:buNone/>
            </a:pPr>
            <a:r>
              <a:rPr lang="en-US" sz="1000" dirty="0">
                <a:solidFill>
                  <a:srgbClr val="1B2A41"/>
                </a:solidFill>
              </a:rPr>
              <a:t>−9,7 (SE 2,0)</a:t>
            </a:r>
            <a:endParaRPr lang="en-US" sz="1000" dirty="0"/>
          </a:p>
        </p:txBody>
      </p:sp>
      <p:sp>
        <p:nvSpPr>
          <p:cNvPr id="20" name="fl-1"/>
          <p:cNvSpPr txBox="1"/>
          <p:nvPr/>
        </p:nvSpPr>
        <p:spPr>
          <a:xfrm>
            <a:off x="6766560" y="2575560"/>
            <a:ext cx="2148840" cy="426720"/>
          </a:xfrm>
          <a:prstGeom prst="rect">
            <a:avLst/>
          </a:prstGeom>
          <a:noFill/>
          <a:ln/>
        </p:spPr>
        <p:txBody>
          <a:bodyPr wrap="square" lIns="0" tIns="0" rIns="0" bIns="0" rtlCol="0" anchor="ctr"/>
          <a:lstStyle/>
          <a:p>
            <a:pPr indent="0" marL="0">
              <a:buNone/>
            </a:pPr>
            <a:r>
              <a:rPr lang="en-US" sz="1050" dirty="0">
                <a:solidFill>
                  <a:srgbClr val="1B2A41"/>
                </a:solidFill>
              </a:rPr>
              <a:t>Johansson 2009 · VLED 9 týdnů, muži (RCT)</a:t>
            </a:r>
            <a:endParaRPr lang="en-US" sz="1050" dirty="0"/>
          </a:p>
        </p:txBody>
      </p:sp>
      <p:sp>
        <p:nvSpPr>
          <p:cNvPr id="21" name="ci-1"/>
          <p:cNvSpPr/>
          <p:nvPr/>
        </p:nvSpPr>
        <p:spPr>
          <a:xfrm>
            <a:off x="9358884" y="2788920"/>
            <a:ext cx="397764" cy="0"/>
          </a:xfrm>
          <a:prstGeom prst="line">
            <a:avLst/>
          </a:prstGeom>
          <a:noFill/>
          <a:ln w="22225">
            <a:solidFill>
              <a:srgbClr val="2A9D8F"/>
            </a:solidFill>
            <a:prstDash val="solid"/>
          </a:ln>
        </p:spPr>
      </p:sp>
      <p:sp>
        <p:nvSpPr>
          <p:cNvPr id="22" name="pt-1"/>
          <p:cNvSpPr/>
          <p:nvPr/>
        </p:nvSpPr>
        <p:spPr>
          <a:xfrm>
            <a:off x="9480499" y="2724912"/>
            <a:ext cx="128016" cy="128016"/>
          </a:xfrm>
          <a:prstGeom prst="rect">
            <a:avLst/>
          </a:prstGeom>
          <a:solidFill>
            <a:srgbClr val="2A9D8F"/>
          </a:solidFill>
          <a:ln w="12700">
            <a:solidFill>
              <a:srgbClr val="2A9D8F"/>
            </a:solidFill>
            <a:prstDash val="solid"/>
          </a:ln>
        </p:spPr>
      </p:sp>
      <p:sp>
        <p:nvSpPr>
          <p:cNvPr id="23" name="fv-1"/>
          <p:cNvSpPr txBox="1"/>
          <p:nvPr/>
        </p:nvSpPr>
        <p:spPr>
          <a:xfrm>
            <a:off x="10424160" y="2575560"/>
            <a:ext cx="1463040" cy="426720"/>
          </a:xfrm>
          <a:prstGeom prst="rect">
            <a:avLst/>
          </a:prstGeom>
          <a:noFill/>
          <a:ln/>
        </p:spPr>
        <p:txBody>
          <a:bodyPr wrap="square" lIns="0" tIns="0" rIns="0" bIns="0" rtlCol="0" anchor="ctr"/>
          <a:lstStyle/>
          <a:p>
            <a:pPr indent="0" marL="0">
              <a:buNone/>
            </a:pPr>
            <a:r>
              <a:rPr lang="en-US" sz="1000" dirty="0">
                <a:solidFill>
                  <a:srgbClr val="1B2A41"/>
                </a:solidFill>
              </a:rPr>
              <a:t>−23 (−30 až −15)</a:t>
            </a:r>
            <a:endParaRPr lang="en-US" sz="1000" dirty="0"/>
          </a:p>
        </p:txBody>
      </p:sp>
      <p:sp>
        <p:nvSpPr>
          <p:cNvPr id="24" name="zebra-2"/>
          <p:cNvSpPr/>
          <p:nvPr/>
        </p:nvSpPr>
        <p:spPr>
          <a:xfrm>
            <a:off x="6720840" y="3002280"/>
            <a:ext cx="5029200" cy="426720"/>
          </a:xfrm>
          <a:prstGeom prst="rect">
            <a:avLst/>
          </a:prstGeom>
          <a:solidFill>
            <a:srgbClr val="EEF2F7"/>
          </a:solidFill>
          <a:ln w="12700">
            <a:solidFill>
              <a:srgbClr val="EEF2F7"/>
            </a:solidFill>
            <a:prstDash val="solid"/>
          </a:ln>
        </p:spPr>
      </p:sp>
      <p:sp>
        <p:nvSpPr>
          <p:cNvPr id="25" name="fl-2"/>
          <p:cNvSpPr txBox="1"/>
          <p:nvPr/>
        </p:nvSpPr>
        <p:spPr>
          <a:xfrm>
            <a:off x="6766560" y="3002280"/>
            <a:ext cx="2148840" cy="426720"/>
          </a:xfrm>
          <a:prstGeom prst="rect">
            <a:avLst/>
          </a:prstGeom>
          <a:noFill/>
          <a:ln/>
        </p:spPr>
        <p:txBody>
          <a:bodyPr wrap="square" lIns="0" tIns="0" rIns="0" bIns="0" rtlCol="0" anchor="ctr"/>
          <a:lstStyle/>
          <a:p>
            <a:pPr indent="0" marL="0">
              <a:buNone/>
            </a:pPr>
            <a:r>
              <a:rPr lang="en-US" sz="1050" dirty="0">
                <a:solidFill>
                  <a:srgbClr val="1B2A41"/>
                </a:solidFill>
              </a:rPr>
              <a:t>Araghi 2013 · MA 7 RCT, lifestyle, I² 86 %</a:t>
            </a:r>
            <a:endParaRPr lang="en-US" sz="1050" dirty="0"/>
          </a:p>
        </p:txBody>
      </p:sp>
      <p:sp>
        <p:nvSpPr>
          <p:cNvPr id="26" name="ci-2"/>
          <p:cNvSpPr/>
          <p:nvPr/>
        </p:nvSpPr>
        <p:spPr>
          <a:xfrm>
            <a:off x="9857945" y="3215640"/>
            <a:ext cx="272601" cy="0"/>
          </a:xfrm>
          <a:prstGeom prst="line">
            <a:avLst/>
          </a:prstGeom>
          <a:noFill/>
          <a:ln w="22225">
            <a:solidFill>
              <a:srgbClr val="2A9D8F"/>
            </a:solidFill>
            <a:prstDash val="solid"/>
          </a:ln>
        </p:spPr>
      </p:sp>
      <p:sp>
        <p:nvSpPr>
          <p:cNvPr id="27" name="pt-2"/>
          <p:cNvSpPr/>
          <p:nvPr/>
        </p:nvSpPr>
        <p:spPr>
          <a:xfrm>
            <a:off x="9930238" y="3151632"/>
            <a:ext cx="128016" cy="128016"/>
          </a:xfrm>
          <a:prstGeom prst="rect">
            <a:avLst/>
          </a:prstGeom>
          <a:solidFill>
            <a:srgbClr val="2A9D8F"/>
          </a:solidFill>
          <a:ln w="12700">
            <a:solidFill>
              <a:srgbClr val="2A9D8F"/>
            </a:solidFill>
            <a:prstDash val="solid"/>
          </a:ln>
        </p:spPr>
      </p:sp>
      <p:sp>
        <p:nvSpPr>
          <p:cNvPr id="28" name="fv-2"/>
          <p:cNvSpPr txBox="1"/>
          <p:nvPr/>
        </p:nvSpPr>
        <p:spPr>
          <a:xfrm>
            <a:off x="10424160" y="3002280"/>
            <a:ext cx="1463040" cy="426720"/>
          </a:xfrm>
          <a:prstGeom prst="rect">
            <a:avLst/>
          </a:prstGeom>
          <a:noFill/>
          <a:ln/>
        </p:spPr>
        <p:txBody>
          <a:bodyPr wrap="square" lIns="0" tIns="0" rIns="0" bIns="0" rtlCol="0" anchor="ctr"/>
          <a:lstStyle/>
          <a:p>
            <a:pPr indent="0" marL="0">
              <a:buNone/>
            </a:pPr>
            <a:r>
              <a:rPr lang="en-US" sz="1000" dirty="0">
                <a:solidFill>
                  <a:srgbClr val="1B2A41"/>
                </a:solidFill>
              </a:rPr>
              <a:t>−6,0 (−11,2 až −0,9)</a:t>
            </a:r>
            <a:endParaRPr lang="en-US" sz="1000" dirty="0"/>
          </a:p>
        </p:txBody>
      </p:sp>
      <p:sp>
        <p:nvSpPr>
          <p:cNvPr id="29" name="fl-3"/>
          <p:cNvSpPr txBox="1"/>
          <p:nvPr/>
        </p:nvSpPr>
        <p:spPr>
          <a:xfrm>
            <a:off x="6766560" y="3429000"/>
            <a:ext cx="2148840" cy="426720"/>
          </a:xfrm>
          <a:prstGeom prst="rect">
            <a:avLst/>
          </a:prstGeom>
          <a:noFill/>
          <a:ln/>
        </p:spPr>
        <p:txBody>
          <a:bodyPr wrap="square" lIns="0" tIns="0" rIns="0" bIns="0" rtlCol="0" anchor="ctr"/>
          <a:lstStyle/>
          <a:p>
            <a:pPr indent="0" marL="0">
              <a:buNone/>
            </a:pPr>
            <a:r>
              <a:rPr lang="en-US" sz="1050" dirty="0">
                <a:solidFill>
                  <a:srgbClr val="1B2A41"/>
                </a:solidFill>
              </a:rPr>
              <a:t>Mitchell 2014 · MA 4 RCT, intenzivní lifestyle</a:t>
            </a:r>
            <a:endParaRPr lang="en-US" sz="1050" dirty="0"/>
          </a:p>
        </p:txBody>
      </p:sp>
      <p:sp>
        <p:nvSpPr>
          <p:cNvPr id="30" name="ci-3"/>
          <p:cNvSpPr/>
          <p:nvPr/>
        </p:nvSpPr>
        <p:spPr>
          <a:xfrm>
            <a:off x="9474501" y="3642360"/>
            <a:ext cx="506486" cy="0"/>
          </a:xfrm>
          <a:prstGeom prst="line">
            <a:avLst/>
          </a:prstGeom>
          <a:noFill/>
          <a:ln w="22225">
            <a:solidFill>
              <a:srgbClr val="2A9D8F"/>
            </a:solidFill>
            <a:prstDash val="solid"/>
          </a:ln>
        </p:spPr>
      </p:sp>
      <p:sp>
        <p:nvSpPr>
          <p:cNvPr id="31" name="pt-3"/>
          <p:cNvSpPr/>
          <p:nvPr/>
        </p:nvSpPr>
        <p:spPr>
          <a:xfrm>
            <a:off x="9663736" y="3578352"/>
            <a:ext cx="128016" cy="128016"/>
          </a:xfrm>
          <a:prstGeom prst="rect">
            <a:avLst/>
          </a:prstGeom>
          <a:solidFill>
            <a:srgbClr val="2A9D8F"/>
          </a:solidFill>
          <a:ln w="12700">
            <a:solidFill>
              <a:srgbClr val="2A9D8F"/>
            </a:solidFill>
            <a:prstDash val="solid"/>
          </a:ln>
        </p:spPr>
      </p:sp>
      <p:sp>
        <p:nvSpPr>
          <p:cNvPr id="32" name="fv-3"/>
          <p:cNvSpPr txBox="1"/>
          <p:nvPr/>
        </p:nvSpPr>
        <p:spPr>
          <a:xfrm>
            <a:off x="10424160" y="3429000"/>
            <a:ext cx="1463040" cy="426720"/>
          </a:xfrm>
          <a:prstGeom prst="rect">
            <a:avLst/>
          </a:prstGeom>
          <a:noFill/>
          <a:ln/>
        </p:spPr>
        <p:txBody>
          <a:bodyPr wrap="square" lIns="0" tIns="0" rIns="0" bIns="0" rtlCol="0" anchor="ctr"/>
          <a:lstStyle/>
          <a:p>
            <a:pPr indent="0" marL="0">
              <a:buNone/>
            </a:pPr>
            <a:r>
              <a:rPr lang="en-US" sz="1000" dirty="0">
                <a:solidFill>
                  <a:srgbClr val="1B2A41"/>
                </a:solidFill>
              </a:rPr>
              <a:t>−16,1 (−25,6 až −6,5)</a:t>
            </a:r>
            <a:endParaRPr lang="en-US" sz="1000" dirty="0"/>
          </a:p>
        </p:txBody>
      </p:sp>
      <p:sp>
        <p:nvSpPr>
          <p:cNvPr id="33" name="zebra-4"/>
          <p:cNvSpPr/>
          <p:nvPr/>
        </p:nvSpPr>
        <p:spPr>
          <a:xfrm>
            <a:off x="6720840" y="3855720"/>
            <a:ext cx="5029200" cy="426720"/>
          </a:xfrm>
          <a:prstGeom prst="rect">
            <a:avLst/>
          </a:prstGeom>
          <a:solidFill>
            <a:srgbClr val="EEF2F7"/>
          </a:solidFill>
          <a:ln w="12700">
            <a:solidFill>
              <a:srgbClr val="EEF2F7"/>
            </a:solidFill>
            <a:prstDash val="solid"/>
          </a:ln>
        </p:spPr>
      </p:sp>
      <p:sp>
        <p:nvSpPr>
          <p:cNvPr id="34" name="fl-4"/>
          <p:cNvSpPr txBox="1"/>
          <p:nvPr/>
        </p:nvSpPr>
        <p:spPr>
          <a:xfrm>
            <a:off x="6766560" y="3855720"/>
            <a:ext cx="2148840" cy="426720"/>
          </a:xfrm>
          <a:prstGeom prst="rect">
            <a:avLst/>
          </a:prstGeom>
          <a:noFill/>
          <a:ln/>
        </p:spPr>
        <p:txBody>
          <a:bodyPr wrap="square" lIns="0" tIns="0" rIns="0" bIns="0" rtlCol="0" anchor="ctr"/>
          <a:lstStyle/>
          <a:p>
            <a:pPr indent="0" marL="0">
              <a:buNone/>
            </a:pPr>
            <a:r>
              <a:rPr lang="en-US" sz="1050" dirty="0">
                <a:solidFill>
                  <a:srgbClr val="1B2A41"/>
                </a:solidFill>
              </a:rPr>
              <a:t>Greenburg 2009 · MA před/po bariatrii, 342 pac.</a:t>
            </a:r>
            <a:endParaRPr lang="en-US" sz="1050" dirty="0"/>
          </a:p>
        </p:txBody>
      </p:sp>
      <p:sp>
        <p:nvSpPr>
          <p:cNvPr id="35" name="ci-4"/>
          <p:cNvSpPr/>
          <p:nvPr/>
        </p:nvSpPr>
        <p:spPr>
          <a:xfrm>
            <a:off x="8977031" y="4069080"/>
            <a:ext cx="331470" cy="0"/>
          </a:xfrm>
          <a:prstGeom prst="line">
            <a:avLst/>
          </a:prstGeom>
          <a:noFill/>
          <a:ln w="22225">
            <a:solidFill>
              <a:srgbClr val="3D5A80"/>
            </a:solidFill>
            <a:prstDash val="solid"/>
          </a:ln>
        </p:spPr>
      </p:sp>
      <p:sp>
        <p:nvSpPr>
          <p:cNvPr id="36" name="pt-4"/>
          <p:cNvSpPr/>
          <p:nvPr/>
        </p:nvSpPr>
        <p:spPr>
          <a:xfrm>
            <a:off x="9077432" y="4005072"/>
            <a:ext cx="128016" cy="128016"/>
          </a:xfrm>
          <a:prstGeom prst="rect">
            <a:avLst/>
          </a:prstGeom>
          <a:solidFill>
            <a:srgbClr val="3D5A80"/>
          </a:solidFill>
          <a:ln w="12700">
            <a:solidFill>
              <a:srgbClr val="3D5A80"/>
            </a:solidFill>
            <a:prstDash val="solid"/>
          </a:ln>
        </p:spPr>
      </p:sp>
      <p:sp>
        <p:nvSpPr>
          <p:cNvPr id="37" name="fv-4"/>
          <p:cNvSpPr txBox="1"/>
          <p:nvPr/>
        </p:nvSpPr>
        <p:spPr>
          <a:xfrm>
            <a:off x="10424160" y="3855720"/>
            <a:ext cx="1463040" cy="426720"/>
          </a:xfrm>
          <a:prstGeom prst="rect">
            <a:avLst/>
          </a:prstGeom>
          <a:noFill/>
          <a:ln/>
        </p:spPr>
        <p:txBody>
          <a:bodyPr wrap="square" lIns="0" tIns="0" rIns="0" bIns="0" rtlCol="0" anchor="ctr"/>
          <a:lstStyle/>
          <a:p>
            <a:pPr indent="0" marL="0">
              <a:buNone/>
            </a:pPr>
            <a:r>
              <a:rPr lang="en-US" sz="1000" dirty="0">
                <a:solidFill>
                  <a:srgbClr val="1B2A41"/>
                </a:solidFill>
              </a:rPr>
              <a:t>−38,2 (−44,4 až −31,9)</a:t>
            </a:r>
            <a:endParaRPr lang="en-US" sz="1000" dirty="0"/>
          </a:p>
        </p:txBody>
      </p:sp>
      <p:sp>
        <p:nvSpPr>
          <p:cNvPr id="38" name="fl-5"/>
          <p:cNvSpPr txBox="1"/>
          <p:nvPr/>
        </p:nvSpPr>
        <p:spPr>
          <a:xfrm>
            <a:off x="6766560" y="4282440"/>
            <a:ext cx="2148840" cy="426720"/>
          </a:xfrm>
          <a:prstGeom prst="rect">
            <a:avLst/>
          </a:prstGeom>
          <a:noFill/>
          <a:ln/>
        </p:spPr>
        <p:txBody>
          <a:bodyPr wrap="square" lIns="0" tIns="0" rIns="0" bIns="0" rtlCol="0" anchor="ctr"/>
          <a:lstStyle/>
          <a:p>
            <a:pPr indent="0" marL="0">
              <a:buNone/>
            </a:pPr>
            <a:r>
              <a:rPr lang="en-US" sz="1000" i="1" dirty="0">
                <a:solidFill>
                  <a:srgbClr val="8D99AE"/>
                </a:solidFill>
              </a:rPr>
              <a:t>Dixon 2012 · bandáž vs. konzervativní, RCT, 2 roky</a:t>
            </a:r>
            <a:endParaRPr lang="en-US" sz="1000" dirty="0"/>
          </a:p>
        </p:txBody>
      </p:sp>
      <p:sp>
        <p:nvSpPr>
          <p:cNvPr id="39" name="ci-5"/>
          <p:cNvSpPr/>
          <p:nvPr/>
        </p:nvSpPr>
        <p:spPr>
          <a:xfrm>
            <a:off x="9403964" y="4495800"/>
            <a:ext cx="883036" cy="0"/>
          </a:xfrm>
          <a:prstGeom prst="line">
            <a:avLst/>
          </a:prstGeom>
          <a:noFill/>
          <a:ln w="12700">
            <a:solidFill>
              <a:srgbClr val="8D99AE"/>
            </a:solidFill>
            <a:prstDash val="dash"/>
          </a:ln>
        </p:spPr>
      </p:sp>
      <p:sp>
        <p:nvSpPr>
          <p:cNvPr id="40" name="arrR-5"/>
          <p:cNvSpPr txBox="1"/>
          <p:nvPr/>
        </p:nvSpPr>
        <p:spPr>
          <a:xfrm>
            <a:off x="10213848" y="4386072"/>
            <a:ext cx="182880" cy="219456"/>
          </a:xfrm>
          <a:prstGeom prst="rect">
            <a:avLst/>
          </a:prstGeom>
          <a:noFill/>
          <a:ln/>
        </p:spPr>
        <p:txBody>
          <a:bodyPr wrap="square" lIns="0" tIns="0" rIns="0" bIns="0" rtlCol="0" anchor="ctr"/>
          <a:lstStyle/>
          <a:p>
            <a:pPr indent="0" marL="0">
              <a:buNone/>
            </a:pPr>
            <a:r>
              <a:rPr lang="en-US" sz="900" dirty="0">
                <a:solidFill>
                  <a:srgbClr val="8D99AE"/>
                </a:solidFill>
              </a:rPr>
              <a:t>▸</a:t>
            </a:r>
            <a:endParaRPr lang="en-US" sz="900" dirty="0"/>
          </a:p>
        </p:txBody>
      </p:sp>
      <p:sp>
        <p:nvSpPr>
          <p:cNvPr id="41" name="pt-5"/>
          <p:cNvSpPr/>
          <p:nvPr/>
        </p:nvSpPr>
        <p:spPr>
          <a:xfrm>
            <a:off x="9785452" y="4431792"/>
            <a:ext cx="128016" cy="128016"/>
          </a:xfrm>
          <a:prstGeom prst="rect">
            <a:avLst/>
          </a:prstGeom>
          <a:solidFill>
            <a:srgbClr val="FFFFFF"/>
          </a:solidFill>
          <a:ln w="12700">
            <a:solidFill>
              <a:srgbClr val="8D99AE"/>
            </a:solidFill>
            <a:prstDash val="solid"/>
          </a:ln>
        </p:spPr>
      </p:sp>
      <p:sp>
        <p:nvSpPr>
          <p:cNvPr id="42" name="fv-5"/>
          <p:cNvSpPr txBox="1"/>
          <p:nvPr/>
        </p:nvSpPr>
        <p:spPr>
          <a:xfrm>
            <a:off x="10424160" y="4282440"/>
            <a:ext cx="1463040" cy="426720"/>
          </a:xfrm>
          <a:prstGeom prst="rect">
            <a:avLst/>
          </a:prstGeom>
          <a:noFill/>
          <a:ln/>
        </p:spPr>
        <p:txBody>
          <a:bodyPr wrap="square" lIns="0" tIns="0" rIns="0" bIns="0" rtlCol="0" anchor="ctr"/>
          <a:lstStyle/>
          <a:p>
            <a:pPr indent="0" marL="0">
              <a:buNone/>
            </a:pPr>
            <a:r>
              <a:rPr lang="en-US" sz="1000" dirty="0">
                <a:solidFill>
                  <a:srgbClr val="8D99AE"/>
                </a:solidFill>
              </a:rPr>
              <a:t>−11,5 (−28,3 až 5,3) NS</a:t>
            </a:r>
            <a:endParaRPr lang="en-US" sz="1000" dirty="0"/>
          </a:p>
        </p:txBody>
      </p:sp>
      <p:sp>
        <p:nvSpPr>
          <p:cNvPr id="43" name="axis"/>
          <p:cNvSpPr/>
          <p:nvPr/>
        </p:nvSpPr>
        <p:spPr>
          <a:xfrm>
            <a:off x="8961120" y="4754880"/>
            <a:ext cx="1325880" cy="0"/>
          </a:xfrm>
          <a:prstGeom prst="line">
            <a:avLst/>
          </a:prstGeom>
          <a:noFill/>
          <a:ln w="12700">
            <a:solidFill>
              <a:srgbClr val="8D99AE"/>
            </a:solidFill>
            <a:prstDash val="solid"/>
          </a:ln>
        </p:spPr>
      </p:sp>
      <p:sp>
        <p:nvSpPr>
          <p:cNvPr id="44" name="ref"/>
          <p:cNvSpPr/>
          <p:nvPr/>
        </p:nvSpPr>
        <p:spPr>
          <a:xfrm>
            <a:off x="10154412" y="2148840"/>
            <a:ext cx="0" cy="2606040"/>
          </a:xfrm>
          <a:prstGeom prst="line">
            <a:avLst/>
          </a:prstGeom>
          <a:noFill/>
          <a:ln w="12700">
            <a:solidFill>
              <a:srgbClr val="C8553D"/>
            </a:solidFill>
            <a:prstDash val="dash"/>
          </a:ln>
        </p:spPr>
      </p:sp>
      <p:sp>
        <p:nvSpPr>
          <p:cNvPr id="45" name="tick--40"/>
          <p:cNvSpPr/>
          <p:nvPr/>
        </p:nvSpPr>
        <p:spPr>
          <a:xfrm>
            <a:off x="9093708" y="4754880"/>
            <a:ext cx="0" cy="54864"/>
          </a:xfrm>
          <a:prstGeom prst="line">
            <a:avLst/>
          </a:prstGeom>
          <a:noFill/>
          <a:ln w="12700">
            <a:solidFill>
              <a:srgbClr val="8D99AE"/>
            </a:solidFill>
            <a:prstDash val="solid"/>
          </a:ln>
        </p:spPr>
      </p:sp>
      <p:sp>
        <p:nvSpPr>
          <p:cNvPr id="46" name="tl--40"/>
          <p:cNvSpPr txBox="1"/>
          <p:nvPr/>
        </p:nvSpPr>
        <p:spPr>
          <a:xfrm>
            <a:off x="8819388" y="480060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-40</a:t>
            </a:r>
            <a:endParaRPr lang="en-US" sz="900" dirty="0"/>
          </a:p>
        </p:txBody>
      </p:sp>
      <p:sp>
        <p:nvSpPr>
          <p:cNvPr id="47" name="tick--30"/>
          <p:cNvSpPr/>
          <p:nvPr/>
        </p:nvSpPr>
        <p:spPr>
          <a:xfrm>
            <a:off x="9358884" y="4754880"/>
            <a:ext cx="0" cy="54864"/>
          </a:xfrm>
          <a:prstGeom prst="line">
            <a:avLst/>
          </a:prstGeom>
          <a:noFill/>
          <a:ln w="12700">
            <a:solidFill>
              <a:srgbClr val="8D99AE"/>
            </a:solidFill>
            <a:prstDash val="solid"/>
          </a:ln>
        </p:spPr>
      </p:sp>
      <p:sp>
        <p:nvSpPr>
          <p:cNvPr id="48" name="tl--30"/>
          <p:cNvSpPr txBox="1"/>
          <p:nvPr/>
        </p:nvSpPr>
        <p:spPr>
          <a:xfrm>
            <a:off x="9084564" y="480060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-30</a:t>
            </a:r>
            <a:endParaRPr lang="en-US" sz="900" dirty="0"/>
          </a:p>
        </p:txBody>
      </p:sp>
      <p:sp>
        <p:nvSpPr>
          <p:cNvPr id="49" name="tick--20"/>
          <p:cNvSpPr/>
          <p:nvPr/>
        </p:nvSpPr>
        <p:spPr>
          <a:xfrm>
            <a:off x="9624060" y="4754880"/>
            <a:ext cx="0" cy="54864"/>
          </a:xfrm>
          <a:prstGeom prst="line">
            <a:avLst/>
          </a:prstGeom>
          <a:noFill/>
          <a:ln w="12700">
            <a:solidFill>
              <a:srgbClr val="8D99AE"/>
            </a:solidFill>
            <a:prstDash val="solid"/>
          </a:ln>
        </p:spPr>
      </p:sp>
      <p:sp>
        <p:nvSpPr>
          <p:cNvPr id="50" name="tl--20"/>
          <p:cNvSpPr txBox="1"/>
          <p:nvPr/>
        </p:nvSpPr>
        <p:spPr>
          <a:xfrm>
            <a:off x="9349740" y="480060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-20</a:t>
            </a:r>
            <a:endParaRPr lang="en-US" sz="900" dirty="0"/>
          </a:p>
        </p:txBody>
      </p:sp>
      <p:sp>
        <p:nvSpPr>
          <p:cNvPr id="51" name="tick--10"/>
          <p:cNvSpPr/>
          <p:nvPr/>
        </p:nvSpPr>
        <p:spPr>
          <a:xfrm>
            <a:off x="9889236" y="4754880"/>
            <a:ext cx="0" cy="54864"/>
          </a:xfrm>
          <a:prstGeom prst="line">
            <a:avLst/>
          </a:prstGeom>
          <a:noFill/>
          <a:ln w="12700">
            <a:solidFill>
              <a:srgbClr val="8D99AE"/>
            </a:solidFill>
            <a:prstDash val="solid"/>
          </a:ln>
        </p:spPr>
      </p:sp>
      <p:sp>
        <p:nvSpPr>
          <p:cNvPr id="52" name="tl--10"/>
          <p:cNvSpPr txBox="1"/>
          <p:nvPr/>
        </p:nvSpPr>
        <p:spPr>
          <a:xfrm>
            <a:off x="9614916" y="480060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-10</a:t>
            </a:r>
            <a:endParaRPr lang="en-US" sz="900" dirty="0"/>
          </a:p>
        </p:txBody>
      </p:sp>
      <p:sp>
        <p:nvSpPr>
          <p:cNvPr id="53" name="tick-0"/>
          <p:cNvSpPr/>
          <p:nvPr/>
        </p:nvSpPr>
        <p:spPr>
          <a:xfrm>
            <a:off x="10154412" y="4754880"/>
            <a:ext cx="0" cy="54864"/>
          </a:xfrm>
          <a:prstGeom prst="line">
            <a:avLst/>
          </a:prstGeom>
          <a:noFill/>
          <a:ln w="12700">
            <a:solidFill>
              <a:srgbClr val="8D99AE"/>
            </a:solidFill>
            <a:prstDash val="solid"/>
          </a:ln>
        </p:spPr>
      </p:sp>
      <p:sp>
        <p:nvSpPr>
          <p:cNvPr id="54" name="tl-0"/>
          <p:cNvSpPr txBox="1"/>
          <p:nvPr/>
        </p:nvSpPr>
        <p:spPr>
          <a:xfrm>
            <a:off x="9880092" y="480060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a:t>
            </a:r>
            <a:endParaRPr lang="en-US" sz="900" dirty="0"/>
          </a:p>
        </p:txBody>
      </p:sp>
      <p:sp>
        <p:nvSpPr>
          <p:cNvPr id="55" name="xlabel"/>
          <p:cNvSpPr txBox="1"/>
          <p:nvPr/>
        </p:nvSpPr>
        <p:spPr>
          <a:xfrm>
            <a:off x="8961120" y="4956048"/>
            <a:ext cx="1325880" cy="201168"/>
          </a:xfrm>
          <a:prstGeom prst="rect">
            <a:avLst/>
          </a:prstGeom>
          <a:noFill/>
          <a:ln/>
        </p:spPr>
        <p:txBody>
          <a:bodyPr wrap="square" lIns="0" tIns="0" rIns="0" bIns="0" rtlCol="0" anchor="ctr"/>
          <a:lstStyle/>
          <a:p>
            <a:pPr algn="ctr" indent="0" marL="0">
              <a:buNone/>
            </a:pPr>
            <a:r>
              <a:rPr lang="en-US" sz="900" dirty="0">
                <a:solidFill>
                  <a:srgbClr val="8D99AE"/>
                </a:solidFill>
              </a:rPr>
              <a:t>Změna AHI (událostí/h) vs. kontrola / před</a:t>
            </a:r>
            <a:endParaRPr lang="en-US" sz="900" dirty="0"/>
          </a:p>
        </p:txBody>
      </p:sp>
      <p:sp>
        <p:nvSpPr>
          <p:cNvPr id="56" name="kuna"/>
          <p:cNvSpPr txBox="1"/>
          <p:nvPr/>
        </p:nvSpPr>
        <p:spPr>
          <a:xfrm>
            <a:off x="6720840" y="4983480"/>
            <a:ext cx="5029200" cy="868680"/>
          </a:xfrm>
          <a:prstGeom prst="rect">
            <a:avLst/>
          </a:prstGeom>
          <a:noFill/>
          <a:ln/>
        </p:spPr>
        <p:txBody>
          <a:bodyPr wrap="square" lIns="0" tIns="0" rIns="0" bIns="0" rtlCol="0" anchor="ctr"/>
          <a:lstStyle/>
          <a:p>
            <a:pPr indent="0" marL="0">
              <a:buNone/>
            </a:pPr>
            <a:r>
              <a:rPr lang="en-US" sz="1000" dirty="0">
                <a:solidFill>
                  <a:srgbClr val="3D5A80"/>
                </a:solidFill>
              </a:rPr>
              <a:t>Efekt ILI na AHI přetrval 4 roky i přes ~50 % regain hmotnosti; remise OSA 20,7 % vs. 3,6 % (Kuna 2013). Po bariatrii reziduální AHI 15,8/h – „should not expect a cure“ (Greenburg 2009).</a:t>
            </a:r>
            <a:endParaRPr lang="en-US" sz="1000" dirty="0"/>
          </a:p>
        </p:txBody>
      </p:sp>
      <p:sp>
        <p:nvSpPr>
          <p:cNvPr id="57"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Chirinos, N Engl J Med 2014 · Foster, Arch Intern Med 2009 · Kuna, Sleep 2013 · Johansson, BMJ 2009 · Araghi, Sleep 2013 · Mitchell, Sleep Med 2014 · Greenburg, Am J Med 2009 · Dixon, JAMA 2012</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Intervence IV: inkretiny u OSA – SCALE, SURMOUNT-OSA, TRIUMPH-OSA</a:t>
            </a:r>
            <a:endParaRPr lang="en-US" sz="2500" dirty="0"/>
          </a:p>
        </p:txBody>
      </p:sp>
      <p:sp>
        <p:nvSpPr>
          <p:cNvPr id="3" name="tag-MA RCT"/>
          <p:cNvSpPr/>
          <p:nvPr/>
        </p:nvSpPr>
        <p:spPr>
          <a:xfrm>
            <a:off x="10863072" y="384048"/>
            <a:ext cx="886968" cy="310896"/>
          </a:xfrm>
          <a:prstGeom prst="roundRect">
            <a:avLst>
              <a:gd name="adj" fmla="val 23529"/>
            </a:avLst>
          </a:prstGeom>
          <a:solidFill>
            <a:srgbClr val="2A9D8F"/>
          </a:solidFill>
          <a:ln w="12700">
            <a:solidFill>
              <a:srgbClr val="2A9D8F"/>
            </a:solidFill>
            <a:prstDash val="solid"/>
          </a:ln>
        </p:spPr>
      </p:sp>
      <p:sp>
        <p:nvSpPr>
          <p:cNvPr id="4" name="tag-text-MA RCT"/>
          <p:cNvSpPr txBox="1"/>
          <p:nvPr/>
        </p:nvSpPr>
        <p:spPr>
          <a:xfrm>
            <a:off x="10863072"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MA RCT</a:t>
            </a:r>
            <a:endParaRPr lang="en-US" sz="1000" dirty="0"/>
          </a:p>
        </p:txBody>
      </p:sp>
      <p:sp>
        <p:nvSpPr>
          <p:cNvPr id="5" name="tag-RCT"/>
          <p:cNvSpPr/>
          <p:nvPr/>
        </p:nvSpPr>
        <p:spPr>
          <a:xfrm>
            <a:off x="9921240" y="384048"/>
            <a:ext cx="868680" cy="310896"/>
          </a:xfrm>
          <a:prstGeom prst="roundRect">
            <a:avLst>
              <a:gd name="adj" fmla="val 23529"/>
            </a:avLst>
          </a:prstGeom>
          <a:solidFill>
            <a:srgbClr val="2A9D8F"/>
          </a:solidFill>
          <a:ln w="12700">
            <a:solidFill>
              <a:srgbClr val="2A9D8F"/>
            </a:solidFill>
            <a:prstDash val="solid"/>
          </a:ln>
        </p:spPr>
      </p:sp>
      <p:sp>
        <p:nvSpPr>
          <p:cNvPr id="6" name="tag-text-RCT"/>
          <p:cNvSpPr txBox="1"/>
          <p:nvPr/>
        </p:nvSpPr>
        <p:spPr>
          <a:xfrm>
            <a:off x="9921240" y="384048"/>
            <a:ext cx="868680" cy="310896"/>
          </a:xfrm>
          <a:prstGeom prst="rect">
            <a:avLst/>
          </a:prstGeom>
          <a:noFill/>
          <a:ln/>
        </p:spPr>
        <p:txBody>
          <a:bodyPr wrap="square" lIns="0" tIns="0" rIns="0" bIns="0" rtlCol="0" anchor="ctr"/>
          <a:lstStyle/>
          <a:p>
            <a:pPr algn="ctr" indent="0" marL="0">
              <a:buNone/>
            </a:pPr>
            <a:r>
              <a:rPr lang="en-US" sz="1000" b="1" dirty="0">
                <a:solidFill>
                  <a:srgbClr val="FFFFFF"/>
                </a:solidFill>
              </a:rPr>
              <a:t>RCT</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Tirzepatid snížil AHI o 20–24/h proti placebu za 52 týdnů, hmotnost o 16–17 % a HOMA-IR o ~50 %; u DM2 je efekt retatrutidu menší; chybí tvrdé KV outcomy i přímé srovnání s CPAP.</a:t>
            </a:r>
            <a:endParaRPr lang="en-US" sz="1500" dirty="0"/>
          </a:p>
        </p:txBody>
      </p:sp>
      <p:sp>
        <p:nvSpPr>
          <p:cNvPr id="8" name="fh1"/>
          <p:cNvSpPr txBox="1"/>
          <p:nvPr/>
        </p:nvSpPr>
        <p:spPr>
          <a:xfrm>
            <a:off x="457200" y="1856232"/>
            <a:ext cx="3749040" cy="274320"/>
          </a:xfrm>
          <a:prstGeom prst="rect">
            <a:avLst/>
          </a:prstGeom>
          <a:noFill/>
          <a:ln/>
        </p:spPr>
        <p:txBody>
          <a:bodyPr wrap="square" lIns="0" tIns="0" rIns="0" bIns="0" rtlCol="0" anchor="ctr"/>
          <a:lstStyle/>
          <a:p>
            <a:pPr indent="0" marL="0">
              <a:buNone/>
            </a:pPr>
            <a:r>
              <a:rPr lang="en-US" sz="1000" b="1" dirty="0">
                <a:solidFill>
                  <a:srgbClr val="8D99AE"/>
                </a:solidFill>
              </a:rPr>
              <a:t>RCT · lék · populace</a:t>
            </a:r>
            <a:endParaRPr lang="en-US" sz="1000" dirty="0"/>
          </a:p>
        </p:txBody>
      </p:sp>
      <p:sp>
        <p:nvSpPr>
          <p:cNvPr id="9" name="fh2"/>
          <p:cNvSpPr txBox="1"/>
          <p:nvPr/>
        </p:nvSpPr>
        <p:spPr>
          <a:xfrm>
            <a:off x="6537960" y="1856232"/>
            <a:ext cx="1737360" cy="274320"/>
          </a:xfrm>
          <a:prstGeom prst="rect">
            <a:avLst/>
          </a:prstGeom>
          <a:noFill/>
          <a:ln/>
        </p:spPr>
        <p:txBody>
          <a:bodyPr wrap="square" lIns="0" tIns="0" rIns="0" bIns="0" rtlCol="0" anchor="ctr"/>
          <a:lstStyle/>
          <a:p>
            <a:pPr indent="0" marL="0">
              <a:buNone/>
            </a:pPr>
            <a:r>
              <a:rPr lang="en-US" sz="1000" b="1" dirty="0">
                <a:solidFill>
                  <a:srgbClr val="8D99AE"/>
                </a:solidFill>
              </a:rPr>
              <a:t>Δ AHI vs. placebo (95 % CI)</a:t>
            </a:r>
            <a:endParaRPr lang="en-US" sz="1000" dirty="0"/>
          </a:p>
        </p:txBody>
      </p:sp>
      <p:sp>
        <p:nvSpPr>
          <p:cNvPr id="10" name="zebra-0"/>
          <p:cNvSpPr/>
          <p:nvPr/>
        </p:nvSpPr>
        <p:spPr>
          <a:xfrm>
            <a:off x="457200" y="2148840"/>
            <a:ext cx="7680960" cy="571500"/>
          </a:xfrm>
          <a:prstGeom prst="rect">
            <a:avLst/>
          </a:prstGeom>
          <a:solidFill>
            <a:srgbClr val="EEF2F7"/>
          </a:solidFill>
          <a:ln w="12700">
            <a:solidFill>
              <a:srgbClr val="EEF2F7"/>
            </a:solidFill>
            <a:prstDash val="solid"/>
          </a:ln>
        </p:spPr>
      </p:sp>
      <p:sp>
        <p:nvSpPr>
          <p:cNvPr id="11" name="fl-0"/>
          <p:cNvSpPr txBox="1"/>
          <p:nvPr/>
        </p:nvSpPr>
        <p:spPr>
          <a:xfrm>
            <a:off x="502920" y="2148840"/>
            <a:ext cx="3657600" cy="571500"/>
          </a:xfrm>
          <a:prstGeom prst="rect">
            <a:avLst/>
          </a:prstGeom>
          <a:noFill/>
          <a:ln/>
        </p:spPr>
        <p:txBody>
          <a:bodyPr wrap="square" lIns="0" tIns="0" rIns="0" bIns="0" rtlCol="0" anchor="ctr"/>
          <a:lstStyle/>
          <a:p>
            <a:pPr indent="0" marL="0">
              <a:buNone/>
            </a:pPr>
            <a:r>
              <a:rPr lang="en-US" sz="1050" dirty="0">
                <a:solidFill>
                  <a:srgbClr val="1B2A41"/>
                </a:solidFill>
              </a:rPr>
              <a:t>SCALE Sleep Apnea (Blackman 2016) · liraglutid 3 mg, 32 t, n 359, bez DM</a:t>
            </a:r>
            <a:endParaRPr lang="en-US" sz="1050" dirty="0"/>
          </a:p>
        </p:txBody>
      </p:sp>
      <p:sp>
        <p:nvSpPr>
          <p:cNvPr id="12" name="ci-0"/>
          <p:cNvSpPr/>
          <p:nvPr/>
        </p:nvSpPr>
        <p:spPr>
          <a:xfrm>
            <a:off x="5620512" y="2434590"/>
            <a:ext cx="477926" cy="0"/>
          </a:xfrm>
          <a:prstGeom prst="line">
            <a:avLst/>
          </a:prstGeom>
          <a:noFill/>
          <a:ln w="22225">
            <a:solidFill>
              <a:srgbClr val="3D5A80"/>
            </a:solidFill>
            <a:prstDash val="solid"/>
          </a:ln>
        </p:spPr>
      </p:sp>
      <p:sp>
        <p:nvSpPr>
          <p:cNvPr id="13" name="pt-0"/>
          <p:cNvSpPr/>
          <p:nvPr/>
        </p:nvSpPr>
        <p:spPr>
          <a:xfrm>
            <a:off x="5795467" y="2370582"/>
            <a:ext cx="128016" cy="128016"/>
          </a:xfrm>
          <a:prstGeom prst="rect">
            <a:avLst/>
          </a:prstGeom>
          <a:solidFill>
            <a:srgbClr val="3D5A80"/>
          </a:solidFill>
          <a:ln w="12700">
            <a:solidFill>
              <a:srgbClr val="3D5A80"/>
            </a:solidFill>
            <a:prstDash val="solid"/>
          </a:ln>
        </p:spPr>
      </p:sp>
      <p:sp>
        <p:nvSpPr>
          <p:cNvPr id="14" name="fv-0"/>
          <p:cNvSpPr txBox="1"/>
          <p:nvPr/>
        </p:nvSpPr>
        <p:spPr>
          <a:xfrm>
            <a:off x="6537960" y="2148840"/>
            <a:ext cx="1737360" cy="571500"/>
          </a:xfrm>
          <a:prstGeom prst="rect">
            <a:avLst/>
          </a:prstGeom>
          <a:noFill/>
          <a:ln/>
        </p:spPr>
        <p:txBody>
          <a:bodyPr wrap="square" lIns="0" tIns="0" rIns="0" bIns="0" rtlCol="0" anchor="ctr"/>
          <a:lstStyle/>
          <a:p>
            <a:pPr indent="0" marL="0">
              <a:buNone/>
            </a:pPr>
            <a:r>
              <a:rPr lang="en-US" sz="1000" dirty="0">
                <a:solidFill>
                  <a:srgbClr val="1B2A41"/>
                </a:solidFill>
              </a:rPr>
              <a:t>−6,1 (−11,0 až −1,2)</a:t>
            </a:r>
            <a:endParaRPr lang="en-US" sz="1000" dirty="0"/>
          </a:p>
        </p:txBody>
      </p:sp>
      <p:sp>
        <p:nvSpPr>
          <p:cNvPr id="15" name="fl-1"/>
          <p:cNvSpPr txBox="1"/>
          <p:nvPr/>
        </p:nvSpPr>
        <p:spPr>
          <a:xfrm>
            <a:off x="502920" y="2720340"/>
            <a:ext cx="3657600" cy="571500"/>
          </a:xfrm>
          <a:prstGeom prst="rect">
            <a:avLst/>
          </a:prstGeom>
          <a:noFill/>
          <a:ln/>
        </p:spPr>
        <p:txBody>
          <a:bodyPr wrap="square" lIns="0" tIns="0" rIns="0" bIns="0" rtlCol="0" anchor="ctr"/>
          <a:lstStyle/>
          <a:p>
            <a:pPr indent="0" marL="0">
              <a:buNone/>
            </a:pPr>
            <a:r>
              <a:rPr lang="en-US" sz="1050" dirty="0">
                <a:solidFill>
                  <a:srgbClr val="1B2A41"/>
                </a:solidFill>
              </a:rPr>
              <a:t>SURMOUNT-OSA 1 (Malhotra 2024) · tirzepatid, 52 t, bez PAP, n 234</a:t>
            </a:r>
            <a:endParaRPr lang="en-US" sz="1050" dirty="0"/>
          </a:p>
        </p:txBody>
      </p:sp>
      <p:sp>
        <p:nvSpPr>
          <p:cNvPr id="16" name="ci-1"/>
          <p:cNvSpPr/>
          <p:nvPr/>
        </p:nvSpPr>
        <p:spPr>
          <a:xfrm>
            <a:off x="4898746" y="3006090"/>
            <a:ext cx="565709" cy="0"/>
          </a:xfrm>
          <a:prstGeom prst="line">
            <a:avLst/>
          </a:prstGeom>
          <a:noFill/>
          <a:ln w="22225">
            <a:solidFill>
              <a:srgbClr val="2A9D8F"/>
            </a:solidFill>
            <a:prstDash val="solid"/>
          </a:ln>
        </p:spPr>
      </p:sp>
      <p:sp>
        <p:nvSpPr>
          <p:cNvPr id="17" name="pt-1"/>
          <p:cNvSpPr/>
          <p:nvPr/>
        </p:nvSpPr>
        <p:spPr>
          <a:xfrm>
            <a:off x="5090160" y="2914650"/>
            <a:ext cx="182880" cy="182880"/>
          </a:xfrm>
          <a:prstGeom prst="rect">
            <a:avLst/>
          </a:prstGeom>
          <a:solidFill>
            <a:srgbClr val="2A9D8F"/>
          </a:solidFill>
          <a:ln w="12700">
            <a:solidFill>
              <a:srgbClr val="2A9D8F"/>
            </a:solidFill>
            <a:prstDash val="solid"/>
          </a:ln>
        </p:spPr>
      </p:sp>
      <p:sp>
        <p:nvSpPr>
          <p:cNvPr id="18" name="fv-1"/>
          <p:cNvSpPr txBox="1"/>
          <p:nvPr/>
        </p:nvSpPr>
        <p:spPr>
          <a:xfrm>
            <a:off x="6537960" y="2720340"/>
            <a:ext cx="1737360" cy="571500"/>
          </a:xfrm>
          <a:prstGeom prst="rect">
            <a:avLst/>
          </a:prstGeom>
          <a:noFill/>
          <a:ln/>
        </p:spPr>
        <p:txBody>
          <a:bodyPr wrap="square" lIns="0" tIns="0" rIns="0" bIns="0" rtlCol="0" anchor="ctr"/>
          <a:lstStyle/>
          <a:p>
            <a:pPr indent="0" marL="0">
              <a:buNone/>
            </a:pPr>
            <a:r>
              <a:rPr lang="en-US" sz="1000" dirty="0">
                <a:solidFill>
                  <a:srgbClr val="1B2A41"/>
                </a:solidFill>
              </a:rPr>
              <a:t>−20,0 (−25,8 až −14,2)</a:t>
            </a:r>
            <a:endParaRPr lang="en-US" sz="1000" dirty="0"/>
          </a:p>
        </p:txBody>
      </p:sp>
      <p:sp>
        <p:nvSpPr>
          <p:cNvPr id="19" name="zebra-2"/>
          <p:cNvSpPr/>
          <p:nvPr/>
        </p:nvSpPr>
        <p:spPr>
          <a:xfrm>
            <a:off x="457200" y="3291840"/>
            <a:ext cx="7680960" cy="571500"/>
          </a:xfrm>
          <a:prstGeom prst="rect">
            <a:avLst/>
          </a:prstGeom>
          <a:solidFill>
            <a:srgbClr val="EEF2F7"/>
          </a:solidFill>
          <a:ln w="12700">
            <a:solidFill>
              <a:srgbClr val="EEF2F7"/>
            </a:solidFill>
            <a:prstDash val="solid"/>
          </a:ln>
        </p:spPr>
      </p:sp>
      <p:sp>
        <p:nvSpPr>
          <p:cNvPr id="20" name="fl-2"/>
          <p:cNvSpPr txBox="1"/>
          <p:nvPr/>
        </p:nvSpPr>
        <p:spPr>
          <a:xfrm>
            <a:off x="502920" y="3291840"/>
            <a:ext cx="3657600" cy="571500"/>
          </a:xfrm>
          <a:prstGeom prst="rect">
            <a:avLst/>
          </a:prstGeom>
          <a:noFill/>
          <a:ln/>
        </p:spPr>
        <p:txBody>
          <a:bodyPr wrap="square" lIns="0" tIns="0" rIns="0" bIns="0" rtlCol="0" anchor="ctr"/>
          <a:lstStyle/>
          <a:p>
            <a:pPr indent="0" marL="0">
              <a:buNone/>
            </a:pPr>
            <a:r>
              <a:rPr lang="en-US" sz="1050" dirty="0">
                <a:solidFill>
                  <a:srgbClr val="1B2A41"/>
                </a:solidFill>
              </a:rPr>
              <a:t>SURMOUNT-OSA 2 (Malhotra 2024) · tirzepatid, s PAP, n 235</a:t>
            </a:r>
            <a:endParaRPr lang="en-US" sz="1050" dirty="0"/>
          </a:p>
        </p:txBody>
      </p:sp>
      <p:sp>
        <p:nvSpPr>
          <p:cNvPr id="21" name="ci-2"/>
          <p:cNvSpPr/>
          <p:nvPr/>
        </p:nvSpPr>
        <p:spPr>
          <a:xfrm>
            <a:off x="4713427" y="3577590"/>
            <a:ext cx="570586" cy="0"/>
          </a:xfrm>
          <a:prstGeom prst="line">
            <a:avLst/>
          </a:prstGeom>
          <a:noFill/>
          <a:ln w="22225">
            <a:solidFill>
              <a:srgbClr val="2A9D8F"/>
            </a:solidFill>
            <a:prstDash val="solid"/>
          </a:ln>
        </p:spPr>
      </p:sp>
      <p:sp>
        <p:nvSpPr>
          <p:cNvPr id="22" name="pt-2"/>
          <p:cNvSpPr/>
          <p:nvPr/>
        </p:nvSpPr>
        <p:spPr>
          <a:xfrm>
            <a:off x="4904842" y="3486150"/>
            <a:ext cx="182880" cy="182880"/>
          </a:xfrm>
          <a:prstGeom prst="rect">
            <a:avLst/>
          </a:prstGeom>
          <a:solidFill>
            <a:srgbClr val="2A9D8F"/>
          </a:solidFill>
          <a:ln w="12700">
            <a:solidFill>
              <a:srgbClr val="2A9D8F"/>
            </a:solidFill>
            <a:prstDash val="solid"/>
          </a:ln>
        </p:spPr>
      </p:sp>
      <p:sp>
        <p:nvSpPr>
          <p:cNvPr id="23" name="fv-2"/>
          <p:cNvSpPr txBox="1"/>
          <p:nvPr/>
        </p:nvSpPr>
        <p:spPr>
          <a:xfrm>
            <a:off x="6537960" y="3291840"/>
            <a:ext cx="1737360" cy="571500"/>
          </a:xfrm>
          <a:prstGeom prst="rect">
            <a:avLst/>
          </a:prstGeom>
          <a:noFill/>
          <a:ln/>
        </p:spPr>
        <p:txBody>
          <a:bodyPr wrap="square" lIns="0" tIns="0" rIns="0" bIns="0" rtlCol="0" anchor="ctr"/>
          <a:lstStyle/>
          <a:p>
            <a:pPr indent="0" marL="0">
              <a:buNone/>
            </a:pPr>
            <a:r>
              <a:rPr lang="en-US" sz="1000" dirty="0">
                <a:solidFill>
                  <a:srgbClr val="1B2A41"/>
                </a:solidFill>
              </a:rPr>
              <a:t>−23,8 (−29,6 až −17,9)</a:t>
            </a:r>
            <a:endParaRPr lang="en-US" sz="1000" dirty="0"/>
          </a:p>
        </p:txBody>
      </p:sp>
      <p:sp>
        <p:nvSpPr>
          <p:cNvPr id="24" name="fl-3"/>
          <p:cNvSpPr txBox="1"/>
          <p:nvPr/>
        </p:nvSpPr>
        <p:spPr>
          <a:xfrm>
            <a:off x="502920" y="3863340"/>
            <a:ext cx="3657600" cy="571500"/>
          </a:xfrm>
          <a:prstGeom prst="rect">
            <a:avLst/>
          </a:prstGeom>
          <a:noFill/>
          <a:ln/>
        </p:spPr>
        <p:txBody>
          <a:bodyPr wrap="square" lIns="0" tIns="0" rIns="0" bIns="0" rtlCol="0" anchor="ctr"/>
          <a:lstStyle/>
          <a:p>
            <a:pPr indent="0" marL="0">
              <a:buNone/>
            </a:pPr>
            <a:r>
              <a:rPr lang="en-US" sz="1050" dirty="0">
                <a:solidFill>
                  <a:srgbClr val="1B2A41"/>
                </a:solidFill>
              </a:rPr>
              <a:t>TRIUMPH-1-OSA (Grunstein 2026) · retatrutid 9 mg, 80 t, bez DM2</a:t>
            </a:r>
            <a:endParaRPr lang="en-US" sz="1050" dirty="0"/>
          </a:p>
        </p:txBody>
      </p:sp>
      <p:sp>
        <p:nvSpPr>
          <p:cNvPr id="25" name="ci-3"/>
          <p:cNvSpPr/>
          <p:nvPr/>
        </p:nvSpPr>
        <p:spPr>
          <a:xfrm>
            <a:off x="4493971" y="4149090"/>
            <a:ext cx="946099" cy="0"/>
          </a:xfrm>
          <a:prstGeom prst="line">
            <a:avLst/>
          </a:prstGeom>
          <a:noFill/>
          <a:ln w="22225">
            <a:solidFill>
              <a:srgbClr val="2A9D8F"/>
            </a:solidFill>
            <a:prstDash val="solid"/>
          </a:ln>
        </p:spPr>
      </p:sp>
      <p:sp>
        <p:nvSpPr>
          <p:cNvPr id="26" name="pt-3"/>
          <p:cNvSpPr/>
          <p:nvPr/>
        </p:nvSpPr>
        <p:spPr>
          <a:xfrm>
            <a:off x="4903013" y="4085082"/>
            <a:ext cx="128016" cy="128016"/>
          </a:xfrm>
          <a:prstGeom prst="rect">
            <a:avLst/>
          </a:prstGeom>
          <a:solidFill>
            <a:srgbClr val="2A9D8F"/>
          </a:solidFill>
          <a:ln w="12700">
            <a:solidFill>
              <a:srgbClr val="2A9D8F"/>
            </a:solidFill>
            <a:prstDash val="solid"/>
          </a:ln>
        </p:spPr>
      </p:sp>
      <p:sp>
        <p:nvSpPr>
          <p:cNvPr id="27" name="fv-3"/>
          <p:cNvSpPr txBox="1"/>
          <p:nvPr/>
        </p:nvSpPr>
        <p:spPr>
          <a:xfrm>
            <a:off x="6537960" y="3863340"/>
            <a:ext cx="1737360" cy="571500"/>
          </a:xfrm>
          <a:prstGeom prst="rect">
            <a:avLst/>
          </a:prstGeom>
          <a:noFill/>
          <a:ln/>
        </p:spPr>
        <p:txBody>
          <a:bodyPr wrap="square" lIns="0" tIns="0" rIns="0" bIns="0" rtlCol="0" anchor="ctr"/>
          <a:lstStyle/>
          <a:p>
            <a:pPr indent="0" marL="0">
              <a:buNone/>
            </a:pPr>
            <a:r>
              <a:rPr lang="en-US" sz="1000" dirty="0">
                <a:solidFill>
                  <a:srgbClr val="1B2A41"/>
                </a:solidFill>
              </a:rPr>
              <a:t>−24,4 (−34,1 až −14,7)</a:t>
            </a:r>
            <a:endParaRPr lang="en-US" sz="1000" dirty="0"/>
          </a:p>
        </p:txBody>
      </p:sp>
      <p:sp>
        <p:nvSpPr>
          <p:cNvPr id="28" name="zebra-4"/>
          <p:cNvSpPr/>
          <p:nvPr/>
        </p:nvSpPr>
        <p:spPr>
          <a:xfrm>
            <a:off x="457200" y="4434840"/>
            <a:ext cx="7680960" cy="571500"/>
          </a:xfrm>
          <a:prstGeom prst="rect">
            <a:avLst/>
          </a:prstGeom>
          <a:solidFill>
            <a:srgbClr val="EEF2F7"/>
          </a:solidFill>
          <a:ln w="12700">
            <a:solidFill>
              <a:srgbClr val="EEF2F7"/>
            </a:solidFill>
            <a:prstDash val="solid"/>
          </a:ln>
        </p:spPr>
      </p:sp>
      <p:sp>
        <p:nvSpPr>
          <p:cNvPr id="29" name="fl-4"/>
          <p:cNvSpPr txBox="1"/>
          <p:nvPr/>
        </p:nvSpPr>
        <p:spPr>
          <a:xfrm>
            <a:off x="502920" y="4434840"/>
            <a:ext cx="3657600" cy="571500"/>
          </a:xfrm>
          <a:prstGeom prst="rect">
            <a:avLst/>
          </a:prstGeom>
          <a:noFill/>
          <a:ln/>
        </p:spPr>
        <p:txBody>
          <a:bodyPr wrap="square" lIns="0" tIns="0" rIns="0" bIns="0" rtlCol="0" anchor="ctr"/>
          <a:lstStyle/>
          <a:p>
            <a:pPr indent="0" marL="0">
              <a:buNone/>
            </a:pPr>
            <a:r>
              <a:rPr lang="en-US" sz="1050" dirty="0">
                <a:solidFill>
                  <a:srgbClr val="1B2A41"/>
                </a:solidFill>
              </a:rPr>
              <a:t>TRIUMPH-2-OSA (Grunstein 2026) · retatrutid 9 mg, 80 t, s DM2</a:t>
            </a:r>
            <a:endParaRPr lang="en-US" sz="1050" dirty="0"/>
          </a:p>
        </p:txBody>
      </p:sp>
      <p:sp>
        <p:nvSpPr>
          <p:cNvPr id="30" name="ci-4"/>
          <p:cNvSpPr/>
          <p:nvPr/>
        </p:nvSpPr>
        <p:spPr>
          <a:xfrm>
            <a:off x="5103571" y="4720590"/>
            <a:ext cx="702259" cy="0"/>
          </a:xfrm>
          <a:prstGeom prst="line">
            <a:avLst/>
          </a:prstGeom>
          <a:noFill/>
          <a:ln w="22225">
            <a:solidFill>
              <a:srgbClr val="C8553D"/>
            </a:solidFill>
            <a:prstDash val="solid"/>
          </a:ln>
        </p:spPr>
      </p:sp>
      <p:sp>
        <p:nvSpPr>
          <p:cNvPr id="31" name="pt-4"/>
          <p:cNvSpPr/>
          <p:nvPr/>
        </p:nvSpPr>
        <p:spPr>
          <a:xfrm>
            <a:off x="5390693" y="4656582"/>
            <a:ext cx="128016" cy="128016"/>
          </a:xfrm>
          <a:prstGeom prst="rect">
            <a:avLst/>
          </a:prstGeom>
          <a:solidFill>
            <a:srgbClr val="C8553D"/>
          </a:solidFill>
          <a:ln w="12700">
            <a:solidFill>
              <a:srgbClr val="C8553D"/>
            </a:solidFill>
            <a:prstDash val="solid"/>
          </a:ln>
        </p:spPr>
      </p:sp>
      <p:sp>
        <p:nvSpPr>
          <p:cNvPr id="32" name="fv-4"/>
          <p:cNvSpPr txBox="1"/>
          <p:nvPr/>
        </p:nvSpPr>
        <p:spPr>
          <a:xfrm>
            <a:off x="6537960" y="4434840"/>
            <a:ext cx="1737360" cy="571500"/>
          </a:xfrm>
          <a:prstGeom prst="rect">
            <a:avLst/>
          </a:prstGeom>
          <a:noFill/>
          <a:ln/>
        </p:spPr>
        <p:txBody>
          <a:bodyPr wrap="square" lIns="0" tIns="0" rIns="0" bIns="0" rtlCol="0" anchor="ctr"/>
          <a:lstStyle/>
          <a:p>
            <a:pPr indent="0" marL="0">
              <a:buNone/>
            </a:pPr>
            <a:r>
              <a:rPr lang="en-US" sz="1000" dirty="0">
                <a:solidFill>
                  <a:srgbClr val="1B2A41"/>
                </a:solidFill>
              </a:rPr>
              <a:t>−14,4 (−21,6 až −7,2)</a:t>
            </a:r>
            <a:endParaRPr lang="en-US" sz="1000" dirty="0"/>
          </a:p>
        </p:txBody>
      </p:sp>
      <p:sp>
        <p:nvSpPr>
          <p:cNvPr id="33" name="fl-5"/>
          <p:cNvSpPr txBox="1"/>
          <p:nvPr/>
        </p:nvSpPr>
        <p:spPr>
          <a:xfrm>
            <a:off x="502920" y="5006340"/>
            <a:ext cx="3657600" cy="571500"/>
          </a:xfrm>
          <a:prstGeom prst="rect">
            <a:avLst/>
          </a:prstGeom>
          <a:noFill/>
          <a:ln/>
        </p:spPr>
        <p:txBody>
          <a:bodyPr wrap="square" lIns="0" tIns="0" rIns="0" bIns="0" rtlCol="0" anchor="ctr"/>
          <a:lstStyle/>
          <a:p>
            <a:pPr indent="0" marL="0">
              <a:buNone/>
            </a:pPr>
            <a:r>
              <a:rPr lang="en-US" sz="1050" dirty="0">
                <a:solidFill>
                  <a:srgbClr val="1B2A41"/>
                </a:solidFill>
              </a:rPr>
              <a:t>MA 6 RCT GLP-1 RA (Carvalhal 2026) · n 1 069</a:t>
            </a:r>
            <a:endParaRPr lang="en-US" sz="1050" dirty="0"/>
          </a:p>
        </p:txBody>
      </p:sp>
      <p:sp>
        <p:nvSpPr>
          <p:cNvPr id="34" name="ci-5"/>
          <p:cNvSpPr/>
          <p:nvPr/>
        </p:nvSpPr>
        <p:spPr>
          <a:xfrm>
            <a:off x="5353751" y="5292090"/>
            <a:ext cx="632521" cy="0"/>
          </a:xfrm>
          <a:prstGeom prst="line">
            <a:avLst/>
          </a:prstGeom>
          <a:noFill/>
          <a:ln w="22225">
            <a:solidFill>
              <a:srgbClr val="3D5A80"/>
            </a:solidFill>
            <a:prstDash val="solid"/>
          </a:ln>
        </p:spPr>
      </p:sp>
      <p:sp>
        <p:nvSpPr>
          <p:cNvPr id="35" name="pt-5"/>
          <p:cNvSpPr/>
          <p:nvPr/>
        </p:nvSpPr>
        <p:spPr>
          <a:xfrm>
            <a:off x="5605760" y="5228082"/>
            <a:ext cx="128016" cy="128016"/>
          </a:xfrm>
          <a:prstGeom prst="diamond">
            <a:avLst/>
          </a:prstGeom>
          <a:solidFill>
            <a:srgbClr val="3D5A80"/>
          </a:solidFill>
          <a:ln w="12700">
            <a:solidFill>
              <a:srgbClr val="3D5A80"/>
            </a:solidFill>
            <a:prstDash val="solid"/>
          </a:ln>
        </p:spPr>
      </p:sp>
      <p:sp>
        <p:nvSpPr>
          <p:cNvPr id="36" name="fv-5"/>
          <p:cNvSpPr txBox="1"/>
          <p:nvPr/>
        </p:nvSpPr>
        <p:spPr>
          <a:xfrm>
            <a:off x="6537960" y="5006340"/>
            <a:ext cx="1737360" cy="571500"/>
          </a:xfrm>
          <a:prstGeom prst="rect">
            <a:avLst/>
          </a:prstGeom>
          <a:noFill/>
          <a:ln/>
        </p:spPr>
        <p:txBody>
          <a:bodyPr wrap="square" lIns="0" tIns="0" rIns="0" bIns="0" rtlCol="0" anchor="ctr"/>
          <a:lstStyle/>
          <a:p>
            <a:pPr indent="0" marL="0">
              <a:buNone/>
            </a:pPr>
            <a:r>
              <a:rPr lang="en-US" sz="1000" dirty="0">
                <a:solidFill>
                  <a:srgbClr val="1B2A41"/>
                </a:solidFill>
              </a:rPr>
              <a:t>−10,0 (−16,5 až −3,5); I² 87 %</a:t>
            </a:r>
            <a:endParaRPr lang="en-US" sz="1000" dirty="0"/>
          </a:p>
        </p:txBody>
      </p:sp>
      <p:sp>
        <p:nvSpPr>
          <p:cNvPr id="37" name="axis"/>
          <p:cNvSpPr/>
          <p:nvPr/>
        </p:nvSpPr>
        <p:spPr>
          <a:xfrm>
            <a:off x="4206240" y="5623560"/>
            <a:ext cx="2194560" cy="0"/>
          </a:xfrm>
          <a:prstGeom prst="line">
            <a:avLst/>
          </a:prstGeom>
          <a:noFill/>
          <a:ln w="12700">
            <a:solidFill>
              <a:srgbClr val="8D99AE"/>
            </a:solidFill>
            <a:prstDash val="solid"/>
          </a:ln>
        </p:spPr>
      </p:sp>
      <p:sp>
        <p:nvSpPr>
          <p:cNvPr id="38" name="ref"/>
          <p:cNvSpPr/>
          <p:nvPr/>
        </p:nvSpPr>
        <p:spPr>
          <a:xfrm>
            <a:off x="6156960" y="2148840"/>
            <a:ext cx="0" cy="3474720"/>
          </a:xfrm>
          <a:prstGeom prst="line">
            <a:avLst/>
          </a:prstGeom>
          <a:noFill/>
          <a:ln w="12700">
            <a:solidFill>
              <a:srgbClr val="C8553D"/>
            </a:solidFill>
            <a:prstDash val="dash"/>
          </a:ln>
        </p:spPr>
      </p:sp>
      <p:sp>
        <p:nvSpPr>
          <p:cNvPr id="39" name="tick--40"/>
          <p:cNvSpPr/>
          <p:nvPr/>
        </p:nvSpPr>
        <p:spPr>
          <a:xfrm>
            <a:off x="4206240" y="5623560"/>
            <a:ext cx="0" cy="54864"/>
          </a:xfrm>
          <a:prstGeom prst="line">
            <a:avLst/>
          </a:prstGeom>
          <a:noFill/>
          <a:ln w="12700">
            <a:solidFill>
              <a:srgbClr val="8D99AE"/>
            </a:solidFill>
            <a:prstDash val="solid"/>
          </a:ln>
        </p:spPr>
      </p:sp>
      <p:sp>
        <p:nvSpPr>
          <p:cNvPr id="40" name="tl--40"/>
          <p:cNvSpPr txBox="1"/>
          <p:nvPr/>
        </p:nvSpPr>
        <p:spPr>
          <a:xfrm>
            <a:off x="393192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-40</a:t>
            </a:r>
            <a:endParaRPr lang="en-US" sz="900" dirty="0"/>
          </a:p>
        </p:txBody>
      </p:sp>
      <p:sp>
        <p:nvSpPr>
          <p:cNvPr id="41" name="tick--30"/>
          <p:cNvSpPr/>
          <p:nvPr/>
        </p:nvSpPr>
        <p:spPr>
          <a:xfrm>
            <a:off x="4693920" y="5623560"/>
            <a:ext cx="0" cy="54864"/>
          </a:xfrm>
          <a:prstGeom prst="line">
            <a:avLst/>
          </a:prstGeom>
          <a:noFill/>
          <a:ln w="12700">
            <a:solidFill>
              <a:srgbClr val="8D99AE"/>
            </a:solidFill>
            <a:prstDash val="solid"/>
          </a:ln>
        </p:spPr>
      </p:sp>
      <p:sp>
        <p:nvSpPr>
          <p:cNvPr id="42" name="tl--30"/>
          <p:cNvSpPr txBox="1"/>
          <p:nvPr/>
        </p:nvSpPr>
        <p:spPr>
          <a:xfrm>
            <a:off x="441960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-30</a:t>
            </a:r>
            <a:endParaRPr lang="en-US" sz="900" dirty="0"/>
          </a:p>
        </p:txBody>
      </p:sp>
      <p:sp>
        <p:nvSpPr>
          <p:cNvPr id="43" name="tick--20"/>
          <p:cNvSpPr/>
          <p:nvPr/>
        </p:nvSpPr>
        <p:spPr>
          <a:xfrm>
            <a:off x="5181600" y="5623560"/>
            <a:ext cx="0" cy="54864"/>
          </a:xfrm>
          <a:prstGeom prst="line">
            <a:avLst/>
          </a:prstGeom>
          <a:noFill/>
          <a:ln w="12700">
            <a:solidFill>
              <a:srgbClr val="8D99AE"/>
            </a:solidFill>
            <a:prstDash val="solid"/>
          </a:ln>
        </p:spPr>
      </p:sp>
      <p:sp>
        <p:nvSpPr>
          <p:cNvPr id="44" name="tl--20"/>
          <p:cNvSpPr txBox="1"/>
          <p:nvPr/>
        </p:nvSpPr>
        <p:spPr>
          <a:xfrm>
            <a:off x="490728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-20</a:t>
            </a:r>
            <a:endParaRPr lang="en-US" sz="900" dirty="0"/>
          </a:p>
        </p:txBody>
      </p:sp>
      <p:sp>
        <p:nvSpPr>
          <p:cNvPr id="45" name="tick--10"/>
          <p:cNvSpPr/>
          <p:nvPr/>
        </p:nvSpPr>
        <p:spPr>
          <a:xfrm>
            <a:off x="5669280" y="5623560"/>
            <a:ext cx="0" cy="54864"/>
          </a:xfrm>
          <a:prstGeom prst="line">
            <a:avLst/>
          </a:prstGeom>
          <a:noFill/>
          <a:ln w="12700">
            <a:solidFill>
              <a:srgbClr val="8D99AE"/>
            </a:solidFill>
            <a:prstDash val="solid"/>
          </a:ln>
        </p:spPr>
      </p:sp>
      <p:sp>
        <p:nvSpPr>
          <p:cNvPr id="46" name="tl--10"/>
          <p:cNvSpPr txBox="1"/>
          <p:nvPr/>
        </p:nvSpPr>
        <p:spPr>
          <a:xfrm>
            <a:off x="539496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-10</a:t>
            </a:r>
            <a:endParaRPr lang="en-US" sz="900" dirty="0"/>
          </a:p>
        </p:txBody>
      </p:sp>
      <p:sp>
        <p:nvSpPr>
          <p:cNvPr id="47" name="tick-0"/>
          <p:cNvSpPr/>
          <p:nvPr/>
        </p:nvSpPr>
        <p:spPr>
          <a:xfrm>
            <a:off x="6156960" y="5623560"/>
            <a:ext cx="0" cy="54864"/>
          </a:xfrm>
          <a:prstGeom prst="line">
            <a:avLst/>
          </a:prstGeom>
          <a:noFill/>
          <a:ln w="12700">
            <a:solidFill>
              <a:srgbClr val="8D99AE"/>
            </a:solidFill>
            <a:prstDash val="solid"/>
          </a:ln>
        </p:spPr>
      </p:sp>
      <p:sp>
        <p:nvSpPr>
          <p:cNvPr id="48" name="tl-0"/>
          <p:cNvSpPr txBox="1"/>
          <p:nvPr/>
        </p:nvSpPr>
        <p:spPr>
          <a:xfrm>
            <a:off x="5882640" y="56692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a:t>
            </a:r>
            <a:endParaRPr lang="en-US" sz="900" dirty="0"/>
          </a:p>
        </p:txBody>
      </p:sp>
      <p:sp>
        <p:nvSpPr>
          <p:cNvPr id="49" name="xlabel"/>
          <p:cNvSpPr txBox="1"/>
          <p:nvPr/>
        </p:nvSpPr>
        <p:spPr>
          <a:xfrm>
            <a:off x="4206240" y="5824728"/>
            <a:ext cx="2194560" cy="201168"/>
          </a:xfrm>
          <a:prstGeom prst="rect">
            <a:avLst/>
          </a:prstGeom>
          <a:noFill/>
          <a:ln/>
        </p:spPr>
        <p:txBody>
          <a:bodyPr wrap="square" lIns="0" tIns="0" rIns="0" bIns="0" rtlCol="0" anchor="ctr"/>
          <a:lstStyle/>
          <a:p>
            <a:pPr algn="ctr" indent="0" marL="0">
              <a:buNone/>
            </a:pPr>
            <a:r>
              <a:rPr lang="en-US" sz="900" dirty="0">
                <a:solidFill>
                  <a:srgbClr val="8D99AE"/>
                </a:solidFill>
              </a:rPr>
              <a:t>Rozdíl změny AHI vs. placebo (událostí/h)</a:t>
            </a:r>
            <a:endParaRPr lang="en-US" sz="900" dirty="0"/>
          </a:p>
        </p:txBody>
      </p:sp>
      <p:sp>
        <p:nvSpPr>
          <p:cNvPr id="50" name="box-SURMOUNT-OSA: kardiometabolické výsledky (Nat Med 2026, sekundární analýza)"/>
          <p:cNvSpPr/>
          <p:nvPr/>
        </p:nvSpPr>
        <p:spPr>
          <a:xfrm>
            <a:off x="8366760" y="1874520"/>
            <a:ext cx="3383280" cy="3931920"/>
          </a:xfrm>
          <a:prstGeom prst="roundRect">
            <a:avLst>
              <a:gd name="adj" fmla="val 2703"/>
            </a:avLst>
          </a:prstGeom>
          <a:solidFill>
            <a:srgbClr val="EEF2F7"/>
          </a:solidFill>
          <a:ln w="12700">
            <a:solidFill>
              <a:srgbClr val="EEF2F7"/>
            </a:solidFill>
            <a:prstDash val="solid"/>
          </a:ln>
        </p:spPr>
      </p:sp>
      <p:sp>
        <p:nvSpPr>
          <p:cNvPr id="51" name="box-title-SURMOUNT-OSA: kardiometabolické výsledky (Nat Med 2026, sekundární analýza)"/>
          <p:cNvSpPr txBox="1"/>
          <p:nvPr/>
        </p:nvSpPr>
        <p:spPr>
          <a:xfrm>
            <a:off x="8503920" y="1965960"/>
            <a:ext cx="3108960" cy="329184"/>
          </a:xfrm>
          <a:prstGeom prst="rect">
            <a:avLst/>
          </a:prstGeom>
          <a:noFill/>
          <a:ln/>
        </p:spPr>
        <p:txBody>
          <a:bodyPr wrap="square" lIns="0" tIns="0" rIns="0" bIns="0" rtlCol="0" anchor="t"/>
          <a:lstStyle/>
          <a:p>
            <a:pPr indent="0" marL="0">
              <a:buNone/>
            </a:pPr>
            <a:r>
              <a:rPr lang="en-US" sz="1100" b="1" dirty="0">
                <a:solidFill>
                  <a:srgbClr val="2A9D8F"/>
                </a:solidFill>
              </a:rPr>
              <a:t>SURMOUNT-OSA: kardiometabolické výsledky (Nat Med 2026, sekundární analýza)</a:t>
            </a:r>
            <a:endParaRPr lang="en-US" sz="1100" dirty="0"/>
          </a:p>
        </p:txBody>
      </p:sp>
      <p:sp>
        <p:nvSpPr>
          <p:cNvPr id="52" name="box-body-SURMOUNT-OSA: kardiometabolické výsledky (Nat Med 2026, sekundární analýza)"/>
          <p:cNvSpPr txBox="1"/>
          <p:nvPr/>
        </p:nvSpPr>
        <p:spPr>
          <a:xfrm>
            <a:off x="8503920" y="2313432"/>
            <a:ext cx="3108960" cy="3401568"/>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B2A41"/>
                </a:solidFill>
              </a:rPr>
              <a:t>Hmotnost −16,1 % (−18,0 až −14,2) / −17,3 %</a:t>
            </a:r>
            <a:endParaRPr lang="en-US" sz="950" dirty="0"/>
          </a:p>
          <a:p>
            <a:pPr marL="127000" indent="-127000">
              <a:spcAft>
                <a:spcPts val="300"/>
              </a:spcAft>
              <a:buSzPct val="100000"/>
              <a:buChar char="•"/>
            </a:pPr>
            <a:r>
              <a:rPr lang="en-US" sz="950" dirty="0">
                <a:solidFill>
                  <a:srgbClr val="1B2A41"/>
                </a:solidFill>
              </a:rPr>
              <a:t>Hypoxic burden (SASHB) −70,1 / −61,3 %min/h</a:t>
            </a:r>
            <a:endParaRPr lang="en-US" sz="950" dirty="0"/>
          </a:p>
          <a:p>
            <a:pPr marL="127000" indent="-127000">
              <a:spcAft>
                <a:spcPts val="300"/>
              </a:spcAft>
              <a:buSzPct val="100000"/>
              <a:buChar char="•"/>
            </a:pPr>
            <a:r>
              <a:rPr lang="en-US" sz="950" dirty="0">
                <a:solidFill>
                  <a:srgbClr val="1B2A41"/>
                </a:solidFill>
              </a:rPr>
              <a:t>STK −7,9 (−11,0 až −4,9) / −4,3 mm Hg (48. t)</a:t>
            </a:r>
            <a:endParaRPr lang="en-US" sz="950" dirty="0"/>
          </a:p>
          <a:p>
            <a:pPr marL="127000" indent="-127000">
              <a:spcAft>
                <a:spcPts val="300"/>
              </a:spcAft>
              <a:buSzPct val="100000"/>
              <a:buChar char="•"/>
            </a:pPr>
            <a:r>
              <a:rPr lang="en-US" sz="950" dirty="0">
                <a:solidFill>
                  <a:srgbClr val="1B2A41"/>
                </a:solidFill>
              </a:rPr>
              <a:t>hsCRP −28,9 % / −45,1 %</a:t>
            </a:r>
            <a:endParaRPr lang="en-US" sz="950" dirty="0"/>
          </a:p>
          <a:p>
            <a:pPr marL="127000" indent="-127000">
              <a:spcAft>
                <a:spcPts val="300"/>
              </a:spcAft>
              <a:buSzPct val="100000"/>
              <a:buChar char="•"/>
            </a:pPr>
            <a:r>
              <a:rPr lang="en-US" sz="950" dirty="0">
                <a:solidFill>
                  <a:srgbClr val="1B2A41"/>
                </a:solidFill>
              </a:rPr>
              <a:t>HOMA-IR −48,0 % / −54,5 % (p &lt; 0,001)</a:t>
            </a:r>
            <a:endParaRPr lang="en-US" sz="950" dirty="0"/>
          </a:p>
          <a:p>
            <a:pPr marL="127000" indent="-127000">
              <a:spcAft>
                <a:spcPts val="300"/>
              </a:spcAft>
              <a:buSzPct val="100000"/>
              <a:buChar char="•"/>
            </a:pPr>
            <a:r>
              <a:rPr lang="en-US" sz="950" dirty="0">
                <a:solidFill>
                  <a:srgbClr val="1B2A41"/>
                </a:solidFill>
              </a:rPr>
              <a:t>Změny AHI/SASHB nezávisle mediovaly hsCRP, HOMA-IR a TG; STK mediován hmotností</a:t>
            </a:r>
            <a:endParaRPr lang="en-US" sz="950" dirty="0"/>
          </a:p>
          <a:p>
            <a:pPr marL="127000" indent="-127000">
              <a:spcAft>
                <a:spcPts val="300"/>
              </a:spcAft>
              <a:buSzPct val="100000"/>
              <a:buChar char="•"/>
            </a:pPr>
            <a:r>
              <a:rPr lang="en-US" sz="950" dirty="0">
                <a:solidFill>
                  <a:srgbClr val="1B2A41"/>
                </a:solidFill>
              </a:rPr>
              <a:t>Limity: efficacy estimand, 52 týdnů, bez DM, bez tvrdých KV outcomes; efekt vs. placebo až od 20. týdne (Malhotra 2025)</a:t>
            </a:r>
            <a:endParaRPr lang="en-US" sz="950" dirty="0"/>
          </a:p>
        </p:txBody>
      </p:sp>
      <p:sp>
        <p:nvSpPr>
          <p:cNvPr id="53"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Blackman, Int J Obes 2016 · Malhotra, N Engl J Med 2024 · Malhotra, Nat Med 2026 · Malhotra, Sleep Med 2025 · Grunstein, N Engl J Med 2026 · Carvalhal, Sleep Breath 2026 · Pack, Sleep 2025 (fórum) — AASM guideline k tirzepatidu u OSA k 10/2026 nenalezena</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Tvrdé KV outcomy CPAP: SAVE, ISAACC, RICCADSA</a:t>
            </a:r>
            <a:endParaRPr lang="en-US" sz="2500" dirty="0"/>
          </a:p>
        </p:txBody>
      </p:sp>
      <p:sp>
        <p:nvSpPr>
          <p:cNvPr id="3" name="tag-RCT"/>
          <p:cNvSpPr/>
          <p:nvPr/>
        </p:nvSpPr>
        <p:spPr>
          <a:xfrm>
            <a:off x="10881360" y="384048"/>
            <a:ext cx="868680" cy="310896"/>
          </a:xfrm>
          <a:prstGeom prst="roundRect">
            <a:avLst>
              <a:gd name="adj" fmla="val 23529"/>
            </a:avLst>
          </a:prstGeom>
          <a:solidFill>
            <a:srgbClr val="2A9D8F"/>
          </a:solidFill>
          <a:ln w="12700">
            <a:solidFill>
              <a:srgbClr val="2A9D8F"/>
            </a:solidFill>
            <a:prstDash val="solid"/>
          </a:ln>
        </p:spPr>
      </p:sp>
      <p:sp>
        <p:nvSpPr>
          <p:cNvPr id="4" name="tag-text-RCT"/>
          <p:cNvSpPr txBox="1"/>
          <p:nvPr/>
        </p:nvSpPr>
        <p:spPr>
          <a:xfrm>
            <a:off x="10881360" y="384048"/>
            <a:ext cx="868680" cy="310896"/>
          </a:xfrm>
          <a:prstGeom prst="rect">
            <a:avLst/>
          </a:prstGeom>
          <a:noFill/>
          <a:ln/>
        </p:spPr>
        <p:txBody>
          <a:bodyPr wrap="square" lIns="0" tIns="0" rIns="0" bIns="0" rtlCol="0" anchor="ctr"/>
          <a:lstStyle/>
          <a:p>
            <a:pPr algn="ctr" indent="0" marL="0">
              <a:buNone/>
            </a:pPr>
            <a:r>
              <a:rPr lang="en-US" sz="1000" b="1" dirty="0">
                <a:solidFill>
                  <a:srgbClr val="FFFFFF"/>
                </a:solidFill>
              </a:rPr>
              <a:t>RCT</a:t>
            </a:r>
            <a:endParaRPr lang="en-US" sz="1000" dirty="0"/>
          </a:p>
        </p:txBody>
      </p:sp>
      <p:sp>
        <p:nvSpPr>
          <p:cNvPr id="5"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Tři RCT u KV pacientů (převážně nespavých) s adherencí 2,8–3,3 h/noc jsou v ITT neutrální; benefit se objevuje jen v nerandomizovaných on-treatment analýzách.</a:t>
            </a:r>
            <a:endParaRPr lang="en-US" sz="1500" dirty="0"/>
          </a:p>
        </p:txBody>
      </p:sp>
      <p:sp>
        <p:nvSpPr>
          <p:cNvPr id="6" name="fh1"/>
          <p:cNvSpPr txBox="1"/>
          <p:nvPr/>
        </p:nvSpPr>
        <p:spPr>
          <a:xfrm>
            <a:off x="457200" y="1856232"/>
            <a:ext cx="5486400" cy="274320"/>
          </a:xfrm>
          <a:prstGeom prst="rect">
            <a:avLst/>
          </a:prstGeom>
          <a:noFill/>
          <a:ln/>
        </p:spPr>
        <p:txBody>
          <a:bodyPr wrap="square" lIns="0" tIns="0" rIns="0" bIns="0" rtlCol="0" anchor="ctr"/>
          <a:lstStyle/>
          <a:p>
            <a:pPr indent="0" marL="0">
              <a:buNone/>
            </a:pPr>
            <a:r>
              <a:rPr lang="en-US" sz="1000" b="1" dirty="0">
                <a:solidFill>
                  <a:srgbClr val="8D99AE"/>
                </a:solidFill>
              </a:rPr>
              <a:t>RCT · populace · follow-up · adherence</a:t>
            </a:r>
            <a:endParaRPr lang="en-US" sz="1000" dirty="0"/>
          </a:p>
        </p:txBody>
      </p:sp>
      <p:sp>
        <p:nvSpPr>
          <p:cNvPr id="7" name="fh2"/>
          <p:cNvSpPr txBox="1"/>
          <p:nvPr/>
        </p:nvSpPr>
        <p:spPr>
          <a:xfrm>
            <a:off x="9875520" y="1856232"/>
            <a:ext cx="2011680" cy="274320"/>
          </a:xfrm>
          <a:prstGeom prst="rect">
            <a:avLst/>
          </a:prstGeom>
          <a:noFill/>
          <a:ln/>
        </p:spPr>
        <p:txBody>
          <a:bodyPr wrap="square" lIns="0" tIns="0" rIns="0" bIns="0" rtlCol="0" anchor="ctr"/>
          <a:lstStyle/>
          <a:p>
            <a:pPr indent="0" marL="0">
              <a:buNone/>
            </a:pPr>
            <a:r>
              <a:rPr lang="en-US" sz="1000" b="1" dirty="0">
                <a:solidFill>
                  <a:srgbClr val="8D99AE"/>
                </a:solidFill>
              </a:rPr>
              <a:t>HR (95 % CI)</a:t>
            </a:r>
            <a:endParaRPr lang="en-US" sz="1000" dirty="0"/>
          </a:p>
        </p:txBody>
      </p:sp>
      <p:sp>
        <p:nvSpPr>
          <p:cNvPr id="8" name="zebra-0"/>
          <p:cNvSpPr/>
          <p:nvPr/>
        </p:nvSpPr>
        <p:spPr>
          <a:xfrm>
            <a:off x="457200" y="2148840"/>
            <a:ext cx="11292840" cy="628650"/>
          </a:xfrm>
          <a:prstGeom prst="rect">
            <a:avLst/>
          </a:prstGeom>
          <a:solidFill>
            <a:srgbClr val="EEF2F7"/>
          </a:solidFill>
          <a:ln w="12700">
            <a:solidFill>
              <a:srgbClr val="EEF2F7"/>
            </a:solidFill>
            <a:prstDash val="solid"/>
          </a:ln>
        </p:spPr>
      </p:sp>
      <p:sp>
        <p:nvSpPr>
          <p:cNvPr id="9" name="fl-0"/>
          <p:cNvSpPr txBox="1"/>
          <p:nvPr/>
        </p:nvSpPr>
        <p:spPr>
          <a:xfrm>
            <a:off x="502920" y="2148840"/>
            <a:ext cx="5394960" cy="628650"/>
          </a:xfrm>
          <a:prstGeom prst="rect">
            <a:avLst/>
          </a:prstGeom>
          <a:noFill/>
          <a:ln/>
        </p:spPr>
        <p:txBody>
          <a:bodyPr wrap="square" lIns="0" tIns="0" rIns="0" bIns="0" rtlCol="0" anchor="ctr"/>
          <a:lstStyle/>
          <a:p>
            <a:pPr indent="0" marL="0">
              <a:buNone/>
            </a:pPr>
            <a:r>
              <a:rPr lang="en-US" sz="1050" dirty="0">
                <a:solidFill>
                  <a:srgbClr val="1B2A41"/>
                </a:solidFill>
              </a:rPr>
              <a:t>SAVE (McEvoy 2016) · n 2 717, ICHS/CMP, 45–75 let, FU 3,7 r · adherence 3,3 h/noc · ITT</a:t>
            </a:r>
            <a:endParaRPr lang="en-US" sz="1050" dirty="0"/>
          </a:p>
        </p:txBody>
      </p:sp>
      <p:sp>
        <p:nvSpPr>
          <p:cNvPr id="10" name="ci-0"/>
          <p:cNvSpPr/>
          <p:nvPr/>
        </p:nvSpPr>
        <p:spPr>
          <a:xfrm>
            <a:off x="8740870" y="2463165"/>
            <a:ext cx="471148" cy="0"/>
          </a:xfrm>
          <a:prstGeom prst="line">
            <a:avLst/>
          </a:prstGeom>
          <a:noFill/>
          <a:ln w="22225">
            <a:solidFill>
              <a:srgbClr val="3D5A80"/>
            </a:solidFill>
            <a:prstDash val="solid"/>
          </a:ln>
        </p:spPr>
      </p:sp>
      <p:sp>
        <p:nvSpPr>
          <p:cNvPr id="11" name="pt-0"/>
          <p:cNvSpPr/>
          <p:nvPr/>
        </p:nvSpPr>
        <p:spPr>
          <a:xfrm>
            <a:off x="8889627" y="2371725"/>
            <a:ext cx="182880" cy="182880"/>
          </a:xfrm>
          <a:prstGeom prst="rect">
            <a:avLst/>
          </a:prstGeom>
          <a:solidFill>
            <a:srgbClr val="3D5A80"/>
          </a:solidFill>
          <a:ln w="12700">
            <a:solidFill>
              <a:srgbClr val="3D5A80"/>
            </a:solidFill>
            <a:prstDash val="solid"/>
          </a:ln>
        </p:spPr>
      </p:sp>
      <p:sp>
        <p:nvSpPr>
          <p:cNvPr id="12" name="fv-0"/>
          <p:cNvSpPr txBox="1"/>
          <p:nvPr/>
        </p:nvSpPr>
        <p:spPr>
          <a:xfrm>
            <a:off x="9875520" y="2148840"/>
            <a:ext cx="2011680" cy="628650"/>
          </a:xfrm>
          <a:prstGeom prst="rect">
            <a:avLst/>
          </a:prstGeom>
          <a:noFill/>
          <a:ln/>
        </p:spPr>
        <p:txBody>
          <a:bodyPr wrap="square" lIns="0" tIns="0" rIns="0" bIns="0" rtlCol="0" anchor="ctr"/>
          <a:lstStyle/>
          <a:p>
            <a:pPr indent="0" marL="0">
              <a:buNone/>
            </a:pPr>
            <a:r>
              <a:rPr lang="en-US" sz="1000" dirty="0">
                <a:solidFill>
                  <a:srgbClr val="1B2A41"/>
                </a:solidFill>
              </a:rPr>
              <a:t>1,10 (0,91–1,32); p = 0,34</a:t>
            </a:r>
            <a:endParaRPr lang="en-US" sz="1000" dirty="0"/>
          </a:p>
        </p:txBody>
      </p:sp>
      <p:sp>
        <p:nvSpPr>
          <p:cNvPr id="13" name="fl-1"/>
          <p:cNvSpPr txBox="1"/>
          <p:nvPr/>
        </p:nvSpPr>
        <p:spPr>
          <a:xfrm>
            <a:off x="502920" y="2777490"/>
            <a:ext cx="5394960" cy="628650"/>
          </a:xfrm>
          <a:prstGeom prst="rect">
            <a:avLst/>
          </a:prstGeom>
          <a:noFill/>
          <a:ln/>
        </p:spPr>
        <p:txBody>
          <a:bodyPr wrap="square" lIns="0" tIns="0" rIns="0" bIns="0" rtlCol="0" anchor="ctr"/>
          <a:lstStyle/>
          <a:p>
            <a:pPr indent="0" marL="0">
              <a:buNone/>
            </a:pPr>
            <a:r>
              <a:rPr lang="en-US" sz="1050" dirty="0">
                <a:solidFill>
                  <a:srgbClr val="1B2A41"/>
                </a:solidFill>
              </a:rPr>
              <a:t>ISAACC (Sánchez-de-la-Torre 2020) · n 1 264, nespaví po AKS, FU 3,35 r · 2,78 h/noc · ITT</a:t>
            </a:r>
            <a:endParaRPr lang="en-US" sz="1050" dirty="0"/>
          </a:p>
        </p:txBody>
      </p:sp>
      <p:sp>
        <p:nvSpPr>
          <p:cNvPr id="14" name="ci-1"/>
          <p:cNvSpPr/>
          <p:nvPr/>
        </p:nvSpPr>
        <p:spPr>
          <a:xfrm>
            <a:off x="8371808" y="3091815"/>
            <a:ext cx="687407" cy="0"/>
          </a:xfrm>
          <a:prstGeom prst="line">
            <a:avLst/>
          </a:prstGeom>
          <a:noFill/>
          <a:ln w="22225">
            <a:solidFill>
              <a:srgbClr val="3D5A80"/>
            </a:solidFill>
            <a:prstDash val="solid"/>
          </a:ln>
        </p:spPr>
      </p:sp>
      <p:sp>
        <p:nvSpPr>
          <p:cNvPr id="15" name="pt-1"/>
          <p:cNvSpPr/>
          <p:nvPr/>
        </p:nvSpPr>
        <p:spPr>
          <a:xfrm>
            <a:off x="8621279" y="3000375"/>
            <a:ext cx="182880" cy="182880"/>
          </a:xfrm>
          <a:prstGeom prst="rect">
            <a:avLst/>
          </a:prstGeom>
          <a:solidFill>
            <a:srgbClr val="3D5A80"/>
          </a:solidFill>
          <a:ln w="12700">
            <a:solidFill>
              <a:srgbClr val="3D5A80"/>
            </a:solidFill>
            <a:prstDash val="solid"/>
          </a:ln>
        </p:spPr>
      </p:sp>
      <p:sp>
        <p:nvSpPr>
          <p:cNvPr id="16" name="fv-1"/>
          <p:cNvSpPr txBox="1"/>
          <p:nvPr/>
        </p:nvSpPr>
        <p:spPr>
          <a:xfrm>
            <a:off x="9875520" y="2777490"/>
            <a:ext cx="2011680" cy="628650"/>
          </a:xfrm>
          <a:prstGeom prst="rect">
            <a:avLst/>
          </a:prstGeom>
          <a:noFill/>
          <a:ln/>
        </p:spPr>
        <p:txBody>
          <a:bodyPr wrap="square" lIns="0" tIns="0" rIns="0" bIns="0" rtlCol="0" anchor="ctr"/>
          <a:lstStyle/>
          <a:p>
            <a:pPr indent="0" marL="0">
              <a:buNone/>
            </a:pPr>
            <a:r>
              <a:rPr lang="en-US" sz="1000" dirty="0">
                <a:solidFill>
                  <a:srgbClr val="1B2A41"/>
                </a:solidFill>
              </a:rPr>
              <a:t>0,89 (0,68–1,17); p = 0,40</a:t>
            </a:r>
            <a:endParaRPr lang="en-US" sz="1000" dirty="0"/>
          </a:p>
        </p:txBody>
      </p:sp>
      <p:sp>
        <p:nvSpPr>
          <p:cNvPr id="17" name="zebra-2"/>
          <p:cNvSpPr/>
          <p:nvPr/>
        </p:nvSpPr>
        <p:spPr>
          <a:xfrm>
            <a:off x="457200" y="3406140"/>
            <a:ext cx="11292840" cy="628650"/>
          </a:xfrm>
          <a:prstGeom prst="rect">
            <a:avLst/>
          </a:prstGeom>
          <a:solidFill>
            <a:srgbClr val="EEF2F7"/>
          </a:solidFill>
          <a:ln w="12700">
            <a:solidFill>
              <a:srgbClr val="EEF2F7"/>
            </a:solidFill>
            <a:prstDash val="solid"/>
          </a:ln>
        </p:spPr>
      </p:sp>
      <p:sp>
        <p:nvSpPr>
          <p:cNvPr id="18" name="fl-2"/>
          <p:cNvSpPr txBox="1"/>
          <p:nvPr/>
        </p:nvSpPr>
        <p:spPr>
          <a:xfrm>
            <a:off x="502920" y="3406140"/>
            <a:ext cx="5394960" cy="628650"/>
          </a:xfrm>
          <a:prstGeom prst="rect">
            <a:avLst/>
          </a:prstGeom>
          <a:noFill/>
          <a:ln/>
        </p:spPr>
        <p:txBody>
          <a:bodyPr wrap="square" lIns="0" tIns="0" rIns="0" bIns="0" rtlCol="0" anchor="ctr"/>
          <a:lstStyle/>
          <a:p>
            <a:pPr indent="0" marL="0">
              <a:buNone/>
            </a:pPr>
            <a:r>
              <a:rPr lang="en-US" sz="1050" dirty="0">
                <a:solidFill>
                  <a:srgbClr val="1B2A41"/>
                </a:solidFill>
              </a:rPr>
              <a:t>RICCADSA (Peker 2016) · n 244, po revaskularizaci, ESS &lt; 10, FU 57 měs. · ITT</a:t>
            </a:r>
            <a:endParaRPr lang="en-US" sz="1050" dirty="0"/>
          </a:p>
        </p:txBody>
      </p:sp>
      <p:sp>
        <p:nvSpPr>
          <p:cNvPr id="19" name="ci-2"/>
          <p:cNvSpPr/>
          <p:nvPr/>
        </p:nvSpPr>
        <p:spPr>
          <a:xfrm>
            <a:off x="7876689" y="3720465"/>
            <a:ext cx="1418879" cy="0"/>
          </a:xfrm>
          <a:prstGeom prst="line">
            <a:avLst/>
          </a:prstGeom>
          <a:noFill/>
          <a:ln w="22225">
            <a:solidFill>
              <a:srgbClr val="3D5A80"/>
            </a:solidFill>
            <a:prstDash val="solid"/>
          </a:ln>
        </p:spPr>
      </p:sp>
      <p:sp>
        <p:nvSpPr>
          <p:cNvPr id="20" name="pt-2"/>
          <p:cNvSpPr/>
          <p:nvPr/>
        </p:nvSpPr>
        <p:spPr>
          <a:xfrm>
            <a:off x="8486234" y="3629025"/>
            <a:ext cx="182880" cy="182880"/>
          </a:xfrm>
          <a:prstGeom prst="rect">
            <a:avLst/>
          </a:prstGeom>
          <a:solidFill>
            <a:srgbClr val="3D5A80"/>
          </a:solidFill>
          <a:ln w="12700">
            <a:solidFill>
              <a:srgbClr val="3D5A80"/>
            </a:solidFill>
            <a:prstDash val="solid"/>
          </a:ln>
        </p:spPr>
      </p:sp>
      <p:sp>
        <p:nvSpPr>
          <p:cNvPr id="21" name="fv-2"/>
          <p:cNvSpPr txBox="1"/>
          <p:nvPr/>
        </p:nvSpPr>
        <p:spPr>
          <a:xfrm>
            <a:off x="9875520" y="3406140"/>
            <a:ext cx="2011680" cy="628650"/>
          </a:xfrm>
          <a:prstGeom prst="rect">
            <a:avLst/>
          </a:prstGeom>
          <a:noFill/>
          <a:ln/>
        </p:spPr>
        <p:txBody>
          <a:bodyPr wrap="square" lIns="0" tIns="0" rIns="0" bIns="0" rtlCol="0" anchor="ctr"/>
          <a:lstStyle/>
          <a:p>
            <a:pPr indent="0" marL="0">
              <a:buNone/>
            </a:pPr>
            <a:r>
              <a:rPr lang="en-US" sz="1000" dirty="0">
                <a:solidFill>
                  <a:srgbClr val="1B2A41"/>
                </a:solidFill>
              </a:rPr>
              <a:t>0,80 (0,46–1,41); p = 0,45</a:t>
            </a:r>
            <a:endParaRPr lang="en-US" sz="1000" dirty="0"/>
          </a:p>
        </p:txBody>
      </p:sp>
      <p:sp>
        <p:nvSpPr>
          <p:cNvPr id="22" name="fl-3"/>
          <p:cNvSpPr txBox="1"/>
          <p:nvPr/>
        </p:nvSpPr>
        <p:spPr>
          <a:xfrm>
            <a:off x="502920" y="4034790"/>
            <a:ext cx="5394960" cy="628650"/>
          </a:xfrm>
          <a:prstGeom prst="rect">
            <a:avLst/>
          </a:prstGeom>
          <a:noFill/>
          <a:ln/>
        </p:spPr>
        <p:txBody>
          <a:bodyPr wrap="square" lIns="0" tIns="0" rIns="0" bIns="0" rtlCol="0" anchor="ctr"/>
          <a:lstStyle/>
          <a:p>
            <a:pPr indent="0" marL="0">
              <a:buNone/>
            </a:pPr>
            <a:r>
              <a:rPr lang="en-US" sz="1000" i="1" dirty="0">
                <a:solidFill>
                  <a:srgbClr val="8D99AE"/>
                </a:solidFill>
              </a:rPr>
              <a:t>RICCADSA · adjustovaná on-treatment analýza, CPAP ≥ 4 h vs. &lt; 4 h/bez – NERANDOMIZOVANÉ</a:t>
            </a:r>
            <a:endParaRPr lang="en-US" sz="1000" dirty="0"/>
          </a:p>
        </p:txBody>
      </p:sp>
      <p:sp>
        <p:nvSpPr>
          <p:cNvPr id="23" name="ci-3"/>
          <p:cNvSpPr/>
          <p:nvPr/>
        </p:nvSpPr>
        <p:spPr>
          <a:xfrm>
            <a:off x="5943600" y="4349115"/>
            <a:ext cx="2725685" cy="0"/>
          </a:xfrm>
          <a:prstGeom prst="line">
            <a:avLst/>
          </a:prstGeom>
          <a:noFill/>
          <a:ln w="12700">
            <a:solidFill>
              <a:srgbClr val="C8553D"/>
            </a:solidFill>
            <a:prstDash val="dash"/>
          </a:ln>
        </p:spPr>
      </p:sp>
      <p:sp>
        <p:nvSpPr>
          <p:cNvPr id="24" name="pt-3"/>
          <p:cNvSpPr/>
          <p:nvPr/>
        </p:nvSpPr>
        <p:spPr>
          <a:xfrm>
            <a:off x="7228285" y="4285107"/>
            <a:ext cx="128016" cy="128016"/>
          </a:xfrm>
          <a:prstGeom prst="rect">
            <a:avLst/>
          </a:prstGeom>
          <a:solidFill>
            <a:srgbClr val="FFFFFF"/>
          </a:solidFill>
          <a:ln w="12700">
            <a:solidFill>
              <a:srgbClr val="C8553D"/>
            </a:solidFill>
            <a:prstDash val="solid"/>
          </a:ln>
        </p:spPr>
      </p:sp>
      <p:sp>
        <p:nvSpPr>
          <p:cNvPr id="25" name="fv-3"/>
          <p:cNvSpPr txBox="1"/>
          <p:nvPr/>
        </p:nvSpPr>
        <p:spPr>
          <a:xfrm>
            <a:off x="9875520" y="4034790"/>
            <a:ext cx="2011680" cy="628650"/>
          </a:xfrm>
          <a:prstGeom prst="rect">
            <a:avLst/>
          </a:prstGeom>
          <a:noFill/>
          <a:ln/>
        </p:spPr>
        <p:txBody>
          <a:bodyPr wrap="square" lIns="0" tIns="0" rIns="0" bIns="0" rtlCol="0" anchor="ctr"/>
          <a:lstStyle/>
          <a:p>
            <a:pPr indent="0" marL="0">
              <a:buNone/>
            </a:pPr>
            <a:r>
              <a:rPr lang="en-US" sz="1000" dirty="0">
                <a:solidFill>
                  <a:srgbClr val="8D99AE"/>
                </a:solidFill>
              </a:rPr>
              <a:t>0,29 (0,10–0,86); p = 0,026</a:t>
            </a:r>
            <a:endParaRPr lang="en-US" sz="1000" dirty="0"/>
          </a:p>
        </p:txBody>
      </p:sp>
      <p:sp>
        <p:nvSpPr>
          <p:cNvPr id="26" name="axis"/>
          <p:cNvSpPr/>
          <p:nvPr/>
        </p:nvSpPr>
        <p:spPr>
          <a:xfrm>
            <a:off x="5943600" y="4709160"/>
            <a:ext cx="3794760" cy="0"/>
          </a:xfrm>
          <a:prstGeom prst="line">
            <a:avLst/>
          </a:prstGeom>
          <a:noFill/>
          <a:ln w="12700">
            <a:solidFill>
              <a:srgbClr val="8D99AE"/>
            </a:solidFill>
            <a:prstDash val="solid"/>
          </a:ln>
        </p:spPr>
      </p:sp>
      <p:sp>
        <p:nvSpPr>
          <p:cNvPr id="27" name="ref"/>
          <p:cNvSpPr/>
          <p:nvPr/>
        </p:nvSpPr>
        <p:spPr>
          <a:xfrm>
            <a:off x="8860335" y="2148840"/>
            <a:ext cx="0" cy="2560320"/>
          </a:xfrm>
          <a:prstGeom prst="line">
            <a:avLst/>
          </a:prstGeom>
          <a:noFill/>
          <a:ln w="12700">
            <a:solidFill>
              <a:srgbClr val="C8553D"/>
            </a:solidFill>
            <a:prstDash val="dash"/>
          </a:ln>
        </p:spPr>
      </p:sp>
      <p:sp>
        <p:nvSpPr>
          <p:cNvPr id="28" name="tick-0.1"/>
          <p:cNvSpPr/>
          <p:nvPr/>
        </p:nvSpPr>
        <p:spPr>
          <a:xfrm>
            <a:off x="5943600" y="4709160"/>
            <a:ext cx="0" cy="54864"/>
          </a:xfrm>
          <a:prstGeom prst="line">
            <a:avLst/>
          </a:prstGeom>
          <a:noFill/>
          <a:ln w="12700">
            <a:solidFill>
              <a:srgbClr val="8D99AE"/>
            </a:solidFill>
            <a:prstDash val="solid"/>
          </a:ln>
        </p:spPr>
      </p:sp>
      <p:sp>
        <p:nvSpPr>
          <p:cNvPr id="29" name="tl-0.1"/>
          <p:cNvSpPr txBox="1"/>
          <p:nvPr/>
        </p:nvSpPr>
        <p:spPr>
          <a:xfrm>
            <a:off x="5669280" y="47548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0,1</a:t>
            </a:r>
            <a:endParaRPr lang="en-US" sz="900" dirty="0"/>
          </a:p>
        </p:txBody>
      </p:sp>
      <p:sp>
        <p:nvSpPr>
          <p:cNvPr id="30" name="tick-0.25"/>
          <p:cNvSpPr/>
          <p:nvPr/>
        </p:nvSpPr>
        <p:spPr>
          <a:xfrm>
            <a:off x="7104286" y="4709160"/>
            <a:ext cx="0" cy="54864"/>
          </a:xfrm>
          <a:prstGeom prst="line">
            <a:avLst/>
          </a:prstGeom>
          <a:noFill/>
          <a:ln w="12700">
            <a:solidFill>
              <a:srgbClr val="8D99AE"/>
            </a:solidFill>
            <a:prstDash val="solid"/>
          </a:ln>
        </p:spPr>
      </p:sp>
      <p:sp>
        <p:nvSpPr>
          <p:cNvPr id="31" name="tl-0.25"/>
          <p:cNvSpPr txBox="1"/>
          <p:nvPr/>
        </p:nvSpPr>
        <p:spPr>
          <a:xfrm>
            <a:off x="6829966" y="47548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0,25</a:t>
            </a:r>
            <a:endParaRPr lang="en-US" sz="900" dirty="0"/>
          </a:p>
        </p:txBody>
      </p:sp>
      <p:sp>
        <p:nvSpPr>
          <p:cNvPr id="32" name="tick-0.5"/>
          <p:cNvSpPr/>
          <p:nvPr/>
        </p:nvSpPr>
        <p:spPr>
          <a:xfrm>
            <a:off x="7982310" y="4709160"/>
            <a:ext cx="0" cy="54864"/>
          </a:xfrm>
          <a:prstGeom prst="line">
            <a:avLst/>
          </a:prstGeom>
          <a:noFill/>
          <a:ln w="12700">
            <a:solidFill>
              <a:srgbClr val="8D99AE"/>
            </a:solidFill>
            <a:prstDash val="solid"/>
          </a:ln>
        </p:spPr>
      </p:sp>
      <p:sp>
        <p:nvSpPr>
          <p:cNvPr id="33" name="tl-0.5"/>
          <p:cNvSpPr txBox="1"/>
          <p:nvPr/>
        </p:nvSpPr>
        <p:spPr>
          <a:xfrm>
            <a:off x="7707990" y="47548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0,5</a:t>
            </a:r>
            <a:endParaRPr lang="en-US" sz="900" dirty="0"/>
          </a:p>
        </p:txBody>
      </p:sp>
      <p:sp>
        <p:nvSpPr>
          <p:cNvPr id="34" name="tick-1"/>
          <p:cNvSpPr/>
          <p:nvPr/>
        </p:nvSpPr>
        <p:spPr>
          <a:xfrm>
            <a:off x="8860335" y="4709160"/>
            <a:ext cx="0" cy="54864"/>
          </a:xfrm>
          <a:prstGeom prst="line">
            <a:avLst/>
          </a:prstGeom>
          <a:noFill/>
          <a:ln w="12700">
            <a:solidFill>
              <a:srgbClr val="8D99AE"/>
            </a:solidFill>
            <a:prstDash val="solid"/>
          </a:ln>
        </p:spPr>
      </p:sp>
      <p:sp>
        <p:nvSpPr>
          <p:cNvPr id="35" name="tl-1"/>
          <p:cNvSpPr txBox="1"/>
          <p:nvPr/>
        </p:nvSpPr>
        <p:spPr>
          <a:xfrm>
            <a:off x="8586015" y="47548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a:t>
            </a:r>
            <a:endParaRPr lang="en-US" sz="900" dirty="0"/>
          </a:p>
        </p:txBody>
      </p:sp>
      <p:sp>
        <p:nvSpPr>
          <p:cNvPr id="36" name="tick-2"/>
          <p:cNvSpPr/>
          <p:nvPr/>
        </p:nvSpPr>
        <p:spPr>
          <a:xfrm>
            <a:off x="9738360" y="4709160"/>
            <a:ext cx="0" cy="54864"/>
          </a:xfrm>
          <a:prstGeom prst="line">
            <a:avLst/>
          </a:prstGeom>
          <a:noFill/>
          <a:ln w="12700">
            <a:solidFill>
              <a:srgbClr val="8D99AE"/>
            </a:solidFill>
            <a:prstDash val="solid"/>
          </a:ln>
        </p:spPr>
      </p:sp>
      <p:sp>
        <p:nvSpPr>
          <p:cNvPr id="37" name="tl-2"/>
          <p:cNvSpPr txBox="1"/>
          <p:nvPr/>
        </p:nvSpPr>
        <p:spPr>
          <a:xfrm>
            <a:off x="9464040" y="475488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2</a:t>
            </a:r>
            <a:endParaRPr lang="en-US" sz="900" dirty="0"/>
          </a:p>
        </p:txBody>
      </p:sp>
      <p:sp>
        <p:nvSpPr>
          <p:cNvPr id="38" name="xlabel"/>
          <p:cNvSpPr txBox="1"/>
          <p:nvPr/>
        </p:nvSpPr>
        <p:spPr>
          <a:xfrm>
            <a:off x="5943600" y="4910328"/>
            <a:ext cx="3794760" cy="201168"/>
          </a:xfrm>
          <a:prstGeom prst="rect">
            <a:avLst/>
          </a:prstGeom>
          <a:noFill/>
          <a:ln/>
        </p:spPr>
        <p:txBody>
          <a:bodyPr wrap="square" lIns="0" tIns="0" rIns="0" bIns="0" rtlCol="0" anchor="ctr"/>
          <a:lstStyle/>
          <a:p>
            <a:pPr algn="ctr" indent="0" marL="0">
              <a:buNone/>
            </a:pPr>
            <a:r>
              <a:rPr lang="en-US" sz="900" dirty="0">
                <a:solidFill>
                  <a:srgbClr val="8D99AE"/>
                </a:solidFill>
              </a:rPr>
              <a:t>HR primárního složeného KV endpointu, CPAP vs. usual care (log škála)</a:t>
            </a:r>
            <a:endParaRPr lang="en-US" sz="900" dirty="0"/>
          </a:p>
        </p:txBody>
      </p:sp>
      <p:sp>
        <p:nvSpPr>
          <p:cNvPr id="39" name="box-Co studie ukázaly navíc"/>
          <p:cNvSpPr/>
          <p:nvPr/>
        </p:nvSpPr>
        <p:spPr>
          <a:xfrm>
            <a:off x="457200" y="4937760"/>
            <a:ext cx="5486400" cy="1051560"/>
          </a:xfrm>
          <a:prstGeom prst="roundRect">
            <a:avLst>
              <a:gd name="adj" fmla="val 8696"/>
            </a:avLst>
          </a:prstGeom>
          <a:solidFill>
            <a:srgbClr val="EEF2F7"/>
          </a:solidFill>
          <a:ln w="12700">
            <a:solidFill>
              <a:srgbClr val="EEF2F7"/>
            </a:solidFill>
            <a:prstDash val="solid"/>
          </a:ln>
        </p:spPr>
      </p:sp>
      <p:sp>
        <p:nvSpPr>
          <p:cNvPr id="40" name="box-title-Co studie ukázaly navíc"/>
          <p:cNvSpPr txBox="1"/>
          <p:nvPr/>
        </p:nvSpPr>
        <p:spPr>
          <a:xfrm>
            <a:off x="594360" y="5029200"/>
            <a:ext cx="5212080" cy="329184"/>
          </a:xfrm>
          <a:prstGeom prst="rect">
            <a:avLst/>
          </a:prstGeom>
          <a:noFill/>
          <a:ln/>
        </p:spPr>
        <p:txBody>
          <a:bodyPr wrap="square" lIns="0" tIns="0" rIns="0" bIns="0" rtlCol="0" anchor="t"/>
          <a:lstStyle/>
          <a:p>
            <a:pPr indent="0" marL="0">
              <a:buNone/>
            </a:pPr>
            <a:r>
              <a:rPr lang="en-US" sz="1250" b="1" dirty="0">
                <a:solidFill>
                  <a:srgbClr val="1B2A41"/>
                </a:solidFill>
              </a:rPr>
              <a:t>Co studie ukázaly navíc</a:t>
            </a:r>
            <a:endParaRPr lang="en-US" sz="1250" dirty="0"/>
          </a:p>
        </p:txBody>
      </p:sp>
      <p:sp>
        <p:nvSpPr>
          <p:cNvPr id="41" name="box-body-Co studie ukázaly navíc"/>
          <p:cNvSpPr txBox="1"/>
          <p:nvPr/>
        </p:nvSpPr>
        <p:spPr>
          <a:xfrm>
            <a:off x="594360" y="5376672"/>
            <a:ext cx="5212080" cy="52120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B2A41"/>
                </a:solidFill>
              </a:rPr>
              <a:t>SAVE: AHI 29,0 → 3,7/h; ↓ chrápání a spavost, ↑ kvalita života a nálada; žádný efekt na jednotlivé KV endpointy</a:t>
            </a:r>
            <a:endParaRPr lang="en-US" sz="1000" dirty="0"/>
          </a:p>
          <a:p>
            <a:pPr marL="127000" indent="-127000">
              <a:spcAft>
                <a:spcPts val="300"/>
              </a:spcAft>
              <a:buSzPct val="100000"/>
              <a:buChar char="•"/>
            </a:pPr>
            <a:r>
              <a:rPr lang="en-US" sz="1000" dirty="0">
                <a:solidFill>
                  <a:srgbClr val="1B2A41"/>
                </a:solidFill>
              </a:rPr>
              <a:t>ISAACC: pacienti s OSA neměli více příhod než bez OSA – HR 1,01 (0,76–1,35); bez vztahu ke compliance či tíži</a:t>
            </a:r>
            <a:endParaRPr lang="en-US" sz="1000" dirty="0"/>
          </a:p>
        </p:txBody>
      </p:sp>
      <p:sp>
        <p:nvSpPr>
          <p:cNvPr id="42" name="box-Pozor na on-treatment analýzy"/>
          <p:cNvSpPr/>
          <p:nvPr/>
        </p:nvSpPr>
        <p:spPr>
          <a:xfrm>
            <a:off x="6172200" y="4937760"/>
            <a:ext cx="5577840" cy="1051560"/>
          </a:xfrm>
          <a:prstGeom prst="roundRect">
            <a:avLst>
              <a:gd name="adj" fmla="val 8696"/>
            </a:avLst>
          </a:prstGeom>
          <a:solidFill>
            <a:srgbClr val="FBEDE9"/>
          </a:solidFill>
          <a:ln w="12700">
            <a:solidFill>
              <a:srgbClr val="FBEDE9"/>
            </a:solidFill>
            <a:prstDash val="solid"/>
          </a:ln>
        </p:spPr>
      </p:sp>
      <p:sp>
        <p:nvSpPr>
          <p:cNvPr id="43" name="box-title-Pozor na on-treatment analýzy"/>
          <p:cNvSpPr txBox="1"/>
          <p:nvPr/>
        </p:nvSpPr>
        <p:spPr>
          <a:xfrm>
            <a:off x="6309360" y="5029200"/>
            <a:ext cx="5303520" cy="329184"/>
          </a:xfrm>
          <a:prstGeom prst="rect">
            <a:avLst/>
          </a:prstGeom>
          <a:noFill/>
          <a:ln/>
        </p:spPr>
        <p:txBody>
          <a:bodyPr wrap="square" lIns="0" tIns="0" rIns="0" bIns="0" rtlCol="0" anchor="t"/>
          <a:lstStyle/>
          <a:p>
            <a:pPr indent="0" marL="0">
              <a:buNone/>
            </a:pPr>
            <a:r>
              <a:rPr lang="en-US" sz="1250" b="1" dirty="0">
                <a:solidFill>
                  <a:srgbClr val="C8553D"/>
                </a:solidFill>
              </a:rPr>
              <a:t>Pozor na on-treatment analýzy</a:t>
            </a:r>
            <a:endParaRPr lang="en-US" sz="1250" dirty="0"/>
          </a:p>
        </p:txBody>
      </p:sp>
      <p:sp>
        <p:nvSpPr>
          <p:cNvPr id="44" name="box-body-Pozor na on-treatment analýzy"/>
          <p:cNvSpPr txBox="1"/>
          <p:nvPr/>
        </p:nvSpPr>
        <p:spPr>
          <a:xfrm>
            <a:off x="6309360" y="5376672"/>
            <a:ext cx="5303520" cy="52120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B2A41"/>
                </a:solidFill>
              </a:rPr>
              <a:t>Adherentní pacienti se liší od neadherentních (healthy-adherer bias) – HR 0,29 není důkaz účinku</a:t>
            </a:r>
            <a:endParaRPr lang="en-US" sz="1000" dirty="0"/>
          </a:p>
          <a:p>
            <a:pPr marL="127000" indent="-127000">
              <a:spcAft>
                <a:spcPts val="300"/>
              </a:spcAft>
              <a:buSzPct val="100000"/>
              <a:buChar char="•"/>
            </a:pPr>
            <a:r>
              <a:rPr lang="en-US" sz="1000" dirty="0">
                <a:solidFill>
                  <a:srgbClr val="1B2A41"/>
                </a:solidFill>
              </a:rPr>
              <a:t>SAVE propensity-matched ≥ 4 h: čísla z plného textu NEJM nebyla ověřitelná (web blokován) – neuvádím</a:t>
            </a:r>
            <a:endParaRPr lang="en-US" sz="1000" dirty="0"/>
          </a:p>
        </p:txBody>
      </p:sp>
      <p:sp>
        <p:nvSpPr>
          <p:cNvPr id="45"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McEvoy, N Engl J Med 2016 · Sánchez-de-la-Torre, Lancet Respir Med 2020 · Peker, Am J Respir Crit Care Med 2016</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Metaanalýzy a IPD metaanalýza: ITT nula, adherence možná</a:t>
            </a:r>
            <a:endParaRPr lang="en-US" sz="2500" dirty="0"/>
          </a:p>
        </p:txBody>
      </p:sp>
      <p:sp>
        <p:nvSpPr>
          <p:cNvPr id="3" name="tag-kohorta"/>
          <p:cNvSpPr/>
          <p:nvPr/>
        </p:nvSpPr>
        <p:spPr>
          <a:xfrm>
            <a:off x="10753344" y="384048"/>
            <a:ext cx="996696" cy="310896"/>
          </a:xfrm>
          <a:prstGeom prst="roundRect">
            <a:avLst>
              <a:gd name="adj" fmla="val 23529"/>
            </a:avLst>
          </a:prstGeom>
          <a:solidFill>
            <a:srgbClr val="3D5A80"/>
          </a:solidFill>
          <a:ln w="12700">
            <a:solidFill>
              <a:srgbClr val="3D5A80"/>
            </a:solidFill>
            <a:prstDash val="solid"/>
          </a:ln>
        </p:spPr>
      </p:sp>
      <p:sp>
        <p:nvSpPr>
          <p:cNvPr id="4" name="tag-text-kohorta"/>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kohorta</a:t>
            </a:r>
            <a:endParaRPr lang="en-US" sz="1000" dirty="0"/>
          </a:p>
        </p:txBody>
      </p:sp>
      <p:sp>
        <p:nvSpPr>
          <p:cNvPr id="5" name="tag-MA RCT"/>
          <p:cNvSpPr/>
          <p:nvPr/>
        </p:nvSpPr>
        <p:spPr>
          <a:xfrm>
            <a:off x="9793224" y="384048"/>
            <a:ext cx="886968" cy="310896"/>
          </a:xfrm>
          <a:prstGeom prst="roundRect">
            <a:avLst>
              <a:gd name="adj" fmla="val 23529"/>
            </a:avLst>
          </a:prstGeom>
          <a:solidFill>
            <a:srgbClr val="2A9D8F"/>
          </a:solidFill>
          <a:ln w="12700">
            <a:solidFill>
              <a:srgbClr val="2A9D8F"/>
            </a:solidFill>
            <a:prstDash val="solid"/>
          </a:ln>
        </p:spPr>
      </p:sp>
      <p:sp>
        <p:nvSpPr>
          <p:cNvPr id="6" name="tag-text-MA RCT"/>
          <p:cNvSpPr txBox="1"/>
          <p:nvPr/>
        </p:nvSpPr>
        <p:spPr>
          <a:xfrm>
            <a:off x="9793224"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MA RCT</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IPD MA tří RCT: ITT HR 1,01, při ≥ 4 h/den HR 0,69 (kauzální inference z observačních dat); MA se v modifikaci adherencí rozcházejí; kohorty ukazují dávkově závislý pokles MACE – s rizikem healthy-adherer bias.</a:t>
            </a:r>
            <a:endParaRPr lang="en-US" sz="1500" dirty="0"/>
          </a:p>
        </p:txBody>
      </p:sp>
      <p:sp>
        <p:nvSpPr>
          <p:cNvPr id="8" name="fh1"/>
          <p:cNvSpPr txBox="1"/>
          <p:nvPr/>
        </p:nvSpPr>
        <p:spPr>
          <a:xfrm>
            <a:off x="457200" y="1856232"/>
            <a:ext cx="5486400" cy="274320"/>
          </a:xfrm>
          <a:prstGeom prst="rect">
            <a:avLst/>
          </a:prstGeom>
          <a:noFill/>
          <a:ln/>
        </p:spPr>
        <p:txBody>
          <a:bodyPr wrap="square" lIns="0" tIns="0" rIns="0" bIns="0" rtlCol="0" anchor="ctr"/>
          <a:lstStyle/>
          <a:p>
            <a:pPr indent="0" marL="0">
              <a:buNone/>
            </a:pPr>
            <a:r>
              <a:rPr lang="en-US" sz="1000" b="1" dirty="0">
                <a:solidFill>
                  <a:srgbClr val="8D99AE"/>
                </a:solidFill>
              </a:rPr>
              <a:t>Syntéza · srovnání</a:t>
            </a:r>
            <a:endParaRPr lang="en-US" sz="1000" dirty="0"/>
          </a:p>
        </p:txBody>
      </p:sp>
      <p:sp>
        <p:nvSpPr>
          <p:cNvPr id="9" name="fh2"/>
          <p:cNvSpPr txBox="1"/>
          <p:nvPr/>
        </p:nvSpPr>
        <p:spPr>
          <a:xfrm>
            <a:off x="9875520" y="1856232"/>
            <a:ext cx="2011680" cy="274320"/>
          </a:xfrm>
          <a:prstGeom prst="rect">
            <a:avLst/>
          </a:prstGeom>
          <a:noFill/>
          <a:ln/>
        </p:spPr>
        <p:txBody>
          <a:bodyPr wrap="square" lIns="0" tIns="0" rIns="0" bIns="0" rtlCol="0" anchor="ctr"/>
          <a:lstStyle/>
          <a:p>
            <a:pPr indent="0" marL="0">
              <a:buNone/>
            </a:pPr>
            <a:r>
              <a:rPr lang="en-US" sz="1000" b="1" dirty="0">
                <a:solidFill>
                  <a:srgbClr val="8D99AE"/>
                </a:solidFill>
              </a:rPr>
              <a:t>Efekt (95 % CI)</a:t>
            </a:r>
            <a:endParaRPr lang="en-US" sz="1000" dirty="0"/>
          </a:p>
        </p:txBody>
      </p:sp>
      <p:sp>
        <p:nvSpPr>
          <p:cNvPr id="10" name="fg-0"/>
          <p:cNvSpPr txBox="1"/>
          <p:nvPr/>
        </p:nvSpPr>
        <p:spPr>
          <a:xfrm>
            <a:off x="457200" y="2148840"/>
            <a:ext cx="11292840" cy="297180"/>
          </a:xfrm>
          <a:prstGeom prst="rect">
            <a:avLst/>
          </a:prstGeom>
          <a:noFill/>
          <a:ln/>
        </p:spPr>
        <p:txBody>
          <a:bodyPr wrap="square" lIns="0" tIns="0" rIns="0" bIns="0" rtlCol="0" anchor="ctr"/>
          <a:lstStyle/>
          <a:p>
            <a:pPr indent="0" marL="0">
              <a:buNone/>
            </a:pPr>
            <a:r>
              <a:rPr lang="en-US" sz="1050" b="1" dirty="0">
                <a:solidFill>
                  <a:srgbClr val="3D5A80"/>
                </a:solidFill>
              </a:rPr>
              <a:t>Metaanalýzy RCT – ITT</a:t>
            </a:r>
            <a:endParaRPr lang="en-US" sz="1050" dirty="0"/>
          </a:p>
        </p:txBody>
      </p:sp>
      <p:sp>
        <p:nvSpPr>
          <p:cNvPr id="11" name="fl-1"/>
          <p:cNvSpPr txBox="1"/>
          <p:nvPr/>
        </p:nvSpPr>
        <p:spPr>
          <a:xfrm>
            <a:off x="502920" y="2446020"/>
            <a:ext cx="5394960" cy="297180"/>
          </a:xfrm>
          <a:prstGeom prst="rect">
            <a:avLst/>
          </a:prstGeom>
          <a:noFill/>
          <a:ln/>
        </p:spPr>
        <p:txBody>
          <a:bodyPr wrap="square" lIns="0" tIns="0" rIns="0" bIns="0" rtlCol="0" anchor="ctr"/>
          <a:lstStyle/>
          <a:p>
            <a:pPr indent="0" marL="0">
              <a:buNone/>
            </a:pPr>
            <a:r>
              <a:rPr lang="en-US" sz="1050" dirty="0">
                <a:solidFill>
                  <a:srgbClr val="1B2A41"/>
                </a:solidFill>
              </a:rPr>
              <a:t>   Yu 2017 (JAMA) · 10 RCT, n 7 266 · MACE; meta-regrese: adherence bez vlivu</a:t>
            </a:r>
            <a:endParaRPr lang="en-US" sz="1050" dirty="0"/>
          </a:p>
        </p:txBody>
      </p:sp>
      <p:sp>
        <p:nvSpPr>
          <p:cNvPr id="12" name="ci-1"/>
          <p:cNvSpPr/>
          <p:nvPr/>
        </p:nvSpPr>
        <p:spPr>
          <a:xfrm>
            <a:off x="6946132" y="2594610"/>
            <a:ext cx="778827" cy="0"/>
          </a:xfrm>
          <a:prstGeom prst="line">
            <a:avLst/>
          </a:prstGeom>
          <a:noFill/>
          <a:ln w="22225">
            <a:solidFill>
              <a:srgbClr val="3D5A80"/>
            </a:solidFill>
            <a:prstDash val="solid"/>
          </a:ln>
        </p:spPr>
      </p:sp>
      <p:sp>
        <p:nvSpPr>
          <p:cNvPr id="13" name="pt-1"/>
          <p:cNvSpPr/>
          <p:nvPr/>
        </p:nvSpPr>
        <p:spPr>
          <a:xfrm>
            <a:off x="7266358" y="2530602"/>
            <a:ext cx="128016" cy="128016"/>
          </a:xfrm>
          <a:prstGeom prst="rect">
            <a:avLst/>
          </a:prstGeom>
          <a:solidFill>
            <a:srgbClr val="3D5A80"/>
          </a:solidFill>
          <a:ln w="12700">
            <a:solidFill>
              <a:srgbClr val="3D5A80"/>
            </a:solidFill>
            <a:prstDash val="solid"/>
          </a:ln>
        </p:spPr>
      </p:sp>
      <p:sp>
        <p:nvSpPr>
          <p:cNvPr id="14" name="fv-1"/>
          <p:cNvSpPr txBox="1"/>
          <p:nvPr/>
        </p:nvSpPr>
        <p:spPr>
          <a:xfrm>
            <a:off x="9875520" y="2446020"/>
            <a:ext cx="2011680" cy="297180"/>
          </a:xfrm>
          <a:prstGeom prst="rect">
            <a:avLst/>
          </a:prstGeom>
          <a:noFill/>
          <a:ln/>
        </p:spPr>
        <p:txBody>
          <a:bodyPr wrap="square" lIns="0" tIns="0" rIns="0" bIns="0" rtlCol="0" anchor="ctr"/>
          <a:lstStyle/>
          <a:p>
            <a:pPr indent="0" marL="0">
              <a:buNone/>
            </a:pPr>
            <a:r>
              <a:rPr lang="en-US" sz="1000" dirty="0">
                <a:solidFill>
                  <a:srgbClr val="1B2A41"/>
                </a:solidFill>
              </a:rPr>
              <a:t>RR 0,77 (0,53–1,13)</a:t>
            </a:r>
            <a:endParaRPr lang="en-US" sz="1000" dirty="0"/>
          </a:p>
        </p:txBody>
      </p:sp>
      <p:sp>
        <p:nvSpPr>
          <p:cNvPr id="15" name="zebra-2"/>
          <p:cNvSpPr/>
          <p:nvPr/>
        </p:nvSpPr>
        <p:spPr>
          <a:xfrm>
            <a:off x="457200" y="2743200"/>
            <a:ext cx="11292840" cy="297180"/>
          </a:xfrm>
          <a:prstGeom prst="rect">
            <a:avLst/>
          </a:prstGeom>
          <a:solidFill>
            <a:srgbClr val="EEF2F7"/>
          </a:solidFill>
          <a:ln w="12700">
            <a:solidFill>
              <a:srgbClr val="EEF2F7"/>
            </a:solidFill>
            <a:prstDash val="solid"/>
          </a:ln>
        </p:spPr>
      </p:sp>
      <p:sp>
        <p:nvSpPr>
          <p:cNvPr id="16" name="fl-2"/>
          <p:cNvSpPr txBox="1"/>
          <p:nvPr/>
        </p:nvSpPr>
        <p:spPr>
          <a:xfrm>
            <a:off x="502920" y="2743200"/>
            <a:ext cx="5394960" cy="297180"/>
          </a:xfrm>
          <a:prstGeom prst="rect">
            <a:avLst/>
          </a:prstGeom>
          <a:noFill/>
          <a:ln/>
        </p:spPr>
        <p:txBody>
          <a:bodyPr wrap="square" lIns="0" tIns="0" rIns="0" bIns="0" rtlCol="0" anchor="ctr"/>
          <a:lstStyle/>
          <a:p>
            <a:pPr indent="0" marL="0">
              <a:buNone/>
            </a:pPr>
            <a:r>
              <a:rPr lang="en-US" sz="1050" dirty="0">
                <a:solidFill>
                  <a:srgbClr val="1B2A41"/>
                </a:solidFill>
              </a:rPr>
              <a:t>   Khan 2018 (EHJ) · 7 RCT, n 4 268 · MACE</a:t>
            </a:r>
            <a:endParaRPr lang="en-US" sz="1050" dirty="0"/>
          </a:p>
        </p:txBody>
      </p:sp>
      <p:sp>
        <p:nvSpPr>
          <p:cNvPr id="17" name="ci-2"/>
          <p:cNvSpPr/>
          <p:nvPr/>
        </p:nvSpPr>
        <p:spPr>
          <a:xfrm>
            <a:off x="6822539" y="2891790"/>
            <a:ext cx="938204" cy="0"/>
          </a:xfrm>
          <a:prstGeom prst="line">
            <a:avLst/>
          </a:prstGeom>
          <a:noFill/>
          <a:ln w="22225">
            <a:solidFill>
              <a:srgbClr val="3D5A80"/>
            </a:solidFill>
            <a:prstDash val="solid"/>
          </a:ln>
        </p:spPr>
      </p:sp>
      <p:sp>
        <p:nvSpPr>
          <p:cNvPr id="18" name="pt-2"/>
          <p:cNvSpPr/>
          <p:nvPr/>
        </p:nvSpPr>
        <p:spPr>
          <a:xfrm>
            <a:off x="7225477" y="2827782"/>
            <a:ext cx="128016" cy="128016"/>
          </a:xfrm>
          <a:prstGeom prst="rect">
            <a:avLst/>
          </a:prstGeom>
          <a:solidFill>
            <a:srgbClr val="3D5A80"/>
          </a:solidFill>
          <a:ln w="12700">
            <a:solidFill>
              <a:srgbClr val="3D5A80"/>
            </a:solidFill>
            <a:prstDash val="solid"/>
          </a:ln>
        </p:spPr>
      </p:sp>
      <p:sp>
        <p:nvSpPr>
          <p:cNvPr id="19" name="fv-2"/>
          <p:cNvSpPr txBox="1"/>
          <p:nvPr/>
        </p:nvSpPr>
        <p:spPr>
          <a:xfrm>
            <a:off x="9875520" y="2743200"/>
            <a:ext cx="2011680" cy="297180"/>
          </a:xfrm>
          <a:prstGeom prst="rect">
            <a:avLst/>
          </a:prstGeom>
          <a:noFill/>
          <a:ln/>
        </p:spPr>
        <p:txBody>
          <a:bodyPr wrap="square" lIns="0" tIns="0" rIns="0" bIns="0" rtlCol="0" anchor="ctr"/>
          <a:lstStyle/>
          <a:p>
            <a:pPr indent="0" marL="0">
              <a:buNone/>
            </a:pPr>
            <a:r>
              <a:rPr lang="en-US" sz="1000" dirty="0">
                <a:solidFill>
                  <a:srgbClr val="1B2A41"/>
                </a:solidFill>
              </a:rPr>
              <a:t>RR 0,74 (0,47–1,17); I² 48 %</a:t>
            </a:r>
            <a:endParaRPr lang="en-US" sz="1000" dirty="0"/>
          </a:p>
        </p:txBody>
      </p:sp>
      <p:sp>
        <p:nvSpPr>
          <p:cNvPr id="20" name="fl-3"/>
          <p:cNvSpPr txBox="1"/>
          <p:nvPr/>
        </p:nvSpPr>
        <p:spPr>
          <a:xfrm>
            <a:off x="502920" y="3040380"/>
            <a:ext cx="5394960" cy="297180"/>
          </a:xfrm>
          <a:prstGeom prst="rect">
            <a:avLst/>
          </a:prstGeom>
          <a:noFill/>
          <a:ln/>
        </p:spPr>
        <p:txBody>
          <a:bodyPr wrap="square" lIns="0" tIns="0" rIns="0" bIns="0" rtlCol="0" anchor="ctr"/>
          <a:lstStyle/>
          <a:p>
            <a:pPr indent="0" marL="0">
              <a:buNone/>
            </a:pPr>
            <a:r>
              <a:rPr lang="en-US" sz="1050" dirty="0">
                <a:solidFill>
                  <a:srgbClr val="1B2A41"/>
                </a:solidFill>
              </a:rPr>
              <a:t>   Labarca 2020 · 8 RCT, n 5 817 · MACE; podskupiny spavost/adherence/tíže bez efektu</a:t>
            </a:r>
            <a:endParaRPr lang="en-US" sz="1050" dirty="0"/>
          </a:p>
        </p:txBody>
      </p:sp>
      <p:sp>
        <p:nvSpPr>
          <p:cNvPr id="21" name="ci-3"/>
          <p:cNvSpPr/>
          <p:nvPr/>
        </p:nvSpPr>
        <p:spPr>
          <a:xfrm>
            <a:off x="7232321" y="3188970"/>
            <a:ext cx="464958" cy="0"/>
          </a:xfrm>
          <a:prstGeom prst="line">
            <a:avLst/>
          </a:prstGeom>
          <a:noFill/>
          <a:ln w="22225">
            <a:solidFill>
              <a:srgbClr val="3D5A80"/>
            </a:solidFill>
            <a:prstDash val="solid"/>
          </a:ln>
        </p:spPr>
      </p:sp>
      <p:sp>
        <p:nvSpPr>
          <p:cNvPr id="22" name="pt-3"/>
          <p:cNvSpPr/>
          <p:nvPr/>
        </p:nvSpPr>
        <p:spPr>
          <a:xfrm>
            <a:off x="7391966" y="3124962"/>
            <a:ext cx="128016" cy="128016"/>
          </a:xfrm>
          <a:prstGeom prst="rect">
            <a:avLst/>
          </a:prstGeom>
          <a:solidFill>
            <a:srgbClr val="3D5A80"/>
          </a:solidFill>
          <a:ln w="12700">
            <a:solidFill>
              <a:srgbClr val="3D5A80"/>
            </a:solidFill>
            <a:prstDash val="solid"/>
          </a:ln>
        </p:spPr>
      </p:sp>
      <p:sp>
        <p:nvSpPr>
          <p:cNvPr id="23" name="fv-3"/>
          <p:cNvSpPr txBox="1"/>
          <p:nvPr/>
        </p:nvSpPr>
        <p:spPr>
          <a:xfrm>
            <a:off x="9875520" y="3040380"/>
            <a:ext cx="2011680" cy="297180"/>
          </a:xfrm>
          <a:prstGeom prst="rect">
            <a:avLst/>
          </a:prstGeom>
          <a:noFill/>
          <a:ln/>
        </p:spPr>
        <p:txBody>
          <a:bodyPr wrap="square" lIns="0" tIns="0" rIns="0" bIns="0" rtlCol="0" anchor="ctr"/>
          <a:lstStyle/>
          <a:p>
            <a:pPr indent="0" marL="0">
              <a:buNone/>
            </a:pPr>
            <a:r>
              <a:rPr lang="en-US" sz="1000" dirty="0">
                <a:solidFill>
                  <a:srgbClr val="1B2A41"/>
                </a:solidFill>
              </a:rPr>
              <a:t>RR 0,87 (0,70–1,10)</a:t>
            </a:r>
            <a:endParaRPr lang="en-US" sz="1000" dirty="0"/>
          </a:p>
        </p:txBody>
      </p:sp>
      <p:sp>
        <p:nvSpPr>
          <p:cNvPr id="24" name="zebra-4"/>
          <p:cNvSpPr/>
          <p:nvPr/>
        </p:nvSpPr>
        <p:spPr>
          <a:xfrm>
            <a:off x="457200" y="3337560"/>
            <a:ext cx="11292840" cy="297180"/>
          </a:xfrm>
          <a:prstGeom prst="rect">
            <a:avLst/>
          </a:prstGeom>
          <a:solidFill>
            <a:srgbClr val="EEF2F7"/>
          </a:solidFill>
          <a:ln w="12700">
            <a:solidFill>
              <a:srgbClr val="EEF2F7"/>
            </a:solidFill>
            <a:prstDash val="solid"/>
          </a:ln>
        </p:spPr>
      </p:sp>
      <p:sp>
        <p:nvSpPr>
          <p:cNvPr id="25" name="fl-4"/>
          <p:cNvSpPr txBox="1"/>
          <p:nvPr/>
        </p:nvSpPr>
        <p:spPr>
          <a:xfrm>
            <a:off x="502920" y="3337560"/>
            <a:ext cx="5394960" cy="297180"/>
          </a:xfrm>
          <a:prstGeom prst="rect">
            <a:avLst/>
          </a:prstGeom>
          <a:noFill/>
          <a:ln/>
        </p:spPr>
        <p:txBody>
          <a:bodyPr wrap="square" lIns="0" tIns="0" rIns="0" bIns="0" rtlCol="0" anchor="ctr"/>
          <a:lstStyle/>
          <a:p>
            <a:pPr indent="0" marL="0">
              <a:buNone/>
            </a:pPr>
            <a:r>
              <a:rPr lang="en-US" sz="1050" dirty="0">
                <a:solidFill>
                  <a:srgbClr val="1B2A41"/>
                </a:solidFill>
              </a:rPr>
              <a:t>   IPD MA SAVE + ISAACC + RICCADSA (Sánchez-de-la-Torre 2023) · n 4 186 · MACCE, ITT</a:t>
            </a:r>
            <a:endParaRPr lang="en-US" sz="1050" dirty="0"/>
          </a:p>
        </p:txBody>
      </p:sp>
      <p:sp>
        <p:nvSpPr>
          <p:cNvPr id="26" name="ci-4"/>
          <p:cNvSpPr/>
          <p:nvPr/>
        </p:nvSpPr>
        <p:spPr>
          <a:xfrm>
            <a:off x="7455974" y="3486150"/>
            <a:ext cx="304769" cy="0"/>
          </a:xfrm>
          <a:prstGeom prst="line">
            <a:avLst/>
          </a:prstGeom>
          <a:noFill/>
          <a:ln w="22225">
            <a:solidFill>
              <a:srgbClr val="3D5A80"/>
            </a:solidFill>
            <a:prstDash val="solid"/>
          </a:ln>
        </p:spPr>
      </p:sp>
      <p:sp>
        <p:nvSpPr>
          <p:cNvPr id="27" name="pt-4"/>
          <p:cNvSpPr/>
          <p:nvPr/>
        </p:nvSpPr>
        <p:spPr>
          <a:xfrm>
            <a:off x="7518029" y="3394710"/>
            <a:ext cx="182880" cy="182880"/>
          </a:xfrm>
          <a:prstGeom prst="rect">
            <a:avLst/>
          </a:prstGeom>
          <a:solidFill>
            <a:srgbClr val="3D5A80"/>
          </a:solidFill>
          <a:ln w="12700">
            <a:solidFill>
              <a:srgbClr val="3D5A80"/>
            </a:solidFill>
            <a:prstDash val="solid"/>
          </a:ln>
        </p:spPr>
      </p:sp>
      <p:sp>
        <p:nvSpPr>
          <p:cNvPr id="28" name="fv-4"/>
          <p:cNvSpPr txBox="1"/>
          <p:nvPr/>
        </p:nvSpPr>
        <p:spPr>
          <a:xfrm>
            <a:off x="9875520" y="3337560"/>
            <a:ext cx="2011680" cy="297180"/>
          </a:xfrm>
          <a:prstGeom prst="rect">
            <a:avLst/>
          </a:prstGeom>
          <a:noFill/>
          <a:ln/>
        </p:spPr>
        <p:txBody>
          <a:bodyPr wrap="square" lIns="0" tIns="0" rIns="0" bIns="0" rtlCol="0" anchor="ctr"/>
          <a:lstStyle/>
          <a:p>
            <a:pPr indent="0" marL="0">
              <a:buNone/>
            </a:pPr>
            <a:r>
              <a:rPr lang="en-US" sz="1000" dirty="0">
                <a:solidFill>
                  <a:srgbClr val="1B2A41"/>
                </a:solidFill>
              </a:rPr>
              <a:t>HR 1,01 (0,87–1,17)</a:t>
            </a:r>
            <a:endParaRPr lang="en-US" sz="1000" dirty="0"/>
          </a:p>
        </p:txBody>
      </p:sp>
      <p:sp>
        <p:nvSpPr>
          <p:cNvPr id="29" name="fg-5"/>
          <p:cNvSpPr txBox="1"/>
          <p:nvPr/>
        </p:nvSpPr>
        <p:spPr>
          <a:xfrm>
            <a:off x="457200" y="3634740"/>
            <a:ext cx="11292840" cy="297180"/>
          </a:xfrm>
          <a:prstGeom prst="rect">
            <a:avLst/>
          </a:prstGeom>
          <a:noFill/>
          <a:ln/>
        </p:spPr>
        <p:txBody>
          <a:bodyPr wrap="square" lIns="0" tIns="0" rIns="0" bIns="0" rtlCol="0" anchor="ctr"/>
          <a:lstStyle/>
          <a:p>
            <a:pPr indent="0" marL="0">
              <a:buNone/>
            </a:pPr>
            <a:r>
              <a:rPr lang="en-US" sz="1050" b="1" dirty="0">
                <a:solidFill>
                  <a:srgbClr val="3D5A80"/>
                </a:solidFill>
              </a:rPr>
              <a:t>Adherenční podskupiny (nerandomizované)</a:t>
            </a:r>
            <a:endParaRPr lang="en-US" sz="1050" dirty="0"/>
          </a:p>
        </p:txBody>
      </p:sp>
      <p:sp>
        <p:nvSpPr>
          <p:cNvPr id="30" name="zebra-6"/>
          <p:cNvSpPr/>
          <p:nvPr/>
        </p:nvSpPr>
        <p:spPr>
          <a:xfrm>
            <a:off x="457200" y="3931920"/>
            <a:ext cx="11292840" cy="297180"/>
          </a:xfrm>
          <a:prstGeom prst="rect">
            <a:avLst/>
          </a:prstGeom>
          <a:solidFill>
            <a:srgbClr val="EEF2F7"/>
          </a:solidFill>
          <a:ln w="12700">
            <a:solidFill>
              <a:srgbClr val="EEF2F7"/>
            </a:solidFill>
            <a:prstDash val="solid"/>
          </a:ln>
        </p:spPr>
      </p:sp>
      <p:sp>
        <p:nvSpPr>
          <p:cNvPr id="31" name="fl-6"/>
          <p:cNvSpPr txBox="1"/>
          <p:nvPr/>
        </p:nvSpPr>
        <p:spPr>
          <a:xfrm>
            <a:off x="502920" y="3931920"/>
            <a:ext cx="5394960" cy="297180"/>
          </a:xfrm>
          <a:prstGeom prst="rect">
            <a:avLst/>
          </a:prstGeom>
          <a:noFill/>
          <a:ln/>
        </p:spPr>
        <p:txBody>
          <a:bodyPr wrap="square" lIns="0" tIns="0" rIns="0" bIns="0" rtlCol="0" anchor="ctr"/>
          <a:lstStyle/>
          <a:p>
            <a:pPr indent="0" marL="0">
              <a:buNone/>
            </a:pPr>
            <a:r>
              <a:rPr lang="en-US" sz="1050" dirty="0">
                <a:solidFill>
                  <a:srgbClr val="1B2A41"/>
                </a:solidFill>
              </a:rPr>
              <a:t>   Khan 2018 · adherence ≥ 4 h/noc</a:t>
            </a:r>
            <a:endParaRPr lang="en-US" sz="1050" dirty="0"/>
          </a:p>
        </p:txBody>
      </p:sp>
      <p:sp>
        <p:nvSpPr>
          <p:cNvPr id="32" name="ci-6"/>
          <p:cNvSpPr/>
          <p:nvPr/>
        </p:nvSpPr>
        <p:spPr>
          <a:xfrm>
            <a:off x="6087373" y="4080510"/>
            <a:ext cx="1282311" cy="0"/>
          </a:xfrm>
          <a:prstGeom prst="line">
            <a:avLst/>
          </a:prstGeom>
          <a:noFill/>
          <a:ln w="22225">
            <a:solidFill>
              <a:srgbClr val="2A9D8F"/>
            </a:solidFill>
            <a:prstDash val="solid"/>
          </a:ln>
        </p:spPr>
      </p:sp>
      <p:sp>
        <p:nvSpPr>
          <p:cNvPr id="33" name="pt-6"/>
          <p:cNvSpPr/>
          <p:nvPr/>
        </p:nvSpPr>
        <p:spPr>
          <a:xfrm>
            <a:off x="6667031" y="4016502"/>
            <a:ext cx="128016" cy="128016"/>
          </a:xfrm>
          <a:prstGeom prst="diamond">
            <a:avLst/>
          </a:prstGeom>
          <a:solidFill>
            <a:srgbClr val="2A9D8F"/>
          </a:solidFill>
          <a:ln w="12700">
            <a:solidFill>
              <a:srgbClr val="2A9D8F"/>
            </a:solidFill>
            <a:prstDash val="solid"/>
          </a:ln>
        </p:spPr>
      </p:sp>
      <p:sp>
        <p:nvSpPr>
          <p:cNvPr id="34" name="fv-6"/>
          <p:cNvSpPr txBox="1"/>
          <p:nvPr/>
        </p:nvSpPr>
        <p:spPr>
          <a:xfrm>
            <a:off x="9875520" y="3931920"/>
            <a:ext cx="2011680" cy="297180"/>
          </a:xfrm>
          <a:prstGeom prst="rect">
            <a:avLst/>
          </a:prstGeom>
          <a:noFill/>
          <a:ln/>
        </p:spPr>
        <p:txBody>
          <a:bodyPr wrap="square" lIns="0" tIns="0" rIns="0" bIns="0" rtlCol="0" anchor="ctr"/>
          <a:lstStyle/>
          <a:p>
            <a:pPr indent="0" marL="0">
              <a:buNone/>
            </a:pPr>
            <a:r>
              <a:rPr lang="en-US" sz="1000" dirty="0">
                <a:solidFill>
                  <a:srgbClr val="1B2A41"/>
                </a:solidFill>
              </a:rPr>
              <a:t>RR 0,43 (0,23–0,80); I² 0 %</a:t>
            </a:r>
            <a:endParaRPr lang="en-US" sz="1000" dirty="0"/>
          </a:p>
        </p:txBody>
      </p:sp>
      <p:sp>
        <p:nvSpPr>
          <p:cNvPr id="35" name="fl-7"/>
          <p:cNvSpPr txBox="1"/>
          <p:nvPr/>
        </p:nvSpPr>
        <p:spPr>
          <a:xfrm>
            <a:off x="502920" y="4229100"/>
            <a:ext cx="5394960" cy="297180"/>
          </a:xfrm>
          <a:prstGeom prst="rect">
            <a:avLst/>
          </a:prstGeom>
          <a:noFill/>
          <a:ln/>
        </p:spPr>
        <p:txBody>
          <a:bodyPr wrap="square" lIns="0" tIns="0" rIns="0" bIns="0" rtlCol="0" anchor="ctr"/>
          <a:lstStyle/>
          <a:p>
            <a:pPr indent="0" marL="0">
              <a:buNone/>
            </a:pPr>
            <a:r>
              <a:rPr lang="en-US" sz="1050" dirty="0">
                <a:solidFill>
                  <a:srgbClr val="1B2A41"/>
                </a:solidFill>
              </a:rPr>
              <a:t>   IPD MA 2023 · ≥ 4 h/den, marginální strukturální model</a:t>
            </a:r>
            <a:endParaRPr lang="en-US" sz="1050" dirty="0"/>
          </a:p>
        </p:txBody>
      </p:sp>
      <p:sp>
        <p:nvSpPr>
          <p:cNvPr id="36" name="ci-7"/>
          <p:cNvSpPr/>
          <p:nvPr/>
        </p:nvSpPr>
        <p:spPr>
          <a:xfrm>
            <a:off x="6926537" y="4377690"/>
            <a:ext cx="586921" cy="0"/>
          </a:xfrm>
          <a:prstGeom prst="line">
            <a:avLst/>
          </a:prstGeom>
          <a:noFill/>
          <a:ln w="22225">
            <a:solidFill>
              <a:srgbClr val="2A9D8F"/>
            </a:solidFill>
            <a:prstDash val="solid"/>
          </a:ln>
        </p:spPr>
      </p:sp>
      <p:sp>
        <p:nvSpPr>
          <p:cNvPr id="37" name="pt-7"/>
          <p:cNvSpPr/>
          <p:nvPr/>
        </p:nvSpPr>
        <p:spPr>
          <a:xfrm>
            <a:off x="7153511" y="4313682"/>
            <a:ext cx="128016" cy="128016"/>
          </a:xfrm>
          <a:prstGeom prst="diamond">
            <a:avLst/>
          </a:prstGeom>
          <a:solidFill>
            <a:srgbClr val="2A9D8F"/>
          </a:solidFill>
          <a:ln w="12700">
            <a:solidFill>
              <a:srgbClr val="2A9D8F"/>
            </a:solidFill>
            <a:prstDash val="solid"/>
          </a:ln>
        </p:spPr>
      </p:sp>
      <p:sp>
        <p:nvSpPr>
          <p:cNvPr id="38" name="fv-7"/>
          <p:cNvSpPr txBox="1"/>
          <p:nvPr/>
        </p:nvSpPr>
        <p:spPr>
          <a:xfrm>
            <a:off x="9875520" y="4229100"/>
            <a:ext cx="2011680" cy="297180"/>
          </a:xfrm>
          <a:prstGeom prst="rect">
            <a:avLst/>
          </a:prstGeom>
          <a:noFill/>
          <a:ln/>
        </p:spPr>
        <p:txBody>
          <a:bodyPr wrap="square" lIns="0" tIns="0" rIns="0" bIns="0" rtlCol="0" anchor="ctr"/>
          <a:lstStyle/>
          <a:p>
            <a:pPr indent="0" marL="0">
              <a:buNone/>
            </a:pPr>
            <a:r>
              <a:rPr lang="en-US" sz="1000" dirty="0">
                <a:solidFill>
                  <a:srgbClr val="1B2A41"/>
                </a:solidFill>
              </a:rPr>
              <a:t>HR 0,69 (0,52–0,92)</a:t>
            </a:r>
            <a:endParaRPr lang="en-US" sz="1000" dirty="0"/>
          </a:p>
        </p:txBody>
      </p:sp>
      <p:sp>
        <p:nvSpPr>
          <p:cNvPr id="39" name="zebra-8"/>
          <p:cNvSpPr/>
          <p:nvPr/>
        </p:nvSpPr>
        <p:spPr>
          <a:xfrm>
            <a:off x="457200" y="4526280"/>
            <a:ext cx="11292840" cy="297180"/>
          </a:xfrm>
          <a:prstGeom prst="rect">
            <a:avLst/>
          </a:prstGeom>
          <a:solidFill>
            <a:srgbClr val="EEF2F7"/>
          </a:solidFill>
          <a:ln w="12700">
            <a:solidFill>
              <a:srgbClr val="EEF2F7"/>
            </a:solidFill>
            <a:prstDash val="solid"/>
          </a:ln>
        </p:spPr>
      </p:sp>
      <p:sp>
        <p:nvSpPr>
          <p:cNvPr id="40" name="fl-8"/>
          <p:cNvSpPr txBox="1"/>
          <p:nvPr/>
        </p:nvSpPr>
        <p:spPr>
          <a:xfrm>
            <a:off x="502920" y="4526280"/>
            <a:ext cx="5394960" cy="297180"/>
          </a:xfrm>
          <a:prstGeom prst="rect">
            <a:avLst/>
          </a:prstGeom>
          <a:noFill/>
          <a:ln/>
        </p:spPr>
        <p:txBody>
          <a:bodyPr wrap="square" lIns="0" tIns="0" rIns="0" bIns="0" rtlCol="0" anchor="ctr"/>
          <a:lstStyle/>
          <a:p>
            <a:pPr indent="0" marL="0">
              <a:buNone/>
            </a:pPr>
            <a:r>
              <a:rPr lang="en-US" sz="1050" dirty="0">
                <a:solidFill>
                  <a:srgbClr val="1B2A41"/>
                </a:solidFill>
              </a:rPr>
              <a:t>   Almuzainy 2026 · 11 RCT, n 6 139 · ITT RR 1,00 (0,87–1,14); adherentní ≥ 4 h</a:t>
            </a:r>
            <a:endParaRPr lang="en-US" sz="1050" dirty="0"/>
          </a:p>
        </p:txBody>
      </p:sp>
      <p:sp>
        <p:nvSpPr>
          <p:cNvPr id="41" name="ci-8"/>
          <p:cNvSpPr/>
          <p:nvPr/>
        </p:nvSpPr>
        <p:spPr>
          <a:xfrm>
            <a:off x="6926537" y="4674870"/>
            <a:ext cx="641362" cy="0"/>
          </a:xfrm>
          <a:prstGeom prst="line">
            <a:avLst/>
          </a:prstGeom>
          <a:noFill/>
          <a:ln w="22225">
            <a:solidFill>
              <a:srgbClr val="2A9D8F"/>
            </a:solidFill>
            <a:prstDash val="solid"/>
          </a:ln>
        </p:spPr>
      </p:sp>
      <p:sp>
        <p:nvSpPr>
          <p:cNvPr id="42" name="pt-8"/>
          <p:cNvSpPr/>
          <p:nvPr/>
        </p:nvSpPr>
        <p:spPr>
          <a:xfrm>
            <a:off x="7182904" y="4610862"/>
            <a:ext cx="128016" cy="128016"/>
          </a:xfrm>
          <a:prstGeom prst="diamond">
            <a:avLst/>
          </a:prstGeom>
          <a:solidFill>
            <a:srgbClr val="2A9D8F"/>
          </a:solidFill>
          <a:ln w="12700">
            <a:solidFill>
              <a:srgbClr val="2A9D8F"/>
            </a:solidFill>
            <a:prstDash val="solid"/>
          </a:ln>
        </p:spPr>
      </p:sp>
      <p:sp>
        <p:nvSpPr>
          <p:cNvPr id="43" name="fv-8"/>
          <p:cNvSpPr txBox="1"/>
          <p:nvPr/>
        </p:nvSpPr>
        <p:spPr>
          <a:xfrm>
            <a:off x="9875520" y="4526280"/>
            <a:ext cx="2011680" cy="297180"/>
          </a:xfrm>
          <a:prstGeom prst="rect">
            <a:avLst/>
          </a:prstGeom>
          <a:noFill/>
          <a:ln/>
        </p:spPr>
        <p:txBody>
          <a:bodyPr wrap="square" lIns="0" tIns="0" rIns="0" bIns="0" rtlCol="0" anchor="ctr"/>
          <a:lstStyle/>
          <a:p>
            <a:pPr indent="0" marL="0">
              <a:buNone/>
            </a:pPr>
            <a:r>
              <a:rPr lang="en-US" sz="1000" dirty="0">
                <a:solidFill>
                  <a:srgbClr val="1B2A41"/>
                </a:solidFill>
              </a:rPr>
              <a:t>RR 0,71 (0,52–0,97)</a:t>
            </a:r>
            <a:endParaRPr lang="en-US" sz="1000" dirty="0"/>
          </a:p>
        </p:txBody>
      </p:sp>
      <p:sp>
        <p:nvSpPr>
          <p:cNvPr id="44" name="fg-9"/>
          <p:cNvSpPr txBox="1"/>
          <p:nvPr/>
        </p:nvSpPr>
        <p:spPr>
          <a:xfrm>
            <a:off x="457200" y="4823460"/>
            <a:ext cx="11292840" cy="297180"/>
          </a:xfrm>
          <a:prstGeom prst="rect">
            <a:avLst/>
          </a:prstGeom>
          <a:noFill/>
          <a:ln/>
        </p:spPr>
        <p:txBody>
          <a:bodyPr wrap="square" lIns="0" tIns="0" rIns="0" bIns="0" rtlCol="0" anchor="ctr"/>
          <a:lstStyle/>
          <a:p>
            <a:pPr indent="0" marL="0">
              <a:buNone/>
            </a:pPr>
            <a:r>
              <a:rPr lang="en-US" sz="1050" b="1" dirty="0">
                <a:solidFill>
                  <a:srgbClr val="3D5A80"/>
                </a:solidFill>
              </a:rPr>
              <a:t>Observační kohorty</a:t>
            </a:r>
            <a:endParaRPr lang="en-US" sz="1050" dirty="0"/>
          </a:p>
        </p:txBody>
      </p:sp>
      <p:sp>
        <p:nvSpPr>
          <p:cNvPr id="45" name="zebra-10"/>
          <p:cNvSpPr/>
          <p:nvPr/>
        </p:nvSpPr>
        <p:spPr>
          <a:xfrm>
            <a:off x="457200" y="5120640"/>
            <a:ext cx="11292840" cy="297180"/>
          </a:xfrm>
          <a:prstGeom prst="rect">
            <a:avLst/>
          </a:prstGeom>
          <a:solidFill>
            <a:srgbClr val="EEF2F7"/>
          </a:solidFill>
          <a:ln w="12700">
            <a:solidFill>
              <a:srgbClr val="EEF2F7"/>
            </a:solidFill>
            <a:prstDash val="solid"/>
          </a:ln>
        </p:spPr>
      </p:sp>
      <p:sp>
        <p:nvSpPr>
          <p:cNvPr id="46" name="fl-10"/>
          <p:cNvSpPr txBox="1"/>
          <p:nvPr/>
        </p:nvSpPr>
        <p:spPr>
          <a:xfrm>
            <a:off x="502920" y="5120640"/>
            <a:ext cx="5394960" cy="297180"/>
          </a:xfrm>
          <a:prstGeom prst="rect">
            <a:avLst/>
          </a:prstGeom>
          <a:noFill/>
          <a:ln/>
        </p:spPr>
        <p:txBody>
          <a:bodyPr wrap="square" lIns="0" tIns="0" rIns="0" bIns="0" rtlCol="0" anchor="ctr"/>
          <a:lstStyle/>
          <a:p>
            <a:pPr indent="0" marL="0">
              <a:buNone/>
            </a:pPr>
            <a:r>
              <a:rPr lang="en-US" sz="1000" i="1" dirty="0">
                <a:solidFill>
                  <a:srgbClr val="8D99AE"/>
                </a:solidFill>
              </a:rPr>
              <a:t>   Marin 2005 · muži, 10 let · neléčená těžká OSA vs. zdraví, fatální KV příhody</a:t>
            </a:r>
            <a:endParaRPr lang="en-US" sz="1000" dirty="0"/>
          </a:p>
        </p:txBody>
      </p:sp>
      <p:sp>
        <p:nvSpPr>
          <p:cNvPr id="47" name="ci-10"/>
          <p:cNvSpPr/>
          <p:nvPr/>
        </p:nvSpPr>
        <p:spPr>
          <a:xfrm>
            <a:off x="7760743" y="5269230"/>
            <a:ext cx="1912597" cy="0"/>
          </a:xfrm>
          <a:prstGeom prst="line">
            <a:avLst/>
          </a:prstGeom>
          <a:noFill/>
          <a:ln w="12700">
            <a:solidFill>
              <a:srgbClr val="C8553D"/>
            </a:solidFill>
            <a:prstDash val="dash"/>
          </a:ln>
        </p:spPr>
      </p:sp>
      <p:sp>
        <p:nvSpPr>
          <p:cNvPr id="48" name="pt-10"/>
          <p:cNvSpPr/>
          <p:nvPr/>
        </p:nvSpPr>
        <p:spPr>
          <a:xfrm>
            <a:off x="8619799" y="5205222"/>
            <a:ext cx="128016" cy="128016"/>
          </a:xfrm>
          <a:prstGeom prst="rect">
            <a:avLst/>
          </a:prstGeom>
          <a:solidFill>
            <a:srgbClr val="FFFFFF"/>
          </a:solidFill>
          <a:ln w="12700">
            <a:solidFill>
              <a:srgbClr val="C8553D"/>
            </a:solidFill>
            <a:prstDash val="solid"/>
          </a:ln>
        </p:spPr>
      </p:sp>
      <p:sp>
        <p:nvSpPr>
          <p:cNvPr id="49" name="fv-10"/>
          <p:cNvSpPr txBox="1"/>
          <p:nvPr/>
        </p:nvSpPr>
        <p:spPr>
          <a:xfrm>
            <a:off x="9875520" y="5120640"/>
            <a:ext cx="2011680" cy="297180"/>
          </a:xfrm>
          <a:prstGeom prst="rect">
            <a:avLst/>
          </a:prstGeom>
          <a:noFill/>
          <a:ln/>
        </p:spPr>
        <p:txBody>
          <a:bodyPr wrap="square" lIns="0" tIns="0" rIns="0" bIns="0" rtlCol="0" anchor="ctr"/>
          <a:lstStyle/>
          <a:p>
            <a:pPr indent="0" marL="0">
              <a:buNone/>
            </a:pPr>
            <a:r>
              <a:rPr lang="en-US" sz="1000" dirty="0">
                <a:solidFill>
                  <a:srgbClr val="8D99AE"/>
                </a:solidFill>
              </a:rPr>
              <a:t>OR 2,87 (1,17–7,51)</a:t>
            </a:r>
            <a:endParaRPr lang="en-US" sz="1000" dirty="0"/>
          </a:p>
        </p:txBody>
      </p:sp>
      <p:sp>
        <p:nvSpPr>
          <p:cNvPr id="50" name="fl-11"/>
          <p:cNvSpPr txBox="1"/>
          <p:nvPr/>
        </p:nvSpPr>
        <p:spPr>
          <a:xfrm>
            <a:off x="502920" y="5417820"/>
            <a:ext cx="5394960" cy="297180"/>
          </a:xfrm>
          <a:prstGeom prst="rect">
            <a:avLst/>
          </a:prstGeom>
          <a:noFill/>
          <a:ln/>
        </p:spPr>
        <p:txBody>
          <a:bodyPr wrap="square" lIns="0" tIns="0" rIns="0" bIns="0" rtlCol="0" anchor="ctr"/>
          <a:lstStyle/>
          <a:p>
            <a:pPr indent="0" marL="0">
              <a:buNone/>
            </a:pPr>
            <a:r>
              <a:rPr lang="en-US" sz="1000" i="1" dirty="0">
                <a:solidFill>
                  <a:srgbClr val="8D99AE"/>
                </a:solidFill>
              </a:rPr>
              <a:t>   Gervès-Pinquié 2022 · n 5 138, 6,6 let · PAP 6–7 h vs. 0–4 h/noc, MACE</a:t>
            </a:r>
            <a:endParaRPr lang="en-US" sz="1000" dirty="0"/>
          </a:p>
        </p:txBody>
      </p:sp>
      <p:sp>
        <p:nvSpPr>
          <p:cNvPr id="51" name="ci-11"/>
          <p:cNvSpPr/>
          <p:nvPr/>
        </p:nvSpPr>
        <p:spPr>
          <a:xfrm>
            <a:off x="7107476" y="5566410"/>
            <a:ext cx="405982" cy="0"/>
          </a:xfrm>
          <a:prstGeom prst="line">
            <a:avLst/>
          </a:prstGeom>
          <a:noFill/>
          <a:ln w="12700">
            <a:solidFill>
              <a:srgbClr val="C8553D"/>
            </a:solidFill>
            <a:prstDash val="dash"/>
          </a:ln>
        </p:spPr>
      </p:sp>
      <p:sp>
        <p:nvSpPr>
          <p:cNvPr id="52" name="pt-11"/>
          <p:cNvSpPr/>
          <p:nvPr/>
        </p:nvSpPr>
        <p:spPr>
          <a:xfrm>
            <a:off x="7239286" y="5502402"/>
            <a:ext cx="128016" cy="128016"/>
          </a:xfrm>
          <a:prstGeom prst="rect">
            <a:avLst/>
          </a:prstGeom>
          <a:solidFill>
            <a:srgbClr val="FFFFFF"/>
          </a:solidFill>
          <a:ln w="12700">
            <a:solidFill>
              <a:srgbClr val="C8553D"/>
            </a:solidFill>
            <a:prstDash val="solid"/>
          </a:ln>
        </p:spPr>
      </p:sp>
      <p:sp>
        <p:nvSpPr>
          <p:cNvPr id="53" name="fv-11"/>
          <p:cNvSpPr txBox="1"/>
          <p:nvPr/>
        </p:nvSpPr>
        <p:spPr>
          <a:xfrm>
            <a:off x="9875520" y="5417820"/>
            <a:ext cx="2011680" cy="297180"/>
          </a:xfrm>
          <a:prstGeom prst="rect">
            <a:avLst/>
          </a:prstGeom>
          <a:noFill/>
          <a:ln/>
        </p:spPr>
        <p:txBody>
          <a:bodyPr wrap="square" lIns="0" tIns="0" rIns="0" bIns="0" rtlCol="0" anchor="ctr"/>
          <a:lstStyle/>
          <a:p>
            <a:pPr indent="0" marL="0">
              <a:buNone/>
            </a:pPr>
            <a:r>
              <a:rPr lang="en-US" sz="1000" dirty="0">
                <a:solidFill>
                  <a:srgbClr val="8D99AE"/>
                </a:solidFill>
              </a:rPr>
              <a:t>HR 0,75 (0,62–0,92)</a:t>
            </a:r>
            <a:endParaRPr lang="en-US" sz="1000" dirty="0"/>
          </a:p>
        </p:txBody>
      </p:sp>
      <p:sp>
        <p:nvSpPr>
          <p:cNvPr id="54" name="axis"/>
          <p:cNvSpPr/>
          <p:nvPr/>
        </p:nvSpPr>
        <p:spPr>
          <a:xfrm>
            <a:off x="5943600" y="5760720"/>
            <a:ext cx="3794760" cy="0"/>
          </a:xfrm>
          <a:prstGeom prst="line">
            <a:avLst/>
          </a:prstGeom>
          <a:noFill/>
          <a:ln w="12700">
            <a:solidFill>
              <a:srgbClr val="8D99AE"/>
            </a:solidFill>
            <a:prstDash val="solid"/>
          </a:ln>
        </p:spPr>
      </p:sp>
      <p:sp>
        <p:nvSpPr>
          <p:cNvPr id="55" name="ref"/>
          <p:cNvSpPr/>
          <p:nvPr/>
        </p:nvSpPr>
        <p:spPr>
          <a:xfrm>
            <a:off x="7599233" y="2148840"/>
            <a:ext cx="0" cy="3611880"/>
          </a:xfrm>
          <a:prstGeom prst="line">
            <a:avLst/>
          </a:prstGeom>
          <a:noFill/>
          <a:ln w="12700">
            <a:solidFill>
              <a:srgbClr val="C8553D"/>
            </a:solidFill>
            <a:prstDash val="dash"/>
          </a:ln>
        </p:spPr>
      </p:sp>
      <p:sp>
        <p:nvSpPr>
          <p:cNvPr id="56" name="tick-0.25"/>
          <p:cNvSpPr/>
          <p:nvPr/>
        </p:nvSpPr>
        <p:spPr>
          <a:xfrm>
            <a:off x="6173148" y="5760720"/>
            <a:ext cx="0" cy="54864"/>
          </a:xfrm>
          <a:prstGeom prst="line">
            <a:avLst/>
          </a:prstGeom>
          <a:noFill/>
          <a:ln w="12700">
            <a:solidFill>
              <a:srgbClr val="8D99AE"/>
            </a:solidFill>
            <a:prstDash val="solid"/>
          </a:ln>
        </p:spPr>
      </p:sp>
      <p:sp>
        <p:nvSpPr>
          <p:cNvPr id="57" name="tl-0.25"/>
          <p:cNvSpPr txBox="1"/>
          <p:nvPr/>
        </p:nvSpPr>
        <p:spPr>
          <a:xfrm>
            <a:off x="5898828" y="5806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0,25</a:t>
            </a:r>
            <a:endParaRPr lang="en-US" sz="900" dirty="0"/>
          </a:p>
        </p:txBody>
      </p:sp>
      <p:sp>
        <p:nvSpPr>
          <p:cNvPr id="58" name="tick-0.5"/>
          <p:cNvSpPr/>
          <p:nvPr/>
        </p:nvSpPr>
        <p:spPr>
          <a:xfrm>
            <a:off x="6886191" y="5760720"/>
            <a:ext cx="0" cy="54864"/>
          </a:xfrm>
          <a:prstGeom prst="line">
            <a:avLst/>
          </a:prstGeom>
          <a:noFill/>
          <a:ln w="12700">
            <a:solidFill>
              <a:srgbClr val="8D99AE"/>
            </a:solidFill>
            <a:prstDash val="solid"/>
          </a:ln>
        </p:spPr>
      </p:sp>
      <p:sp>
        <p:nvSpPr>
          <p:cNvPr id="59" name="tl-0.5"/>
          <p:cNvSpPr txBox="1"/>
          <p:nvPr/>
        </p:nvSpPr>
        <p:spPr>
          <a:xfrm>
            <a:off x="6611871" y="5806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0,5</a:t>
            </a:r>
            <a:endParaRPr lang="en-US" sz="900" dirty="0"/>
          </a:p>
        </p:txBody>
      </p:sp>
      <p:sp>
        <p:nvSpPr>
          <p:cNvPr id="60" name="tick-1"/>
          <p:cNvSpPr/>
          <p:nvPr/>
        </p:nvSpPr>
        <p:spPr>
          <a:xfrm>
            <a:off x="7599233" y="5760720"/>
            <a:ext cx="0" cy="54864"/>
          </a:xfrm>
          <a:prstGeom prst="line">
            <a:avLst/>
          </a:prstGeom>
          <a:noFill/>
          <a:ln w="12700">
            <a:solidFill>
              <a:srgbClr val="8D99AE"/>
            </a:solidFill>
            <a:prstDash val="solid"/>
          </a:ln>
        </p:spPr>
      </p:sp>
      <p:sp>
        <p:nvSpPr>
          <p:cNvPr id="61" name="tl-1"/>
          <p:cNvSpPr txBox="1"/>
          <p:nvPr/>
        </p:nvSpPr>
        <p:spPr>
          <a:xfrm>
            <a:off x="7324913" y="5806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1</a:t>
            </a:r>
            <a:endParaRPr lang="en-US" sz="900" dirty="0"/>
          </a:p>
        </p:txBody>
      </p:sp>
      <p:sp>
        <p:nvSpPr>
          <p:cNvPr id="62" name="tick-2"/>
          <p:cNvSpPr/>
          <p:nvPr/>
        </p:nvSpPr>
        <p:spPr>
          <a:xfrm>
            <a:off x="8312275" y="5760720"/>
            <a:ext cx="0" cy="54864"/>
          </a:xfrm>
          <a:prstGeom prst="line">
            <a:avLst/>
          </a:prstGeom>
          <a:noFill/>
          <a:ln w="12700">
            <a:solidFill>
              <a:srgbClr val="8D99AE"/>
            </a:solidFill>
            <a:prstDash val="solid"/>
          </a:ln>
        </p:spPr>
      </p:sp>
      <p:sp>
        <p:nvSpPr>
          <p:cNvPr id="63" name="tl-2"/>
          <p:cNvSpPr txBox="1"/>
          <p:nvPr/>
        </p:nvSpPr>
        <p:spPr>
          <a:xfrm>
            <a:off x="8037955" y="5806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2</a:t>
            </a:r>
            <a:endParaRPr lang="en-US" sz="900" dirty="0"/>
          </a:p>
        </p:txBody>
      </p:sp>
      <p:sp>
        <p:nvSpPr>
          <p:cNvPr id="64" name="tick-4"/>
          <p:cNvSpPr/>
          <p:nvPr/>
        </p:nvSpPr>
        <p:spPr>
          <a:xfrm>
            <a:off x="9025318" y="5760720"/>
            <a:ext cx="0" cy="54864"/>
          </a:xfrm>
          <a:prstGeom prst="line">
            <a:avLst/>
          </a:prstGeom>
          <a:noFill/>
          <a:ln w="12700">
            <a:solidFill>
              <a:srgbClr val="8D99AE"/>
            </a:solidFill>
            <a:prstDash val="solid"/>
          </a:ln>
        </p:spPr>
      </p:sp>
      <p:sp>
        <p:nvSpPr>
          <p:cNvPr id="65" name="tl-4"/>
          <p:cNvSpPr txBox="1"/>
          <p:nvPr/>
        </p:nvSpPr>
        <p:spPr>
          <a:xfrm>
            <a:off x="8750998" y="5806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4</a:t>
            </a:r>
            <a:endParaRPr lang="en-US" sz="900" dirty="0"/>
          </a:p>
        </p:txBody>
      </p:sp>
      <p:sp>
        <p:nvSpPr>
          <p:cNvPr id="66" name="tick-8"/>
          <p:cNvSpPr/>
          <p:nvPr/>
        </p:nvSpPr>
        <p:spPr>
          <a:xfrm>
            <a:off x="9738360" y="5760720"/>
            <a:ext cx="0" cy="54864"/>
          </a:xfrm>
          <a:prstGeom prst="line">
            <a:avLst/>
          </a:prstGeom>
          <a:noFill/>
          <a:ln w="12700">
            <a:solidFill>
              <a:srgbClr val="8D99AE"/>
            </a:solidFill>
            <a:prstDash val="solid"/>
          </a:ln>
        </p:spPr>
      </p:sp>
      <p:sp>
        <p:nvSpPr>
          <p:cNvPr id="67" name="tl-8"/>
          <p:cNvSpPr txBox="1"/>
          <p:nvPr/>
        </p:nvSpPr>
        <p:spPr>
          <a:xfrm>
            <a:off x="9464040" y="5806440"/>
            <a:ext cx="548640" cy="182880"/>
          </a:xfrm>
          <a:prstGeom prst="rect">
            <a:avLst/>
          </a:prstGeom>
          <a:noFill/>
          <a:ln/>
        </p:spPr>
        <p:txBody>
          <a:bodyPr wrap="square" lIns="0" tIns="0" rIns="0" bIns="0" rtlCol="0" anchor="ctr"/>
          <a:lstStyle/>
          <a:p>
            <a:pPr algn="ctr" indent="0" marL="0">
              <a:buNone/>
            </a:pPr>
            <a:r>
              <a:rPr lang="en-US" sz="900" dirty="0">
                <a:solidFill>
                  <a:srgbClr val="8D99AE"/>
                </a:solidFill>
              </a:rPr>
              <a:t>8</a:t>
            </a:r>
            <a:endParaRPr lang="en-US" sz="900" dirty="0"/>
          </a:p>
        </p:txBody>
      </p:sp>
      <p:sp>
        <p:nvSpPr>
          <p:cNvPr id="68" name="xlabel"/>
          <p:cNvSpPr txBox="1"/>
          <p:nvPr/>
        </p:nvSpPr>
        <p:spPr>
          <a:xfrm>
            <a:off x="5943600" y="5961888"/>
            <a:ext cx="3794760" cy="201168"/>
          </a:xfrm>
          <a:prstGeom prst="rect">
            <a:avLst/>
          </a:prstGeom>
          <a:noFill/>
          <a:ln/>
        </p:spPr>
        <p:txBody>
          <a:bodyPr wrap="square" lIns="0" tIns="0" rIns="0" bIns="0" rtlCol="0" anchor="ctr"/>
          <a:lstStyle/>
          <a:p>
            <a:pPr algn="ctr" indent="0" marL="0">
              <a:buNone/>
            </a:pPr>
            <a:r>
              <a:rPr lang="en-US" sz="900" dirty="0">
                <a:solidFill>
                  <a:srgbClr val="8D99AE"/>
                </a:solidFill>
              </a:rPr>
              <a:t>RR / HR / OR pro MACE či KV příhody (log škála); ◆ = nerandomizovaná adherenční podskupina; ○ = observační</a:t>
            </a:r>
            <a:endParaRPr lang="en-US" sz="900" dirty="0"/>
          </a:p>
        </p:txBody>
      </p:sp>
      <p:sp>
        <p:nvSpPr>
          <p:cNvPr id="69"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Yu, JAMA 2017 · Khan, Eur Heart J 2018 · Labarca, Sleep Med Rev 2020 · Sánchez-de-la-Torre, JAMA 2023 · Almuzainy, J Saudi Heart Assoc 2026 · Marin, Lancet 2005 · Gervès-Pinquié, AJRCCM 2022</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Proč jsou RCT neutrální: selekce, fenotyp, adherence, metrika</a:t>
            </a:r>
            <a:endParaRPr lang="en-US" sz="2500" dirty="0"/>
          </a:p>
        </p:txBody>
      </p:sp>
      <p:sp>
        <p:nvSpPr>
          <p:cNvPr id="3" name="tag-syntéza"/>
          <p:cNvSpPr/>
          <p:nvPr/>
        </p:nvSpPr>
        <p:spPr>
          <a:xfrm>
            <a:off x="10753344" y="384048"/>
            <a:ext cx="996696" cy="310896"/>
          </a:xfrm>
          <a:prstGeom prst="roundRect">
            <a:avLst>
              <a:gd name="adj" fmla="val 23529"/>
            </a:avLst>
          </a:prstGeom>
          <a:solidFill>
            <a:srgbClr val="264653"/>
          </a:solidFill>
          <a:ln w="12700">
            <a:solidFill>
              <a:srgbClr val="264653"/>
            </a:solidFill>
            <a:prstDash val="solid"/>
          </a:ln>
        </p:spPr>
      </p:sp>
      <p:sp>
        <p:nvSpPr>
          <p:cNvPr id="4" name="tag-text-syntéza"/>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syntéza</a:t>
            </a:r>
            <a:endParaRPr lang="en-US" sz="1000" dirty="0"/>
          </a:p>
        </p:txBody>
      </p:sp>
      <p:sp>
        <p:nvSpPr>
          <p:cNvPr id="5" name="tag-kohorta"/>
          <p:cNvSpPr/>
          <p:nvPr/>
        </p:nvSpPr>
        <p:spPr>
          <a:xfrm>
            <a:off x="9683496" y="384048"/>
            <a:ext cx="996696" cy="310896"/>
          </a:xfrm>
          <a:prstGeom prst="roundRect">
            <a:avLst>
              <a:gd name="adj" fmla="val 23529"/>
            </a:avLst>
          </a:prstGeom>
          <a:solidFill>
            <a:srgbClr val="3D5A80"/>
          </a:solidFill>
          <a:ln w="12700">
            <a:solidFill>
              <a:srgbClr val="3D5A80"/>
            </a:solidFill>
            <a:prstDash val="solid"/>
          </a:ln>
        </p:spPr>
      </p:sp>
      <p:sp>
        <p:nvSpPr>
          <p:cNvPr id="6" name="tag-text-kohorta"/>
          <p:cNvSpPr txBox="1"/>
          <p:nvPr/>
        </p:nvSpPr>
        <p:spPr>
          <a:xfrm>
            <a:off x="9683496"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kohorta</a:t>
            </a:r>
            <a:endParaRPr lang="en-US" sz="1000" dirty="0"/>
          </a:p>
        </p:txBody>
      </p:sp>
      <p:sp>
        <p:nvSpPr>
          <p:cNvPr id="7" name="tag-průřez"/>
          <p:cNvSpPr/>
          <p:nvPr/>
        </p:nvSpPr>
        <p:spPr>
          <a:xfrm>
            <a:off x="8723376" y="384048"/>
            <a:ext cx="886968" cy="310896"/>
          </a:xfrm>
          <a:prstGeom prst="roundRect">
            <a:avLst>
              <a:gd name="adj" fmla="val 23529"/>
            </a:avLst>
          </a:prstGeom>
          <a:solidFill>
            <a:srgbClr val="8D99AE"/>
          </a:solidFill>
          <a:ln w="12700">
            <a:solidFill>
              <a:srgbClr val="8D99AE"/>
            </a:solidFill>
            <a:prstDash val="solid"/>
          </a:ln>
        </p:spPr>
      </p:sp>
      <p:sp>
        <p:nvSpPr>
          <p:cNvPr id="8" name="tag-text-průřez"/>
          <p:cNvSpPr txBox="1"/>
          <p:nvPr/>
        </p:nvSpPr>
        <p:spPr>
          <a:xfrm>
            <a:off x="8723376"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průřez</a:t>
            </a:r>
            <a:endParaRPr lang="en-US" sz="1000" dirty="0"/>
          </a:p>
        </p:txBody>
      </p:sp>
      <p:sp>
        <p:nvSpPr>
          <p:cNvPr id="9"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Čtyři důvody, které snižují sílu RCT – a které jsou vysvětlením, nikoli důkazem přínosu.</a:t>
            </a:r>
            <a:endParaRPr lang="en-US" sz="1500" dirty="0"/>
          </a:p>
        </p:txBody>
      </p:sp>
      <p:sp>
        <p:nvSpPr>
          <p:cNvPr id="10" name="tile-Selekce"/>
          <p:cNvSpPr/>
          <p:nvPr/>
        </p:nvSpPr>
        <p:spPr>
          <a:xfrm>
            <a:off x="457200" y="1920240"/>
            <a:ext cx="2651760" cy="3291840"/>
          </a:xfrm>
          <a:prstGeom prst="roundRect">
            <a:avLst>
              <a:gd name="adj" fmla="val 3448"/>
            </a:avLst>
          </a:prstGeom>
          <a:solidFill>
            <a:srgbClr val="EEF2F7"/>
          </a:solidFill>
          <a:ln w="12700">
            <a:solidFill>
              <a:srgbClr val="EEF2F7"/>
            </a:solidFill>
            <a:prstDash val="solid"/>
          </a:ln>
        </p:spPr>
      </p:sp>
      <p:sp>
        <p:nvSpPr>
          <p:cNvPr id="11" name="tile-n-Selekce"/>
          <p:cNvSpPr txBox="1"/>
          <p:nvPr/>
        </p:nvSpPr>
        <p:spPr>
          <a:xfrm>
            <a:off x="594360" y="2057400"/>
            <a:ext cx="2377440" cy="731520"/>
          </a:xfrm>
          <a:prstGeom prst="rect">
            <a:avLst/>
          </a:prstGeom>
          <a:noFill/>
          <a:ln/>
        </p:spPr>
        <p:txBody>
          <a:bodyPr wrap="square" lIns="0" tIns="0" rIns="0" bIns="0" rtlCol="0" anchor="ctr"/>
          <a:lstStyle/>
          <a:p>
            <a:pPr indent="0" marL="0">
              <a:buNone/>
            </a:pPr>
            <a:r>
              <a:rPr lang="en-US" sz="2600" b="1" dirty="0">
                <a:solidFill>
                  <a:srgbClr val="C8553D"/>
                </a:solidFill>
              </a:rPr>
              <a:t>1,2–20,9 %</a:t>
            </a:r>
            <a:endParaRPr lang="en-US" sz="2600" dirty="0"/>
          </a:p>
        </p:txBody>
      </p:sp>
      <p:sp>
        <p:nvSpPr>
          <p:cNvPr id="12" name="tile-t-Selekce"/>
          <p:cNvSpPr txBox="1"/>
          <p:nvPr/>
        </p:nvSpPr>
        <p:spPr>
          <a:xfrm>
            <a:off x="594360" y="2788920"/>
            <a:ext cx="2377440" cy="365760"/>
          </a:xfrm>
          <a:prstGeom prst="rect">
            <a:avLst/>
          </a:prstGeom>
          <a:noFill/>
          <a:ln/>
        </p:spPr>
        <p:txBody>
          <a:bodyPr wrap="square" lIns="0" tIns="0" rIns="0" bIns="0" rtlCol="0" anchor="ctr"/>
          <a:lstStyle/>
          <a:p>
            <a:pPr indent="0" marL="0">
              <a:buNone/>
            </a:pPr>
            <a:r>
              <a:rPr lang="en-US" sz="1400" b="1" dirty="0">
                <a:solidFill>
                  <a:srgbClr val="1B2A41"/>
                </a:solidFill>
              </a:rPr>
              <a:t>Selekce</a:t>
            </a:r>
            <a:endParaRPr lang="en-US" sz="1400" dirty="0"/>
          </a:p>
        </p:txBody>
      </p:sp>
      <p:sp>
        <p:nvSpPr>
          <p:cNvPr id="13" name="tile-b-Selekce"/>
          <p:cNvSpPr txBox="1"/>
          <p:nvPr/>
        </p:nvSpPr>
        <p:spPr>
          <a:xfrm>
            <a:off x="594360" y="3200400"/>
            <a:ext cx="2377440" cy="1920240"/>
          </a:xfrm>
          <a:prstGeom prst="rect">
            <a:avLst/>
          </a:prstGeom>
          <a:noFill/>
          <a:ln/>
        </p:spPr>
        <p:txBody>
          <a:bodyPr wrap="square" lIns="0" tIns="0" rIns="0" bIns="0" rtlCol="0" anchor="t"/>
          <a:lstStyle/>
          <a:p>
            <a:pPr indent="0" marL="0">
              <a:buNone/>
            </a:pPr>
            <a:r>
              <a:rPr lang="en-US" sz="1050" dirty="0">
                <a:solidFill>
                  <a:srgbClr val="1B2A41"/>
                </a:solidFill>
              </a:rPr>
              <a:t>pacientů s těžkou OSA ze spánkové laboratoře by splnilo kritéria 5 RCT; vylučovala hlavně spavost, KV onemocnění, noční hypoxémie (Reynor 2022, n 3 965)</a:t>
            </a:r>
            <a:endParaRPr lang="en-US" sz="1050" dirty="0"/>
          </a:p>
        </p:txBody>
      </p:sp>
      <p:sp>
        <p:nvSpPr>
          <p:cNvPr id="14" name="tile-Fenotyp"/>
          <p:cNvSpPr/>
          <p:nvPr/>
        </p:nvSpPr>
        <p:spPr>
          <a:xfrm>
            <a:off x="3291840" y="1920240"/>
            <a:ext cx="2651760" cy="3291840"/>
          </a:xfrm>
          <a:prstGeom prst="roundRect">
            <a:avLst>
              <a:gd name="adj" fmla="val 3448"/>
            </a:avLst>
          </a:prstGeom>
          <a:solidFill>
            <a:srgbClr val="EEF2F7"/>
          </a:solidFill>
          <a:ln w="12700">
            <a:solidFill>
              <a:srgbClr val="EEF2F7"/>
            </a:solidFill>
            <a:prstDash val="solid"/>
          </a:ln>
        </p:spPr>
      </p:sp>
      <p:sp>
        <p:nvSpPr>
          <p:cNvPr id="15" name="tile-n-Fenotyp"/>
          <p:cNvSpPr txBox="1"/>
          <p:nvPr/>
        </p:nvSpPr>
        <p:spPr>
          <a:xfrm>
            <a:off x="3429000" y="2057400"/>
            <a:ext cx="2377440" cy="731520"/>
          </a:xfrm>
          <a:prstGeom prst="rect">
            <a:avLst/>
          </a:prstGeom>
          <a:noFill/>
          <a:ln/>
        </p:spPr>
        <p:txBody>
          <a:bodyPr wrap="square" lIns="0" tIns="0" rIns="0" bIns="0" rtlCol="0" anchor="ctr"/>
          <a:lstStyle/>
          <a:p>
            <a:pPr indent="0" marL="0">
              <a:buNone/>
            </a:pPr>
            <a:r>
              <a:rPr lang="en-US" sz="2600" b="1" dirty="0">
                <a:solidFill>
                  <a:srgbClr val="6B4C9A"/>
                </a:solidFill>
              </a:rPr>
              <a:t>HR 1,7–2,4</a:t>
            </a:r>
            <a:endParaRPr lang="en-US" sz="2600" dirty="0"/>
          </a:p>
        </p:txBody>
      </p:sp>
      <p:sp>
        <p:nvSpPr>
          <p:cNvPr id="16" name="tile-t-Fenotyp"/>
          <p:cNvSpPr txBox="1"/>
          <p:nvPr/>
        </p:nvSpPr>
        <p:spPr>
          <a:xfrm>
            <a:off x="3429000" y="2788920"/>
            <a:ext cx="2377440" cy="365760"/>
          </a:xfrm>
          <a:prstGeom prst="rect">
            <a:avLst/>
          </a:prstGeom>
          <a:noFill/>
          <a:ln/>
        </p:spPr>
        <p:txBody>
          <a:bodyPr wrap="square" lIns="0" tIns="0" rIns="0" bIns="0" rtlCol="0" anchor="ctr"/>
          <a:lstStyle/>
          <a:p>
            <a:pPr indent="0" marL="0">
              <a:buNone/>
            </a:pPr>
            <a:r>
              <a:rPr lang="en-US" sz="1400" b="1" dirty="0">
                <a:solidFill>
                  <a:srgbClr val="1B2A41"/>
                </a:solidFill>
              </a:rPr>
              <a:t>Fenotyp</a:t>
            </a:r>
            <a:endParaRPr lang="en-US" sz="1400" dirty="0"/>
          </a:p>
        </p:txBody>
      </p:sp>
      <p:sp>
        <p:nvSpPr>
          <p:cNvPr id="17" name="tile-b-Fenotyp"/>
          <p:cNvSpPr txBox="1"/>
          <p:nvPr/>
        </p:nvSpPr>
        <p:spPr>
          <a:xfrm>
            <a:off x="3429000" y="3200400"/>
            <a:ext cx="2377440" cy="1920240"/>
          </a:xfrm>
          <a:prstGeom prst="rect">
            <a:avLst/>
          </a:prstGeom>
          <a:noFill/>
          <a:ln/>
        </p:spPr>
        <p:txBody>
          <a:bodyPr wrap="square" lIns="0" tIns="0" rIns="0" bIns="0" rtlCol="0" anchor="t"/>
          <a:lstStyle/>
          <a:p>
            <a:pPr indent="0" marL="0">
              <a:buNone/>
            </a:pPr>
            <a:r>
              <a:rPr lang="en-US" sz="1050" dirty="0">
                <a:solidFill>
                  <a:srgbClr val="1B2A41"/>
                </a:solidFill>
              </a:rPr>
              <a:t>„excessively sleepy“ subtyp (16,7 %) měl v SHHS vyšší riziko incidentního KVO než ostatní subtypy (Mazzotti 2019) – a právě spaví byli z RCT vyloučeni; jiná kohorta po adjustaci nepotvrdila (Trzepizur 2022)</a:t>
            </a:r>
            <a:endParaRPr lang="en-US" sz="1050" dirty="0"/>
          </a:p>
        </p:txBody>
      </p:sp>
      <p:sp>
        <p:nvSpPr>
          <p:cNvPr id="18" name="tile-Adherence"/>
          <p:cNvSpPr/>
          <p:nvPr/>
        </p:nvSpPr>
        <p:spPr>
          <a:xfrm>
            <a:off x="6126480" y="1920240"/>
            <a:ext cx="2651760" cy="3291840"/>
          </a:xfrm>
          <a:prstGeom prst="roundRect">
            <a:avLst>
              <a:gd name="adj" fmla="val 3448"/>
            </a:avLst>
          </a:prstGeom>
          <a:solidFill>
            <a:srgbClr val="EEF2F7"/>
          </a:solidFill>
          <a:ln w="12700">
            <a:solidFill>
              <a:srgbClr val="EEF2F7"/>
            </a:solidFill>
            <a:prstDash val="solid"/>
          </a:ln>
        </p:spPr>
      </p:sp>
      <p:sp>
        <p:nvSpPr>
          <p:cNvPr id="19" name="tile-n-Adherence"/>
          <p:cNvSpPr txBox="1"/>
          <p:nvPr/>
        </p:nvSpPr>
        <p:spPr>
          <a:xfrm>
            <a:off x="6263640" y="2057400"/>
            <a:ext cx="2377440" cy="731520"/>
          </a:xfrm>
          <a:prstGeom prst="rect">
            <a:avLst/>
          </a:prstGeom>
          <a:noFill/>
          <a:ln/>
        </p:spPr>
        <p:txBody>
          <a:bodyPr wrap="square" lIns="0" tIns="0" rIns="0" bIns="0" rtlCol="0" anchor="ctr"/>
          <a:lstStyle/>
          <a:p>
            <a:pPr indent="0" marL="0">
              <a:buNone/>
            </a:pPr>
            <a:r>
              <a:rPr lang="en-US" sz="2600" b="1" dirty="0">
                <a:solidFill>
                  <a:srgbClr val="3D5A80"/>
                </a:solidFill>
              </a:rPr>
              <a:t>2,8–3,3 h</a:t>
            </a:r>
            <a:endParaRPr lang="en-US" sz="2600" dirty="0"/>
          </a:p>
        </p:txBody>
      </p:sp>
      <p:sp>
        <p:nvSpPr>
          <p:cNvPr id="20" name="tile-t-Adherence"/>
          <p:cNvSpPr txBox="1"/>
          <p:nvPr/>
        </p:nvSpPr>
        <p:spPr>
          <a:xfrm>
            <a:off x="6263640" y="2788920"/>
            <a:ext cx="2377440" cy="365760"/>
          </a:xfrm>
          <a:prstGeom prst="rect">
            <a:avLst/>
          </a:prstGeom>
          <a:noFill/>
          <a:ln/>
        </p:spPr>
        <p:txBody>
          <a:bodyPr wrap="square" lIns="0" tIns="0" rIns="0" bIns="0" rtlCol="0" anchor="ctr"/>
          <a:lstStyle/>
          <a:p>
            <a:pPr indent="0" marL="0">
              <a:buNone/>
            </a:pPr>
            <a:r>
              <a:rPr lang="en-US" sz="1400" b="1" dirty="0">
                <a:solidFill>
                  <a:srgbClr val="1B2A41"/>
                </a:solidFill>
              </a:rPr>
              <a:t>Adherence</a:t>
            </a:r>
            <a:endParaRPr lang="en-US" sz="1400" dirty="0"/>
          </a:p>
        </p:txBody>
      </p:sp>
      <p:sp>
        <p:nvSpPr>
          <p:cNvPr id="21" name="tile-b-Adherence"/>
          <p:cNvSpPr txBox="1"/>
          <p:nvPr/>
        </p:nvSpPr>
        <p:spPr>
          <a:xfrm>
            <a:off x="6263640" y="3200400"/>
            <a:ext cx="2377440" cy="1920240"/>
          </a:xfrm>
          <a:prstGeom prst="rect">
            <a:avLst/>
          </a:prstGeom>
          <a:noFill/>
          <a:ln/>
        </p:spPr>
        <p:txBody>
          <a:bodyPr wrap="square" lIns="0" tIns="0" rIns="0" bIns="0" rtlCol="0" anchor="t"/>
          <a:lstStyle/>
          <a:p>
            <a:pPr indent="0" marL="0">
              <a:buNone/>
            </a:pPr>
            <a:r>
              <a:rPr lang="en-US" sz="1050" dirty="0">
                <a:solidFill>
                  <a:srgbClr val="1B2A41"/>
                </a:solidFill>
              </a:rPr>
              <a:t>průměrné noční užívání v SAVE a ISAACC; v IPD MA 3,1 h – hluboko pod klinickou praxí; RCT podhodnocené (Pack 2021)</a:t>
            </a:r>
            <a:endParaRPr lang="en-US" sz="1050" dirty="0"/>
          </a:p>
        </p:txBody>
      </p:sp>
      <p:sp>
        <p:nvSpPr>
          <p:cNvPr id="22" name="tile-Metrika"/>
          <p:cNvSpPr/>
          <p:nvPr/>
        </p:nvSpPr>
        <p:spPr>
          <a:xfrm>
            <a:off x="8961120" y="1920240"/>
            <a:ext cx="2651760" cy="3291840"/>
          </a:xfrm>
          <a:prstGeom prst="roundRect">
            <a:avLst>
              <a:gd name="adj" fmla="val 3448"/>
            </a:avLst>
          </a:prstGeom>
          <a:solidFill>
            <a:srgbClr val="EEF2F7"/>
          </a:solidFill>
          <a:ln w="12700">
            <a:solidFill>
              <a:srgbClr val="EEF2F7"/>
            </a:solidFill>
            <a:prstDash val="solid"/>
          </a:ln>
        </p:spPr>
      </p:sp>
      <p:sp>
        <p:nvSpPr>
          <p:cNvPr id="23" name="tile-n-Metrika"/>
          <p:cNvSpPr txBox="1"/>
          <p:nvPr/>
        </p:nvSpPr>
        <p:spPr>
          <a:xfrm>
            <a:off x="9098280" y="2057400"/>
            <a:ext cx="2377440" cy="731520"/>
          </a:xfrm>
          <a:prstGeom prst="rect">
            <a:avLst/>
          </a:prstGeom>
          <a:noFill/>
          <a:ln/>
        </p:spPr>
        <p:txBody>
          <a:bodyPr wrap="square" lIns="0" tIns="0" rIns="0" bIns="0" rtlCol="0" anchor="ctr"/>
          <a:lstStyle/>
          <a:p>
            <a:pPr indent="0" marL="0">
              <a:buNone/>
            </a:pPr>
            <a:r>
              <a:rPr lang="en-US" sz="2600" b="1" dirty="0">
                <a:solidFill>
                  <a:srgbClr val="2A9D8F"/>
                </a:solidFill>
              </a:rPr>
              <a:t>HR 1,21 / 1,34</a:t>
            </a:r>
            <a:endParaRPr lang="en-US" sz="2600" dirty="0"/>
          </a:p>
        </p:txBody>
      </p:sp>
      <p:sp>
        <p:nvSpPr>
          <p:cNvPr id="24" name="tile-t-Metrika"/>
          <p:cNvSpPr txBox="1"/>
          <p:nvPr/>
        </p:nvSpPr>
        <p:spPr>
          <a:xfrm>
            <a:off x="9098280" y="2788920"/>
            <a:ext cx="2377440" cy="365760"/>
          </a:xfrm>
          <a:prstGeom prst="rect">
            <a:avLst/>
          </a:prstGeom>
          <a:noFill/>
          <a:ln/>
        </p:spPr>
        <p:txBody>
          <a:bodyPr wrap="square" lIns="0" tIns="0" rIns="0" bIns="0" rtlCol="0" anchor="ctr"/>
          <a:lstStyle/>
          <a:p>
            <a:pPr indent="0" marL="0">
              <a:buNone/>
            </a:pPr>
            <a:r>
              <a:rPr lang="en-US" sz="1400" b="1" dirty="0">
                <a:solidFill>
                  <a:srgbClr val="1B2A41"/>
                </a:solidFill>
              </a:rPr>
              <a:t>Metrika</a:t>
            </a:r>
            <a:endParaRPr lang="en-US" sz="1400" dirty="0"/>
          </a:p>
        </p:txBody>
      </p:sp>
      <p:sp>
        <p:nvSpPr>
          <p:cNvPr id="25" name="tile-b-Metrika"/>
          <p:cNvSpPr txBox="1"/>
          <p:nvPr/>
        </p:nvSpPr>
        <p:spPr>
          <a:xfrm>
            <a:off x="9098280" y="3200400"/>
            <a:ext cx="2377440" cy="1920240"/>
          </a:xfrm>
          <a:prstGeom prst="rect">
            <a:avLst/>
          </a:prstGeom>
          <a:noFill/>
          <a:ln/>
        </p:spPr>
        <p:txBody>
          <a:bodyPr wrap="square" lIns="0" tIns="0" rIns="0" bIns="0" rtlCol="0" anchor="t"/>
          <a:lstStyle/>
          <a:p>
            <a:pPr indent="0" marL="0">
              <a:buNone/>
            </a:pPr>
            <a:r>
              <a:rPr lang="en-US" sz="1050" dirty="0">
                <a:solidFill>
                  <a:srgbClr val="1B2A41"/>
                </a:solidFill>
              </a:rPr>
              <a:t>hypoxic burden a T90 byly jedinými prediktory MACE u 5 358 pacientů bez KVO; zařazení do RCT šlo podle AHI (Trzepizur 2022; Azarbarzin 2019)</a:t>
            </a:r>
            <a:endParaRPr lang="en-US" sz="1050" dirty="0"/>
          </a:p>
        </p:txBody>
      </p:sp>
      <p:sp>
        <p:nvSpPr>
          <p:cNvPr id="26" name="dusledek"/>
          <p:cNvSpPr txBox="1"/>
          <p:nvPr/>
        </p:nvSpPr>
        <p:spPr>
          <a:xfrm>
            <a:off x="457200" y="5349240"/>
            <a:ext cx="11292840" cy="594360"/>
          </a:xfrm>
          <a:prstGeom prst="rect">
            <a:avLst/>
          </a:prstGeom>
          <a:noFill/>
          <a:ln/>
        </p:spPr>
        <p:txBody>
          <a:bodyPr wrap="square" lIns="0" tIns="0" rIns="0" bIns="0" rtlCol="0" anchor="ctr"/>
          <a:lstStyle/>
          <a:p>
            <a:pPr indent="0" marL="0">
              <a:buNone/>
            </a:pPr>
            <a:r>
              <a:rPr lang="en-US" sz="1150" b="1" dirty="0">
                <a:solidFill>
                  <a:srgbClr val="3D5A80"/>
                </a:solidFill>
              </a:rPr>
              <a:t>Důsledek pro praxi: CPAP indikujeme pro symptomy, tlak a kvalitu života (AASM 2019: PAP u spavosti STRONG, u hypertenze CONDITIONAL; žádné doporučení k prevenci KV příhod) – a kardiometabolické riziko řešíme hmotností.</a:t>
            </a:r>
            <a:endParaRPr lang="en-US" sz="1150" dirty="0"/>
          </a:p>
        </p:txBody>
      </p:sp>
      <p:sp>
        <p:nvSpPr>
          <p:cNvPr id="27"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Reynor, Sleep 2022 · Mazzotti, AJRCCM 2019 · Trzepizur, AJRCCM 2022 · Pack, Sleep 2021 · Azarbarzin, Eur Heart J 2019 · Javaheri, JACC 2024 · Patil, JCSM 2019 (AASM)</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Klinická praxe I: koho screenovat</a:t>
            </a:r>
            <a:endParaRPr lang="en-US" sz="2500" dirty="0"/>
          </a:p>
        </p:txBody>
      </p:sp>
      <p:sp>
        <p:nvSpPr>
          <p:cNvPr id="3" name="tag-průřez"/>
          <p:cNvSpPr/>
          <p:nvPr/>
        </p:nvSpPr>
        <p:spPr>
          <a:xfrm>
            <a:off x="10863072" y="384048"/>
            <a:ext cx="886968" cy="310896"/>
          </a:xfrm>
          <a:prstGeom prst="roundRect">
            <a:avLst>
              <a:gd name="adj" fmla="val 23529"/>
            </a:avLst>
          </a:prstGeom>
          <a:solidFill>
            <a:srgbClr val="8D99AE"/>
          </a:solidFill>
          <a:ln w="12700">
            <a:solidFill>
              <a:srgbClr val="8D99AE"/>
            </a:solidFill>
            <a:prstDash val="solid"/>
          </a:ln>
        </p:spPr>
      </p:sp>
      <p:sp>
        <p:nvSpPr>
          <p:cNvPr id="4" name="tag-text-průřez"/>
          <p:cNvSpPr txBox="1"/>
          <p:nvPr/>
        </p:nvSpPr>
        <p:spPr>
          <a:xfrm>
            <a:off x="10863072" y="384048"/>
            <a:ext cx="886968" cy="310896"/>
          </a:xfrm>
          <a:prstGeom prst="rect">
            <a:avLst/>
          </a:prstGeom>
          <a:noFill/>
          <a:ln/>
        </p:spPr>
        <p:txBody>
          <a:bodyPr wrap="square" lIns="0" tIns="0" rIns="0" bIns="0" rtlCol="0" anchor="ctr"/>
          <a:lstStyle/>
          <a:p>
            <a:pPr algn="ctr" indent="0" marL="0">
              <a:buNone/>
            </a:pPr>
            <a:r>
              <a:rPr lang="en-US" sz="1000" b="1" dirty="0">
                <a:solidFill>
                  <a:srgbClr val="FFFFFF"/>
                </a:solidFill>
              </a:rPr>
              <a:t>průřez</a:t>
            </a:r>
            <a:endParaRPr lang="en-US" sz="1000" dirty="0"/>
          </a:p>
        </p:txBody>
      </p:sp>
      <p:sp>
        <p:nvSpPr>
          <p:cNvPr id="5" name="tag-guideline (2021–2026)"/>
          <p:cNvSpPr/>
          <p:nvPr/>
        </p:nvSpPr>
        <p:spPr>
          <a:xfrm>
            <a:off x="8257032" y="384048"/>
            <a:ext cx="2532888" cy="310896"/>
          </a:xfrm>
          <a:prstGeom prst="roundRect">
            <a:avLst>
              <a:gd name="adj" fmla="val 23529"/>
            </a:avLst>
          </a:prstGeom>
          <a:solidFill>
            <a:srgbClr val="6B4C9A"/>
          </a:solidFill>
          <a:ln w="12700">
            <a:solidFill>
              <a:srgbClr val="6B4C9A"/>
            </a:solidFill>
            <a:prstDash val="solid"/>
          </a:ln>
        </p:spPr>
      </p:sp>
      <p:sp>
        <p:nvSpPr>
          <p:cNvPr id="6" name="tag-text-guideline (2021–2026)"/>
          <p:cNvSpPr txBox="1"/>
          <p:nvPr/>
        </p:nvSpPr>
        <p:spPr>
          <a:xfrm>
            <a:off x="8257032" y="384048"/>
            <a:ext cx="2532888" cy="310896"/>
          </a:xfrm>
          <a:prstGeom prst="rect">
            <a:avLst/>
          </a:prstGeom>
          <a:noFill/>
          <a:ln/>
        </p:spPr>
        <p:txBody>
          <a:bodyPr wrap="square" lIns="0" tIns="0" rIns="0" bIns="0" rtlCol="0" anchor="ctr"/>
          <a:lstStyle/>
          <a:p>
            <a:pPr algn="ctr" indent="0" marL="0">
              <a:buNone/>
            </a:pPr>
            <a:r>
              <a:rPr lang="en-US" sz="1000" b="1" dirty="0">
                <a:solidFill>
                  <a:srgbClr val="FFFFFF"/>
                </a:solidFill>
              </a:rPr>
              <a:t>guideline (2021–2026)</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Screening má smysl u rezistentní hypertenze, rekurentní FS, HF s podezřením na SDB, metabolického syndromu a DM2 – a nespoléhat na symptomy ani ESS.</a:t>
            </a:r>
            <a:endParaRPr lang="en-US" sz="1500" dirty="0"/>
          </a:p>
        </p:txBody>
      </p:sp>
      <p:graphicFrame>
        <p:nvGraphicFramePr>
          <p:cNvPr id="19" name="tab-screening"/>
          <p:cNvGraphicFramePr>
            <a:graphicFrameLocks noGrp="1"/>
          </p:cNvGraphicFramePr>
          <p:nvPr>
            <p:extLst>
              <p:ext uri="{D42A27DB-BD31-4B8C-83A1-F6EECF244321}">
                <p14:modId xmlns:p14="http://schemas.microsoft.com/office/powerpoint/2010/main" val="1579011935"/>
              </p:ext>
            </p:extLst>
          </p:nvPr>
        </p:nvGraphicFramePr>
        <p:xfrm>
          <a:off x="457200" y="1783080"/>
          <a:ext cx="11292840" cy="914400"/>
        </p:xfrm>
        <a:graphic>
          <a:graphicData uri="http://schemas.openxmlformats.org/drawingml/2006/table">
            <a:tbl>
              <a:tblPr/>
              <a:tblGrid>
                <a:gridCol w="2651760"/>
                <a:gridCol w="5715000"/>
                <a:gridCol w="2926080"/>
              </a:tblGrid>
              <a:tr h="32004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Indikace</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A4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Zdroj a znění</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A4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Síla / poznámka</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A41"/>
                    </a:solidFill>
                  </a:tcPr>
                </a:tc>
              </a:tr>
              <a:tr h="566928">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Rezistentní / špatně kontrolovaná hypertenze</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AHA 2021: screening doporučen. ESC 2024 HTN: „OSAS should be suspected … in all patients with resistant hypertension, and in patients with non-dipping“</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AHA statement (bez tříd). ESC 2024: narativní znění, samostatná třída/LoE nenalezena (plný text neověřen)</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658368">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Rekurentní FS po kardioverzi / ablaci</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AHA 2021: screening doporučen. ESC 2024 FS: „Management of OSA may be considered as part of comprehensive management of risk factors … to reduce recurrence and progression“; screening pouze symptomovým dotazníkem se nedoporučuje</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ESC 2024: třída IIb (LoE k ověření v plném textu)</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Srdeční selhání NYHA II–IV s podezřením na SDB / spavostí</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AHA 2021: formální spánkové vyšetření „reasonable“</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U HF je CSA stejně častá jako OSA (Oldenburg 2007); AASM 2017: PSG, ne domácí test</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Plicní hypertenze; tachy-brady, VT, přeživší SCD</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AHA 2021: screening doporučen (PH); zvážit při podezření (arytmie)</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AHA statement</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658368">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DM2 / prediabetes</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ADA Standards of Care 2026: screening sleep health vč. poruch spánku (rec. 5.56, sekce 5 – znění a stupeň k ověření v plném textu); IDF 2008: oboustranný screening „strongly recommends“</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ADA stupeň NEOVĚŘENO; prevalence OSA u DM2 37–87 % (Sun 2026; Foster 2009)</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Metabolický syndrom</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HypnoLaus: horní kvartil AHI → MetS OR 2,80 (1,86–4,29) (Heinzer 2015)</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950" dirty="0">
                          <a:solidFill>
                            <a:srgbClr val="1B2A41"/>
                          </a:solidFill>
                          <a:latin typeface="Calibri" pitchFamily="34" charset="0"/>
                          <a:ea typeface="Calibri" pitchFamily="34" charset="-122"/>
                          <a:cs typeface="Calibri" pitchFamily="34" charset="-120"/>
                        </a:rPr>
                        <a:t>průřezová asociace; ~60 % u MetS dle přehledu (Drager 2013)</a:t>
                      </a:r>
                      <a:endParaRPr lang="en-US" sz="95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bl>
          </a:graphicData>
        </a:graphic>
      </p:graphicFrame>
      <p:sp>
        <p:nvSpPr>
          <p:cNvPr id="9" name="varovani"/>
          <p:cNvSpPr txBox="1"/>
          <p:nvPr/>
        </p:nvSpPr>
        <p:spPr>
          <a:xfrm>
            <a:off x="457200" y="5440680"/>
            <a:ext cx="11292840" cy="548640"/>
          </a:xfrm>
          <a:prstGeom prst="rect">
            <a:avLst/>
          </a:prstGeom>
          <a:noFill/>
          <a:ln/>
        </p:spPr>
        <p:txBody>
          <a:bodyPr wrap="square" lIns="0" tIns="0" rIns="0" bIns="0" rtlCol="0" anchor="ctr"/>
          <a:lstStyle/>
          <a:p>
            <a:pPr indent="0" marL="0">
              <a:buNone/>
            </a:pPr>
            <a:r>
              <a:rPr lang="en-US" sz="1050" b="1" dirty="0">
                <a:solidFill>
                  <a:srgbClr val="C8553D"/>
                </a:solidFill>
              </a:rPr>
              <a:t>Varování: u obézních diabetiků ve Sleep AHEAD nepredikoval přítomnost ani tíži OSA žádný symptom včetně spavosti (ESS 7,9 ± 4,6 při 86,6 % prevalenci) – Foster 2009. Epworth měří spavost, není to screening OSA (Johns 1991).</a:t>
            </a:r>
            <a:endParaRPr lang="en-US" sz="1050" dirty="0"/>
          </a:p>
        </p:txBody>
      </p:sp>
      <p:sp>
        <p:nvSpPr>
          <p:cNvPr id="10"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Yeghiazarians, Circulation 2021 (AHA) · McEvoy, Eur Heart J 2024 (ESC HTN) · Van Gelder, Eur Heart J 2024 (ESC FS) · ADA, Diabetes Care 2026 · Shaw, Diabetes Res Clin Pract 2008 (IDF) · Heinzer, Lancet Respir Med 2015 · Foster, Diabetes Care 2009</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Klinická praxe II: STOP-BANG, domácí testování, kdy referovat</a:t>
            </a:r>
            <a:endParaRPr lang="en-US" sz="2500" dirty="0"/>
          </a:p>
        </p:txBody>
      </p:sp>
      <p:sp>
        <p:nvSpPr>
          <p:cNvPr id="3" name="tag-guideline (2017, 2019)"/>
          <p:cNvSpPr/>
          <p:nvPr/>
        </p:nvSpPr>
        <p:spPr>
          <a:xfrm>
            <a:off x="9107424" y="384048"/>
            <a:ext cx="2642616" cy="310896"/>
          </a:xfrm>
          <a:prstGeom prst="roundRect">
            <a:avLst>
              <a:gd name="adj" fmla="val 23529"/>
            </a:avLst>
          </a:prstGeom>
          <a:solidFill>
            <a:srgbClr val="6B4C9A"/>
          </a:solidFill>
          <a:ln w="12700">
            <a:solidFill>
              <a:srgbClr val="6B4C9A"/>
            </a:solidFill>
            <a:prstDash val="solid"/>
          </a:ln>
        </p:spPr>
      </p:sp>
      <p:sp>
        <p:nvSpPr>
          <p:cNvPr id="4" name="tag-text-guideline (2017, 2019)"/>
          <p:cNvSpPr txBox="1"/>
          <p:nvPr/>
        </p:nvSpPr>
        <p:spPr>
          <a:xfrm>
            <a:off x="9107424" y="384048"/>
            <a:ext cx="2642616" cy="310896"/>
          </a:xfrm>
          <a:prstGeom prst="rect">
            <a:avLst/>
          </a:prstGeom>
          <a:noFill/>
          <a:ln/>
        </p:spPr>
        <p:txBody>
          <a:bodyPr wrap="square" lIns="0" tIns="0" rIns="0" bIns="0" rtlCol="0" anchor="ctr"/>
          <a:lstStyle/>
          <a:p>
            <a:pPr algn="ctr" indent="0" marL="0">
              <a:buNone/>
            </a:pPr>
            <a:r>
              <a:rPr lang="en-US" sz="1000" b="1" dirty="0">
                <a:solidFill>
                  <a:srgbClr val="FFFFFF"/>
                </a:solidFill>
              </a:rPr>
              <a:t>guideline (2017, 2019)</a:t>
            </a:r>
            <a:endParaRPr lang="en-US" sz="1000" dirty="0"/>
          </a:p>
        </p:txBody>
      </p:sp>
      <p:sp>
        <p:nvSpPr>
          <p:cNvPr id="5" name="tag-MA obs."/>
          <p:cNvSpPr/>
          <p:nvPr/>
        </p:nvSpPr>
        <p:spPr>
          <a:xfrm>
            <a:off x="8037576" y="384048"/>
            <a:ext cx="996696" cy="310896"/>
          </a:xfrm>
          <a:prstGeom prst="roundRect">
            <a:avLst>
              <a:gd name="adj" fmla="val 23529"/>
            </a:avLst>
          </a:prstGeom>
          <a:solidFill>
            <a:srgbClr val="3D5A80"/>
          </a:solidFill>
          <a:ln w="12700">
            <a:solidFill>
              <a:srgbClr val="3D5A80"/>
            </a:solidFill>
            <a:prstDash val="solid"/>
          </a:ln>
        </p:spPr>
      </p:sp>
      <p:sp>
        <p:nvSpPr>
          <p:cNvPr id="6" name="tag-text-MA obs."/>
          <p:cNvSpPr txBox="1"/>
          <p:nvPr/>
        </p:nvSpPr>
        <p:spPr>
          <a:xfrm>
            <a:off x="8037576"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MA obs.</a:t>
            </a:r>
            <a:endParaRPr lang="en-US" sz="1000" dirty="0"/>
          </a:p>
        </p:txBody>
      </p:sp>
      <p:sp>
        <p:nvSpPr>
          <p:cNvPr id="7" name="sdeleni"/>
          <p:cNvSpPr txBox="1"/>
          <p:nvPr/>
        </p:nvSpPr>
        <p:spPr>
          <a:xfrm>
            <a:off x="457200" y="1234440"/>
            <a:ext cx="11247120" cy="502920"/>
          </a:xfrm>
          <a:prstGeom prst="rect">
            <a:avLst/>
          </a:prstGeom>
          <a:noFill/>
          <a:ln/>
        </p:spPr>
        <p:txBody>
          <a:bodyPr wrap="square" lIns="0" tIns="0" rIns="0" bIns="0" rtlCol="0" anchor="t"/>
          <a:lstStyle/>
          <a:p>
            <a:pPr algn="l" indent="0" marL="0">
              <a:buNone/>
            </a:pPr>
            <a:r>
              <a:rPr lang="en-US" sz="1500" dirty="0">
                <a:solidFill>
                  <a:srgbClr val="3D5A80"/>
                </a:solidFill>
              </a:rPr>
              <a:t>STOP-BANG ≥ 3 má senzitivitu 94 % pro AHI ≥ 15, ale specificitu 34 % a v nízkoprevalenční populaci PPV 16 % – vylučuje, nepotvrzuje; dotazník nikdy nenahrazuje test.</a:t>
            </a:r>
            <a:endParaRPr lang="en-US" sz="1500" dirty="0"/>
          </a:p>
        </p:txBody>
      </p:sp>
      <p:sp>
        <p:nvSpPr>
          <p:cNvPr id="8" name="alg-Kardiologick"/>
          <p:cNvSpPr/>
          <p:nvPr/>
        </p:nvSpPr>
        <p:spPr>
          <a:xfrm>
            <a:off x="457200" y="1828800"/>
            <a:ext cx="2103120" cy="1005840"/>
          </a:xfrm>
          <a:prstGeom prst="roundRect">
            <a:avLst>
              <a:gd name="adj" fmla="val 10909"/>
            </a:avLst>
          </a:prstGeom>
          <a:solidFill>
            <a:srgbClr val="1B2A41"/>
          </a:solidFill>
          <a:ln w="12700">
            <a:solidFill>
              <a:srgbClr val="1B2A41"/>
            </a:solidFill>
            <a:prstDash val="solid"/>
          </a:ln>
        </p:spPr>
      </p:sp>
      <p:sp>
        <p:nvSpPr>
          <p:cNvPr id="9" name="algt-Kardiologick"/>
          <p:cNvSpPr txBox="1"/>
          <p:nvPr/>
        </p:nvSpPr>
        <p:spPr>
          <a:xfrm>
            <a:off x="457200" y="1828800"/>
            <a:ext cx="2103120" cy="1005840"/>
          </a:xfrm>
          <a:prstGeom prst="rect">
            <a:avLst/>
          </a:prstGeom>
          <a:noFill/>
          <a:ln/>
        </p:spPr>
        <p:txBody>
          <a:bodyPr wrap="square" lIns="635" tIns="635" rIns="635" bIns="635" rtlCol="0" anchor="ctr"/>
          <a:lstStyle/>
          <a:p>
            <a:pPr algn="ctr" indent="0" marL="0">
              <a:buNone/>
            </a:pPr>
            <a:r>
              <a:rPr lang="en-US" sz="1050" b="1" dirty="0">
                <a:solidFill>
                  <a:srgbClr val="FFFFFF"/>
                </a:solidFill>
              </a:rPr>
              <a:t>Kardiologický pacient s indikací (slide 18)</a:t>
            </a:r>
            <a:endParaRPr lang="en-US" sz="1050" dirty="0"/>
          </a:p>
          <a:p>
            <a:pPr algn="ctr" indent="0" marL="0">
              <a:buNone/>
            </a:pPr>
            <a:r>
              <a:rPr lang="en-US" sz="1050" b="1" dirty="0">
                <a:solidFill>
                  <a:srgbClr val="FFFFFF"/>
                </a:solidFill>
              </a:rPr>
              <a:t>+ STOP-BANG (0–8)</a:t>
            </a:r>
            <a:endParaRPr lang="en-US" sz="1050" dirty="0"/>
          </a:p>
        </p:txBody>
      </p:sp>
      <p:sp>
        <p:nvSpPr>
          <p:cNvPr id="10" name="alga2.9-2.41"/>
          <p:cNvSpPr/>
          <p:nvPr/>
        </p:nvSpPr>
        <p:spPr>
          <a:xfrm>
            <a:off x="2651760" y="2203704"/>
            <a:ext cx="365760" cy="256032"/>
          </a:xfrm>
          <a:prstGeom prst="rightArrow">
            <a:avLst/>
          </a:prstGeom>
          <a:solidFill>
            <a:srgbClr val="8D99AE"/>
          </a:solidFill>
          <a:ln w="12700">
            <a:solidFill>
              <a:srgbClr val="8D99AE"/>
            </a:solidFill>
            <a:prstDash val="solid"/>
          </a:ln>
        </p:spPr>
      </p:sp>
      <p:sp>
        <p:nvSpPr>
          <p:cNvPr id="11" name="alg-0–2: nízké r"/>
          <p:cNvSpPr/>
          <p:nvPr/>
        </p:nvSpPr>
        <p:spPr>
          <a:xfrm>
            <a:off x="3108960" y="1828800"/>
            <a:ext cx="1828800" cy="548640"/>
          </a:xfrm>
          <a:prstGeom prst="roundRect">
            <a:avLst>
              <a:gd name="adj" fmla="val 20000"/>
            </a:avLst>
          </a:prstGeom>
          <a:solidFill>
            <a:srgbClr val="8D99AE"/>
          </a:solidFill>
          <a:ln w="12700">
            <a:solidFill>
              <a:srgbClr val="8D99AE"/>
            </a:solidFill>
            <a:prstDash val="solid"/>
          </a:ln>
        </p:spPr>
      </p:sp>
      <p:sp>
        <p:nvSpPr>
          <p:cNvPr id="12" name="algt-0–2: nízké r"/>
          <p:cNvSpPr txBox="1"/>
          <p:nvPr/>
        </p:nvSpPr>
        <p:spPr>
          <a:xfrm>
            <a:off x="3108960" y="1828800"/>
            <a:ext cx="1828800" cy="548640"/>
          </a:xfrm>
          <a:prstGeom prst="rect">
            <a:avLst/>
          </a:prstGeom>
          <a:noFill/>
          <a:ln/>
        </p:spPr>
        <p:txBody>
          <a:bodyPr wrap="square" lIns="635" tIns="635" rIns="635" bIns="635" rtlCol="0" anchor="ctr"/>
          <a:lstStyle/>
          <a:p>
            <a:pPr algn="ctr" indent="0" marL="0">
              <a:buNone/>
            </a:pPr>
            <a:r>
              <a:rPr lang="en-US" sz="1050" b="1" dirty="0">
                <a:solidFill>
                  <a:srgbClr val="FFFFFF"/>
                </a:solidFill>
              </a:rPr>
              <a:t>0–2: nízké riziko</a:t>
            </a:r>
            <a:endParaRPr lang="en-US" sz="1050" dirty="0"/>
          </a:p>
        </p:txBody>
      </p:sp>
      <p:sp>
        <p:nvSpPr>
          <p:cNvPr id="13" name="alg-3–4: střední"/>
          <p:cNvSpPr/>
          <p:nvPr/>
        </p:nvSpPr>
        <p:spPr>
          <a:xfrm>
            <a:off x="3108960" y="2514600"/>
            <a:ext cx="1828800" cy="548640"/>
          </a:xfrm>
          <a:prstGeom prst="roundRect">
            <a:avLst>
              <a:gd name="adj" fmla="val 20000"/>
            </a:avLst>
          </a:prstGeom>
          <a:solidFill>
            <a:srgbClr val="E9C46A"/>
          </a:solidFill>
          <a:ln w="12700">
            <a:solidFill>
              <a:srgbClr val="E9C46A"/>
            </a:solidFill>
            <a:prstDash val="solid"/>
          </a:ln>
        </p:spPr>
      </p:sp>
      <p:sp>
        <p:nvSpPr>
          <p:cNvPr id="14" name="algt-3–4: střední"/>
          <p:cNvSpPr txBox="1"/>
          <p:nvPr/>
        </p:nvSpPr>
        <p:spPr>
          <a:xfrm>
            <a:off x="3108960" y="2514600"/>
            <a:ext cx="1828800" cy="548640"/>
          </a:xfrm>
          <a:prstGeom prst="rect">
            <a:avLst/>
          </a:prstGeom>
          <a:noFill/>
          <a:ln/>
        </p:spPr>
        <p:txBody>
          <a:bodyPr wrap="square" lIns="635" tIns="635" rIns="635" bIns="635" rtlCol="0" anchor="ctr"/>
          <a:lstStyle/>
          <a:p>
            <a:pPr algn="ctr" indent="0" marL="0">
              <a:buNone/>
            </a:pPr>
            <a:r>
              <a:rPr lang="en-US" sz="950" b="1" dirty="0">
                <a:solidFill>
                  <a:srgbClr val="1B2A41"/>
                </a:solidFill>
              </a:rPr>
              <a:t>3–4: střední – doplnit BMI &gt; 35, krk, muž</a:t>
            </a:r>
            <a:endParaRPr lang="en-US" sz="950" dirty="0"/>
          </a:p>
        </p:txBody>
      </p:sp>
      <p:sp>
        <p:nvSpPr>
          <p:cNvPr id="15" name="alg-5–8: vysoké "/>
          <p:cNvSpPr/>
          <p:nvPr/>
        </p:nvSpPr>
        <p:spPr>
          <a:xfrm>
            <a:off x="3108960" y="3200400"/>
            <a:ext cx="1828800" cy="548640"/>
          </a:xfrm>
          <a:prstGeom prst="roundRect">
            <a:avLst>
              <a:gd name="adj" fmla="val 20000"/>
            </a:avLst>
          </a:prstGeom>
          <a:solidFill>
            <a:srgbClr val="C8553D"/>
          </a:solidFill>
          <a:ln w="12700">
            <a:solidFill>
              <a:srgbClr val="C8553D"/>
            </a:solidFill>
            <a:prstDash val="solid"/>
          </a:ln>
        </p:spPr>
      </p:sp>
      <p:sp>
        <p:nvSpPr>
          <p:cNvPr id="16" name="algt-5–8: vysoké "/>
          <p:cNvSpPr txBox="1"/>
          <p:nvPr/>
        </p:nvSpPr>
        <p:spPr>
          <a:xfrm>
            <a:off x="3108960" y="3200400"/>
            <a:ext cx="1828800" cy="548640"/>
          </a:xfrm>
          <a:prstGeom prst="rect">
            <a:avLst/>
          </a:prstGeom>
          <a:noFill/>
          <a:ln/>
        </p:spPr>
        <p:txBody>
          <a:bodyPr wrap="square" lIns="635" tIns="635" rIns="635" bIns="635" rtlCol="0" anchor="ctr"/>
          <a:lstStyle/>
          <a:p>
            <a:pPr algn="ctr" indent="0" marL="0">
              <a:buNone/>
            </a:pPr>
            <a:r>
              <a:rPr lang="en-US" sz="1050" b="1" dirty="0">
                <a:solidFill>
                  <a:srgbClr val="FFFFFF"/>
                </a:solidFill>
              </a:rPr>
              <a:t>5–8: vysoké riziko</a:t>
            </a:r>
            <a:endParaRPr lang="en-US" sz="1050" dirty="0"/>
          </a:p>
        </p:txBody>
      </p:sp>
      <p:sp>
        <p:nvSpPr>
          <p:cNvPr id="17" name="alga5.5-2.16"/>
          <p:cNvSpPr/>
          <p:nvPr/>
        </p:nvSpPr>
        <p:spPr>
          <a:xfrm>
            <a:off x="5029200" y="1975104"/>
            <a:ext cx="365760" cy="256032"/>
          </a:xfrm>
          <a:prstGeom prst="rightArrow">
            <a:avLst/>
          </a:prstGeom>
          <a:solidFill>
            <a:srgbClr val="8D99AE"/>
          </a:solidFill>
          <a:ln w="12700">
            <a:solidFill>
              <a:srgbClr val="8D99AE"/>
            </a:solidFill>
            <a:prstDash val="solid"/>
          </a:ln>
        </p:spPr>
      </p:sp>
      <p:sp>
        <p:nvSpPr>
          <p:cNvPr id="18" name="alga5.5-2.91"/>
          <p:cNvSpPr/>
          <p:nvPr/>
        </p:nvSpPr>
        <p:spPr>
          <a:xfrm>
            <a:off x="5029200" y="2660904"/>
            <a:ext cx="365760" cy="256032"/>
          </a:xfrm>
          <a:prstGeom prst="rightArrow">
            <a:avLst/>
          </a:prstGeom>
          <a:solidFill>
            <a:srgbClr val="8D99AE"/>
          </a:solidFill>
          <a:ln w="12700">
            <a:solidFill>
              <a:srgbClr val="8D99AE"/>
            </a:solidFill>
            <a:prstDash val="solid"/>
          </a:ln>
        </p:spPr>
      </p:sp>
      <p:sp>
        <p:nvSpPr>
          <p:cNvPr id="19" name="alga5.5-3.66"/>
          <p:cNvSpPr/>
          <p:nvPr/>
        </p:nvSpPr>
        <p:spPr>
          <a:xfrm>
            <a:off x="5029200" y="3346704"/>
            <a:ext cx="365760" cy="256032"/>
          </a:xfrm>
          <a:prstGeom prst="rightArrow">
            <a:avLst/>
          </a:prstGeom>
          <a:solidFill>
            <a:srgbClr val="8D99AE"/>
          </a:solidFill>
          <a:ln w="12700">
            <a:solidFill>
              <a:srgbClr val="8D99AE"/>
            </a:solidFill>
            <a:prstDash val="solid"/>
          </a:ln>
        </p:spPr>
      </p:sp>
      <p:sp>
        <p:nvSpPr>
          <p:cNvPr id="20" name="alg-sledovat; př"/>
          <p:cNvSpPr/>
          <p:nvPr/>
        </p:nvSpPr>
        <p:spPr>
          <a:xfrm>
            <a:off x="5486400" y="1828800"/>
            <a:ext cx="2194560" cy="548640"/>
          </a:xfrm>
          <a:prstGeom prst="roundRect">
            <a:avLst>
              <a:gd name="adj" fmla="val 20000"/>
            </a:avLst>
          </a:prstGeom>
          <a:solidFill>
            <a:srgbClr val="EEF2F7"/>
          </a:solidFill>
          <a:ln w="12700">
            <a:solidFill>
              <a:srgbClr val="EEF2F7"/>
            </a:solidFill>
            <a:prstDash val="solid"/>
          </a:ln>
        </p:spPr>
      </p:sp>
      <p:sp>
        <p:nvSpPr>
          <p:cNvPr id="21" name="algt-sledovat; př"/>
          <p:cNvSpPr txBox="1"/>
          <p:nvPr/>
        </p:nvSpPr>
        <p:spPr>
          <a:xfrm>
            <a:off x="5486400" y="1828800"/>
            <a:ext cx="2194560" cy="548640"/>
          </a:xfrm>
          <a:prstGeom prst="rect">
            <a:avLst/>
          </a:prstGeom>
          <a:noFill/>
          <a:ln/>
        </p:spPr>
        <p:txBody>
          <a:bodyPr wrap="square" lIns="635" tIns="635" rIns="635" bIns="635" rtlCol="0" anchor="ctr"/>
          <a:lstStyle/>
          <a:p>
            <a:pPr algn="ctr" indent="0" marL="0">
              <a:buNone/>
            </a:pPr>
            <a:r>
              <a:rPr lang="en-US" sz="950" b="1" dirty="0">
                <a:solidFill>
                  <a:srgbClr val="1B2A41"/>
                </a:solidFill>
              </a:rPr>
              <a:t>sledovat; při přetrvávajícím podezření test</a:t>
            </a:r>
            <a:endParaRPr lang="en-US" sz="950" dirty="0"/>
          </a:p>
        </p:txBody>
      </p:sp>
      <p:sp>
        <p:nvSpPr>
          <p:cNvPr id="22" name="alg-Nekomplikova"/>
          <p:cNvSpPr/>
          <p:nvPr/>
        </p:nvSpPr>
        <p:spPr>
          <a:xfrm>
            <a:off x="5486400" y="2514600"/>
            <a:ext cx="2194560" cy="1234440"/>
          </a:xfrm>
          <a:prstGeom prst="roundRect">
            <a:avLst>
              <a:gd name="adj" fmla="val 8889"/>
            </a:avLst>
          </a:prstGeom>
          <a:solidFill>
            <a:srgbClr val="2A9D8F"/>
          </a:solidFill>
          <a:ln w="12700">
            <a:solidFill>
              <a:srgbClr val="2A9D8F"/>
            </a:solidFill>
            <a:prstDash val="solid"/>
          </a:ln>
        </p:spPr>
      </p:sp>
      <p:sp>
        <p:nvSpPr>
          <p:cNvPr id="23" name="algt-Nekomplikova"/>
          <p:cNvSpPr txBox="1"/>
          <p:nvPr/>
        </p:nvSpPr>
        <p:spPr>
          <a:xfrm>
            <a:off x="5486400" y="2514600"/>
            <a:ext cx="2194560" cy="1234440"/>
          </a:xfrm>
          <a:prstGeom prst="rect">
            <a:avLst/>
          </a:prstGeom>
          <a:noFill/>
          <a:ln/>
        </p:spPr>
        <p:txBody>
          <a:bodyPr wrap="square" lIns="635" tIns="635" rIns="635" bIns="635" rtlCol="0" anchor="ctr"/>
          <a:lstStyle/>
          <a:p>
            <a:pPr algn="ctr" indent="0" marL="0">
              <a:buNone/>
            </a:pPr>
            <a:r>
              <a:rPr lang="en-US" sz="950" b="1" dirty="0">
                <a:solidFill>
                  <a:srgbClr val="FFFFFF"/>
                </a:solidFill>
              </a:rPr>
              <a:t>Nekomplikovaný pacient:</a:t>
            </a:r>
            <a:endParaRPr lang="en-US" sz="950" dirty="0"/>
          </a:p>
          <a:p>
            <a:pPr algn="ctr" indent="0" marL="0">
              <a:buNone/>
            </a:pPr>
            <a:r>
              <a:rPr lang="en-US" sz="950" b="1" dirty="0">
                <a:solidFill>
                  <a:srgbClr val="FFFFFF"/>
                </a:solidFill>
              </a:rPr>
              <a:t>domácí test (HSAT) nebo PSG</a:t>
            </a:r>
            <a:endParaRPr lang="en-US" sz="950" dirty="0"/>
          </a:p>
          <a:p>
            <a:pPr algn="ctr" indent="0" marL="0">
              <a:buNone/>
            </a:pPr>
            <a:endParaRPr lang="en-US" sz="950" dirty="0"/>
          </a:p>
          <a:p>
            <a:pPr algn="ctr" indent="0" marL="0">
              <a:buNone/>
            </a:pPr>
            <a:r>
              <a:rPr lang="en-US" sz="950" b="1" dirty="0">
                <a:solidFill>
                  <a:srgbClr val="FFFFFF"/>
                </a:solidFill>
              </a:rPr>
              <a:t>Negativní/nejednoznačný HSAT → PSG</a:t>
            </a:r>
            <a:endParaRPr lang="en-US" sz="950" dirty="0"/>
          </a:p>
        </p:txBody>
      </p:sp>
      <p:sp>
        <p:nvSpPr>
          <p:cNvPr id="24" name="alg-Významné kar"/>
          <p:cNvSpPr/>
          <p:nvPr/>
        </p:nvSpPr>
        <p:spPr>
          <a:xfrm>
            <a:off x="5486400" y="3886200"/>
            <a:ext cx="2194560" cy="914400"/>
          </a:xfrm>
          <a:prstGeom prst="roundRect">
            <a:avLst>
              <a:gd name="adj" fmla="val 12000"/>
            </a:avLst>
          </a:prstGeom>
          <a:solidFill>
            <a:srgbClr val="3D5A80"/>
          </a:solidFill>
          <a:ln w="12700">
            <a:solidFill>
              <a:srgbClr val="3D5A80"/>
            </a:solidFill>
            <a:prstDash val="solid"/>
          </a:ln>
        </p:spPr>
      </p:sp>
      <p:sp>
        <p:nvSpPr>
          <p:cNvPr id="25" name="algt-Významné kar"/>
          <p:cNvSpPr txBox="1"/>
          <p:nvPr/>
        </p:nvSpPr>
        <p:spPr>
          <a:xfrm>
            <a:off x="5486400" y="3886200"/>
            <a:ext cx="2194560" cy="914400"/>
          </a:xfrm>
          <a:prstGeom prst="rect">
            <a:avLst/>
          </a:prstGeom>
          <a:noFill/>
          <a:ln/>
        </p:spPr>
        <p:txBody>
          <a:bodyPr wrap="square" lIns="635" tIns="635" rIns="635" bIns="635" rtlCol="0" anchor="ctr"/>
          <a:lstStyle/>
          <a:p>
            <a:pPr algn="ctr" indent="0" marL="0">
              <a:buNone/>
            </a:pPr>
            <a:r>
              <a:rPr lang="en-US" sz="950" b="1" dirty="0">
                <a:solidFill>
                  <a:srgbClr val="FFFFFF"/>
                </a:solidFill>
              </a:rPr>
              <a:t>Významné kardiorespirační onemocnění (HF), hypoventilace, CMP, opioidy → rovnou PSG</a:t>
            </a:r>
            <a:endParaRPr lang="en-US" sz="950" dirty="0"/>
          </a:p>
        </p:txBody>
      </p:sp>
      <p:sp>
        <p:nvSpPr>
          <p:cNvPr id="26" name="alga8.5-3.3"/>
          <p:cNvSpPr/>
          <p:nvPr/>
        </p:nvSpPr>
        <p:spPr>
          <a:xfrm>
            <a:off x="7772400" y="3017520"/>
            <a:ext cx="365760" cy="256032"/>
          </a:xfrm>
          <a:prstGeom prst="rightArrow">
            <a:avLst/>
          </a:prstGeom>
          <a:solidFill>
            <a:srgbClr val="8D99AE"/>
          </a:solidFill>
          <a:ln w="12700">
            <a:solidFill>
              <a:srgbClr val="8D99AE"/>
            </a:solidFill>
            <a:prstDash val="solid"/>
          </a:ln>
        </p:spPr>
      </p:sp>
      <p:sp>
        <p:nvSpPr>
          <p:cNvPr id="27" name="alg-Spánková lab"/>
          <p:cNvSpPr/>
          <p:nvPr/>
        </p:nvSpPr>
        <p:spPr>
          <a:xfrm>
            <a:off x="8229600" y="2514600"/>
            <a:ext cx="1737360" cy="2286000"/>
          </a:xfrm>
          <a:prstGeom prst="roundRect">
            <a:avLst>
              <a:gd name="adj" fmla="val 6316"/>
            </a:avLst>
          </a:prstGeom>
          <a:solidFill>
            <a:srgbClr val="1B2A41"/>
          </a:solidFill>
          <a:ln w="12700">
            <a:solidFill>
              <a:srgbClr val="1B2A41"/>
            </a:solidFill>
            <a:prstDash val="solid"/>
          </a:ln>
        </p:spPr>
      </p:sp>
      <p:sp>
        <p:nvSpPr>
          <p:cNvPr id="28" name="algt-Spánková lab"/>
          <p:cNvSpPr txBox="1"/>
          <p:nvPr/>
        </p:nvSpPr>
        <p:spPr>
          <a:xfrm>
            <a:off x="8229600" y="2514600"/>
            <a:ext cx="1737360" cy="2286000"/>
          </a:xfrm>
          <a:prstGeom prst="rect">
            <a:avLst/>
          </a:prstGeom>
          <a:noFill/>
          <a:ln/>
        </p:spPr>
        <p:txBody>
          <a:bodyPr wrap="square" lIns="635" tIns="635" rIns="635" bIns="635" rtlCol="0" anchor="ctr"/>
          <a:lstStyle/>
          <a:p>
            <a:pPr algn="ctr" indent="0" marL="0">
              <a:buNone/>
            </a:pPr>
            <a:r>
              <a:rPr lang="en-US" sz="950" b="1" dirty="0">
                <a:solidFill>
                  <a:srgbClr val="FFFFFF"/>
                </a:solidFill>
              </a:rPr>
              <a:t>Spánková laboratoř:</a:t>
            </a:r>
            <a:endParaRPr lang="en-US" sz="950" dirty="0"/>
          </a:p>
          <a:p>
            <a:pPr algn="ctr" indent="0" marL="0">
              <a:buNone/>
            </a:pPr>
            <a:r>
              <a:rPr lang="en-US" sz="950" b="1" dirty="0">
                <a:solidFill>
                  <a:srgbClr val="FFFFFF"/>
                </a:solidFill>
              </a:rPr>
              <a:t>diagnóza, fenotyp (AHI, ODI, T90, HB), indikace PAP / alternativ; metabolická péče a hmotnost paralelně</a:t>
            </a:r>
            <a:endParaRPr lang="en-US" sz="950" dirty="0"/>
          </a:p>
        </p:txBody>
      </p:sp>
      <p:sp>
        <p:nvSpPr>
          <p:cNvPr id="29" name="aasm"/>
          <p:cNvSpPr txBox="1"/>
          <p:nvPr/>
        </p:nvSpPr>
        <p:spPr>
          <a:xfrm>
            <a:off x="457200" y="4937760"/>
            <a:ext cx="9509760" cy="1005840"/>
          </a:xfrm>
          <a:prstGeom prst="rect">
            <a:avLst/>
          </a:prstGeom>
          <a:noFill/>
          <a:ln/>
        </p:spPr>
        <p:txBody>
          <a:bodyPr wrap="square" lIns="0" tIns="0" rIns="0" bIns="0" rtlCol="0" anchor="t"/>
          <a:lstStyle/>
          <a:p>
            <a:pPr indent="0" marL="0">
              <a:buNone/>
            </a:pPr>
            <a:r>
              <a:rPr lang="en-US" sz="950" dirty="0">
                <a:solidFill>
                  <a:srgbClr val="3D5A80"/>
                </a:solidFill>
              </a:rPr>
              <a:t>AASM 2017 (Kapur): dotazníky a predikční algoritmy nepoužívat k diagnóze bez PSG/HSAT (STRONG); PSG u nekomplikovaných se zvýšeným rizikem nebo HSAT (STRONG); PSG místo HSAT u významného kardiorespiračního onemocnění (STRONG). AASM 2019 (Patil): PAP u spavosti STRONG, u hypertenze CONDITIONAL.</a:t>
            </a:r>
            <a:endParaRPr lang="en-US" sz="950" dirty="0"/>
          </a:p>
        </p:txBody>
      </p:sp>
      <p:sp>
        <p:nvSpPr>
          <p:cNvPr id="30" name="box-STOP-BANG ≥ 3 (Nagappa 2015, 17 studií, n 9 206)"/>
          <p:cNvSpPr/>
          <p:nvPr/>
        </p:nvSpPr>
        <p:spPr>
          <a:xfrm>
            <a:off x="10104120" y="1828800"/>
            <a:ext cx="1645920" cy="3017520"/>
          </a:xfrm>
          <a:prstGeom prst="roundRect">
            <a:avLst>
              <a:gd name="adj" fmla="val 5556"/>
            </a:avLst>
          </a:prstGeom>
          <a:solidFill>
            <a:srgbClr val="EEF2F7"/>
          </a:solidFill>
          <a:ln w="12700">
            <a:solidFill>
              <a:srgbClr val="EEF2F7"/>
            </a:solidFill>
            <a:prstDash val="solid"/>
          </a:ln>
        </p:spPr>
      </p:sp>
      <p:sp>
        <p:nvSpPr>
          <p:cNvPr id="31" name="box-title-STOP-BANG ≥ 3 (Nagappa 2015, 17 studií, n 9 206)"/>
          <p:cNvSpPr txBox="1"/>
          <p:nvPr/>
        </p:nvSpPr>
        <p:spPr>
          <a:xfrm>
            <a:off x="10241280" y="1920240"/>
            <a:ext cx="1371600" cy="329184"/>
          </a:xfrm>
          <a:prstGeom prst="rect">
            <a:avLst/>
          </a:prstGeom>
          <a:noFill/>
          <a:ln/>
        </p:spPr>
        <p:txBody>
          <a:bodyPr wrap="square" lIns="0" tIns="0" rIns="0" bIns="0" rtlCol="0" anchor="t"/>
          <a:lstStyle/>
          <a:p>
            <a:pPr indent="0" marL="0">
              <a:buNone/>
            </a:pPr>
            <a:r>
              <a:rPr lang="en-US" sz="950" b="1" dirty="0">
                <a:solidFill>
                  <a:srgbClr val="1B2A41"/>
                </a:solidFill>
              </a:rPr>
              <a:t>STOP-BANG ≥ 3 (Nagappa 2015, 17 studií, n 9 206)</a:t>
            </a:r>
            <a:endParaRPr lang="en-US" sz="950" dirty="0"/>
          </a:p>
        </p:txBody>
      </p:sp>
      <p:sp>
        <p:nvSpPr>
          <p:cNvPr id="32" name="box-body-STOP-BANG ≥ 3 (Nagappa 2015, 17 studií, n 9 206)"/>
          <p:cNvSpPr txBox="1"/>
          <p:nvPr/>
        </p:nvSpPr>
        <p:spPr>
          <a:xfrm>
            <a:off x="10241280" y="2267712"/>
            <a:ext cx="1371600" cy="2487168"/>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B2A41"/>
                </a:solidFill>
              </a:rPr>
              <a:t>Senzitivita 90 / 94 / 96 % pro AHI ≥ 5 / 15 / 30</a:t>
            </a:r>
            <a:endParaRPr lang="en-US" sz="900" dirty="0"/>
          </a:p>
          <a:p>
            <a:pPr marL="127000" indent="-127000">
              <a:spcAft>
                <a:spcPts val="300"/>
              </a:spcAft>
              <a:buSzPct val="100000"/>
              <a:buChar char="•"/>
            </a:pPr>
            <a:r>
              <a:rPr lang="en-US" sz="900" dirty="0">
                <a:solidFill>
                  <a:srgbClr val="1B2A41"/>
                </a:solidFill>
              </a:rPr>
              <a:t>Specificita 49 / 34 / 25 %</a:t>
            </a:r>
            <a:endParaRPr lang="en-US" sz="900" dirty="0"/>
          </a:p>
          <a:p>
            <a:pPr marL="127000" indent="-127000">
              <a:spcAft>
                <a:spcPts val="300"/>
              </a:spcAft>
              <a:buSzPct val="100000"/>
              <a:buChar char="•"/>
            </a:pPr>
            <a:r>
              <a:rPr lang="en-US" sz="900" dirty="0">
                <a:solidFill>
                  <a:srgbClr val="1B2A41"/>
                </a:solidFill>
              </a:rPr>
              <a:t>NPV 46 / 75 / 90 %</a:t>
            </a:r>
            <a:endParaRPr lang="en-US" sz="900" dirty="0"/>
          </a:p>
          <a:p>
            <a:pPr marL="127000" indent="-127000">
              <a:spcAft>
                <a:spcPts val="300"/>
              </a:spcAft>
              <a:buSzPct val="100000"/>
              <a:buChar char="•"/>
            </a:pPr>
            <a:r>
              <a:rPr lang="en-US" sz="900" dirty="0">
                <a:solidFill>
                  <a:srgbClr val="1B2A41"/>
                </a:solidFill>
              </a:rPr>
              <a:t>Obecná populace (SHHS): PPV 16 % pro RDI ≥ 15</a:t>
            </a:r>
            <a:endParaRPr lang="en-US" sz="900" dirty="0"/>
          </a:p>
          <a:p>
            <a:pPr marL="127000" indent="-127000">
              <a:spcAft>
                <a:spcPts val="300"/>
              </a:spcAft>
              <a:buSzPct val="100000"/>
              <a:buChar char="•"/>
            </a:pPr>
            <a:r>
              <a:rPr lang="en-US" sz="900" dirty="0">
                <a:solidFill>
                  <a:srgbClr val="1B2A41"/>
                </a:solidFill>
              </a:rPr>
              <a:t>P(těžká OSA): skóre 3 → 25 %, 5 → 45 %, 7–8 → 75 %</a:t>
            </a:r>
            <a:endParaRPr lang="en-US" sz="900" dirty="0"/>
          </a:p>
        </p:txBody>
      </p:sp>
      <p:sp>
        <p:nvSpPr>
          <p:cNvPr id="33" name="citace"/>
          <p:cNvSpPr txBox="1"/>
          <p:nvPr/>
        </p:nvSpPr>
        <p:spPr>
          <a:xfrm>
            <a:off x="457200" y="6035040"/>
            <a:ext cx="11247120" cy="384048"/>
          </a:xfrm>
          <a:prstGeom prst="rect">
            <a:avLst/>
          </a:prstGeom>
          <a:noFill/>
          <a:ln/>
        </p:spPr>
        <p:txBody>
          <a:bodyPr wrap="square" lIns="0" tIns="0" rIns="0" bIns="0" rtlCol="0" anchor="b"/>
          <a:lstStyle/>
          <a:p>
            <a:pPr algn="l" indent="0" marL="0">
              <a:buNone/>
            </a:pPr>
            <a:r>
              <a:rPr lang="en-US" sz="950" i="1" dirty="0">
                <a:solidFill>
                  <a:srgbClr val="8D99AE"/>
                </a:solidFill>
              </a:rPr>
              <a:t>Chung, Anesthesiology 2008 · Chung, Chest 2016 · Nagappa, PLoS One 2015 · Kapur, J Clin Sleep Med 2017 (AASM) · Patil, J Clin Sleep Med 2019 (AASM)</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Vlastní data – Centrum preventivní medicíny (doplníme)</a:t>
            </a:r>
            <a:endParaRPr lang="en-US" sz="2500" dirty="0"/>
          </a:p>
        </p:txBody>
      </p:sp>
      <p:sp>
        <p:nvSpPr>
          <p:cNvPr id="3" name="tag-placeholder A"/>
          <p:cNvSpPr/>
          <p:nvPr/>
        </p:nvSpPr>
        <p:spPr>
          <a:xfrm>
            <a:off x="10094976" y="384048"/>
            <a:ext cx="1655064" cy="310896"/>
          </a:xfrm>
          <a:prstGeom prst="roundRect">
            <a:avLst>
              <a:gd name="adj" fmla="val 23529"/>
            </a:avLst>
          </a:prstGeom>
          <a:solidFill>
            <a:srgbClr val="8D99AE"/>
          </a:solidFill>
          <a:ln w="12700">
            <a:solidFill>
              <a:srgbClr val="8D99AE"/>
            </a:solidFill>
            <a:prstDash val="solid"/>
          </a:ln>
        </p:spPr>
      </p:sp>
      <p:sp>
        <p:nvSpPr>
          <p:cNvPr id="4" name="tag-text-placeholder A"/>
          <p:cNvSpPr txBox="1"/>
          <p:nvPr/>
        </p:nvSpPr>
        <p:spPr>
          <a:xfrm>
            <a:off x="10094976" y="384048"/>
            <a:ext cx="1655064" cy="310896"/>
          </a:xfrm>
          <a:prstGeom prst="rect">
            <a:avLst/>
          </a:prstGeom>
          <a:noFill/>
          <a:ln/>
        </p:spPr>
        <p:txBody>
          <a:bodyPr wrap="square" lIns="0" tIns="0" rIns="0" bIns="0" rtlCol="0" anchor="ctr"/>
          <a:lstStyle/>
          <a:p>
            <a:pPr algn="ctr" indent="0" marL="0">
              <a:buNone/>
            </a:pPr>
            <a:r>
              <a:rPr lang="en-US" sz="1000" b="1" dirty="0">
                <a:solidFill>
                  <a:srgbClr val="FFFFFF"/>
                </a:solidFill>
              </a:rPr>
              <a:t>placeholder A</a:t>
            </a:r>
            <a:endParaRPr lang="en-US" sz="1000" dirty="0"/>
          </a:p>
        </p:txBody>
      </p:sp>
      <p:sp>
        <p:nvSpPr>
          <p:cNvPr id="5" name="plocha-A"/>
          <p:cNvSpPr/>
          <p:nvPr/>
        </p:nvSpPr>
        <p:spPr>
          <a:xfrm>
            <a:off x="457200" y="1371600"/>
            <a:ext cx="11292840" cy="4572000"/>
          </a:xfrm>
          <a:prstGeom prst="rect">
            <a:avLst/>
          </a:prstGeom>
          <a:solidFill>
            <a:srgbClr val="FFFFFF"/>
          </a:solidFill>
          <a:ln w="12700">
            <a:solidFill>
              <a:srgbClr val="8D99AE"/>
            </a:solidFill>
            <a:prstDash val="dash"/>
          </a:ln>
        </p:spPr>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Vlastní data – Centrum preventivní medicíny (doplníme)</a:t>
            </a:r>
            <a:endParaRPr lang="en-US" sz="2500" dirty="0"/>
          </a:p>
        </p:txBody>
      </p:sp>
      <p:sp>
        <p:nvSpPr>
          <p:cNvPr id="3" name="tag-placeholder B"/>
          <p:cNvSpPr/>
          <p:nvPr/>
        </p:nvSpPr>
        <p:spPr>
          <a:xfrm>
            <a:off x="10094976" y="384048"/>
            <a:ext cx="1655064" cy="310896"/>
          </a:xfrm>
          <a:prstGeom prst="roundRect">
            <a:avLst>
              <a:gd name="adj" fmla="val 23529"/>
            </a:avLst>
          </a:prstGeom>
          <a:solidFill>
            <a:srgbClr val="8D99AE"/>
          </a:solidFill>
          <a:ln w="12700">
            <a:solidFill>
              <a:srgbClr val="8D99AE"/>
            </a:solidFill>
            <a:prstDash val="solid"/>
          </a:ln>
        </p:spPr>
      </p:sp>
      <p:sp>
        <p:nvSpPr>
          <p:cNvPr id="4" name="tag-text-placeholder B"/>
          <p:cNvSpPr txBox="1"/>
          <p:nvPr/>
        </p:nvSpPr>
        <p:spPr>
          <a:xfrm>
            <a:off x="10094976" y="384048"/>
            <a:ext cx="1655064" cy="310896"/>
          </a:xfrm>
          <a:prstGeom prst="rect">
            <a:avLst/>
          </a:prstGeom>
          <a:noFill/>
          <a:ln/>
        </p:spPr>
        <p:txBody>
          <a:bodyPr wrap="square" lIns="0" tIns="0" rIns="0" bIns="0" rtlCol="0" anchor="ctr"/>
          <a:lstStyle/>
          <a:p>
            <a:pPr algn="ctr" indent="0" marL="0">
              <a:buNone/>
            </a:pPr>
            <a:r>
              <a:rPr lang="en-US" sz="1000" b="1" dirty="0">
                <a:solidFill>
                  <a:srgbClr val="FFFFFF"/>
                </a:solidFill>
              </a:rPr>
              <a:t>placeholder B</a:t>
            </a:r>
            <a:endParaRPr lang="en-US" sz="1000" dirty="0"/>
          </a:p>
        </p:txBody>
      </p:sp>
      <p:sp>
        <p:nvSpPr>
          <p:cNvPr id="5" name="plocha-B"/>
          <p:cNvSpPr/>
          <p:nvPr/>
        </p:nvSpPr>
        <p:spPr>
          <a:xfrm>
            <a:off x="457200" y="1371600"/>
            <a:ext cx="11292840" cy="4572000"/>
          </a:xfrm>
          <a:prstGeom prst="rect">
            <a:avLst/>
          </a:prstGeom>
          <a:solidFill>
            <a:srgbClr val="FFFFFF"/>
          </a:solidFill>
          <a:ln w="12700">
            <a:solidFill>
              <a:srgbClr val="8D99AE"/>
            </a:solidFill>
            <a:prstDash val="dash"/>
          </a:ln>
        </p:spPr>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FFFFFF"/>
                </a:solidFill>
              </a:rPr>
              <a:t>Take-home messages a otevřené otázky</a:t>
            </a:r>
            <a:endParaRPr lang="en-US" sz="2500" dirty="0"/>
          </a:p>
        </p:txBody>
      </p:sp>
      <p:sp>
        <p:nvSpPr>
          <p:cNvPr id="3" name="tag-syntéza"/>
          <p:cNvSpPr/>
          <p:nvPr/>
        </p:nvSpPr>
        <p:spPr>
          <a:xfrm>
            <a:off x="10753344" y="384048"/>
            <a:ext cx="996696" cy="310896"/>
          </a:xfrm>
          <a:prstGeom prst="roundRect">
            <a:avLst>
              <a:gd name="adj" fmla="val 23529"/>
            </a:avLst>
          </a:prstGeom>
          <a:solidFill>
            <a:srgbClr val="264653"/>
          </a:solidFill>
          <a:ln w="12700">
            <a:solidFill>
              <a:srgbClr val="264653"/>
            </a:solidFill>
            <a:prstDash val="solid"/>
          </a:ln>
        </p:spPr>
      </p:sp>
      <p:sp>
        <p:nvSpPr>
          <p:cNvPr id="4" name="tag-text-syntéza"/>
          <p:cNvSpPr txBox="1"/>
          <p:nvPr/>
        </p:nvSpPr>
        <p:spPr>
          <a:xfrm>
            <a:off x="10753344" y="384048"/>
            <a:ext cx="996696" cy="310896"/>
          </a:xfrm>
          <a:prstGeom prst="rect">
            <a:avLst/>
          </a:prstGeom>
          <a:noFill/>
          <a:ln/>
        </p:spPr>
        <p:txBody>
          <a:bodyPr wrap="square" lIns="0" tIns="0" rIns="0" bIns="0" rtlCol="0" anchor="ctr"/>
          <a:lstStyle/>
          <a:p>
            <a:pPr algn="ctr" indent="0" marL="0">
              <a:buNone/>
            </a:pPr>
            <a:r>
              <a:rPr lang="en-US" sz="1000" b="1" dirty="0">
                <a:solidFill>
                  <a:srgbClr val="FFFFFF"/>
                </a:solidFill>
              </a:rPr>
              <a:t>syntéza</a:t>
            </a:r>
            <a:endParaRPr lang="en-US" sz="1000" dirty="0"/>
          </a:p>
        </p:txBody>
      </p:sp>
      <p:sp>
        <p:nvSpPr>
          <p:cNvPr id="5" name="th-dot-0"/>
          <p:cNvSpPr/>
          <p:nvPr/>
        </p:nvSpPr>
        <p:spPr>
          <a:xfrm>
            <a:off x="457200" y="1399032"/>
            <a:ext cx="457200" cy="457200"/>
          </a:xfrm>
          <a:prstGeom prst="ellipse">
            <a:avLst/>
          </a:prstGeom>
          <a:solidFill>
            <a:srgbClr val="C8553D"/>
          </a:solidFill>
          <a:ln w="12700">
            <a:solidFill>
              <a:srgbClr val="C8553D"/>
            </a:solidFill>
            <a:prstDash val="solid"/>
          </a:ln>
        </p:spPr>
      </p:sp>
      <p:sp>
        <p:nvSpPr>
          <p:cNvPr id="6" name="th-n-0"/>
          <p:cNvSpPr txBox="1"/>
          <p:nvPr/>
        </p:nvSpPr>
        <p:spPr>
          <a:xfrm>
            <a:off x="457200" y="13990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h-t-0"/>
          <p:cNvSpPr txBox="1"/>
          <p:nvPr/>
        </p:nvSpPr>
        <p:spPr>
          <a:xfrm>
            <a:off x="1097280" y="1325880"/>
            <a:ext cx="6949440" cy="749808"/>
          </a:xfrm>
          <a:prstGeom prst="rect">
            <a:avLst/>
          </a:prstGeom>
          <a:noFill/>
          <a:ln/>
        </p:spPr>
        <p:txBody>
          <a:bodyPr wrap="square" lIns="0" tIns="0" rIns="0" bIns="0" rtlCol="0" anchor="ctr"/>
          <a:lstStyle/>
          <a:p>
            <a:pPr indent="0" marL="0">
              <a:buNone/>
            </a:pPr>
            <a:r>
              <a:rPr lang="en-US" sz="1300" dirty="0">
                <a:solidFill>
                  <a:srgbClr val="FFFFFF"/>
                </a:solidFill>
              </a:rPr>
              <a:t>OSA je u kardiologických a metabolických pacientů pravidlem, ne výjimkou – a většina o ní neví.</a:t>
            </a:r>
            <a:endParaRPr lang="en-US" sz="1300" dirty="0"/>
          </a:p>
          <a:p>
            <a:pPr indent="0" marL="0">
              <a:buNone/>
            </a:pPr>
            <a:r>
              <a:rPr lang="en-US" sz="950" i="1" dirty="0">
                <a:solidFill>
                  <a:srgbClr val="8D99AE"/>
                </a:solidFill>
              </a:rPr>
              <a:t>AHA 2021; Young 1997</a:t>
            </a:r>
            <a:endParaRPr lang="en-US" sz="1300" dirty="0"/>
          </a:p>
        </p:txBody>
      </p:sp>
      <p:sp>
        <p:nvSpPr>
          <p:cNvPr id="8" name="th-dot-1"/>
          <p:cNvSpPr/>
          <p:nvPr/>
        </p:nvSpPr>
        <p:spPr>
          <a:xfrm>
            <a:off x="457200" y="2185416"/>
            <a:ext cx="457200" cy="457200"/>
          </a:xfrm>
          <a:prstGeom prst="ellipse">
            <a:avLst/>
          </a:prstGeom>
          <a:solidFill>
            <a:srgbClr val="C8553D"/>
          </a:solidFill>
          <a:ln w="12700">
            <a:solidFill>
              <a:srgbClr val="C8553D"/>
            </a:solidFill>
            <a:prstDash val="solid"/>
          </a:ln>
        </p:spPr>
      </p:sp>
      <p:sp>
        <p:nvSpPr>
          <p:cNvPr id="9" name="th-n-1"/>
          <p:cNvSpPr txBox="1"/>
          <p:nvPr/>
        </p:nvSpPr>
        <p:spPr>
          <a:xfrm>
            <a:off x="457200" y="21854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h-t-1"/>
          <p:cNvSpPr txBox="1"/>
          <p:nvPr/>
        </p:nvSpPr>
        <p:spPr>
          <a:xfrm>
            <a:off x="1097280" y="2112264"/>
            <a:ext cx="6949440" cy="749808"/>
          </a:xfrm>
          <a:prstGeom prst="rect">
            <a:avLst/>
          </a:prstGeom>
          <a:noFill/>
          <a:ln/>
        </p:spPr>
        <p:txBody>
          <a:bodyPr wrap="square" lIns="0" tIns="0" rIns="0" bIns="0" rtlCol="0" anchor="ctr"/>
          <a:lstStyle/>
          <a:p>
            <a:pPr indent="0" marL="0">
              <a:buNone/>
            </a:pPr>
            <a:r>
              <a:rPr lang="en-US" sz="1300" dirty="0">
                <a:solidFill>
                  <a:srgbClr val="FFFFFF"/>
                </a:solidFill>
              </a:rPr>
              <a:t>Asociace OSA → IR/DM2 je konzistentní a dávkově závislá a přetrvává po adjustaci na BMI i pas; kauzalita u lidí není dokázána, obezita zůstává hlavním confounderem.</a:t>
            </a:r>
            <a:endParaRPr lang="en-US" sz="1300" dirty="0"/>
          </a:p>
          <a:p>
            <a:pPr indent="0" marL="0">
              <a:buNone/>
            </a:pPr>
            <a:r>
              <a:rPr lang="en-US" sz="950" i="1" dirty="0">
                <a:solidFill>
                  <a:srgbClr val="8D99AE"/>
                </a:solidFill>
              </a:rPr>
              <a:t>Nagayoshi 2016; Priou 2012; Resnick 2003; Ding 2023</a:t>
            </a:r>
            <a:endParaRPr lang="en-US" sz="1300" dirty="0"/>
          </a:p>
        </p:txBody>
      </p:sp>
      <p:sp>
        <p:nvSpPr>
          <p:cNvPr id="11" name="th-dot-2"/>
          <p:cNvSpPr/>
          <p:nvPr/>
        </p:nvSpPr>
        <p:spPr>
          <a:xfrm>
            <a:off x="457200" y="2971800"/>
            <a:ext cx="457200" cy="457200"/>
          </a:xfrm>
          <a:prstGeom prst="ellipse">
            <a:avLst/>
          </a:prstGeom>
          <a:solidFill>
            <a:srgbClr val="2A9D8F"/>
          </a:solidFill>
          <a:ln w="12700">
            <a:solidFill>
              <a:srgbClr val="2A9D8F"/>
            </a:solidFill>
            <a:prstDash val="solid"/>
          </a:ln>
        </p:spPr>
      </p:sp>
      <p:sp>
        <p:nvSpPr>
          <p:cNvPr id="12" name="th-n-2"/>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h-t-2"/>
          <p:cNvSpPr txBox="1"/>
          <p:nvPr/>
        </p:nvSpPr>
        <p:spPr>
          <a:xfrm>
            <a:off x="1097280" y="2898648"/>
            <a:ext cx="6949440" cy="749808"/>
          </a:xfrm>
          <a:prstGeom prst="rect">
            <a:avLst/>
          </a:prstGeom>
          <a:noFill/>
          <a:ln/>
        </p:spPr>
        <p:txBody>
          <a:bodyPr wrap="square" lIns="0" tIns="0" rIns="0" bIns="0" rtlCol="0" anchor="ctr"/>
          <a:lstStyle/>
          <a:p>
            <a:pPr indent="0" marL="0">
              <a:buNone/>
            </a:pPr>
            <a:r>
              <a:rPr lang="en-US" sz="1300" dirty="0">
                <a:solidFill>
                  <a:srgbClr val="FFFFFF"/>
                </a:solidFill>
              </a:rPr>
              <a:t>CPAP zlepšuje spavost a TK, mírně HOMA-IR u nediabetiků; HbA1c a tvrdé KV outcomy v ITT nemění – efekt zřejmě vyžaduje dávku vysoko nad 4 h/noc.</a:t>
            </a:r>
            <a:endParaRPr lang="en-US" sz="1300" dirty="0"/>
          </a:p>
          <a:p>
            <a:pPr indent="0" marL="0">
              <a:buNone/>
            </a:pPr>
            <a:r>
              <a:rPr lang="en-US" sz="950" i="1" dirty="0">
                <a:solidFill>
                  <a:srgbClr val="8D99AE"/>
                </a:solidFill>
              </a:rPr>
              <a:t>Wu 2026; Sánchez-de-la-Torre 2023; Herth 2023</a:t>
            </a:r>
            <a:endParaRPr lang="en-US" sz="1300" dirty="0"/>
          </a:p>
        </p:txBody>
      </p:sp>
      <p:sp>
        <p:nvSpPr>
          <p:cNvPr id="14" name="th-dot-3"/>
          <p:cNvSpPr/>
          <p:nvPr/>
        </p:nvSpPr>
        <p:spPr>
          <a:xfrm>
            <a:off x="457200" y="3758184"/>
            <a:ext cx="457200" cy="457200"/>
          </a:xfrm>
          <a:prstGeom prst="ellipse">
            <a:avLst/>
          </a:prstGeom>
          <a:solidFill>
            <a:srgbClr val="2A9D8F"/>
          </a:solidFill>
          <a:ln w="12700">
            <a:solidFill>
              <a:srgbClr val="2A9D8F"/>
            </a:solidFill>
            <a:prstDash val="solid"/>
          </a:ln>
        </p:spPr>
      </p:sp>
      <p:sp>
        <p:nvSpPr>
          <p:cNvPr id="15" name="th-n-3"/>
          <p:cNvSpPr txBox="1"/>
          <p:nvPr/>
        </p:nvSpPr>
        <p:spPr>
          <a:xfrm>
            <a:off x="457200" y="37581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th-t-3"/>
          <p:cNvSpPr txBox="1"/>
          <p:nvPr/>
        </p:nvSpPr>
        <p:spPr>
          <a:xfrm>
            <a:off x="1097280" y="3685032"/>
            <a:ext cx="6949440" cy="749808"/>
          </a:xfrm>
          <a:prstGeom prst="rect">
            <a:avLst/>
          </a:prstGeom>
          <a:noFill/>
          <a:ln/>
        </p:spPr>
        <p:txBody>
          <a:bodyPr wrap="square" lIns="0" tIns="0" rIns="0" bIns="0" rtlCol="0" anchor="ctr"/>
          <a:lstStyle/>
          <a:p>
            <a:pPr indent="0" marL="0">
              <a:buNone/>
            </a:pPr>
            <a:r>
              <a:rPr lang="en-US" sz="1300" dirty="0">
                <a:solidFill>
                  <a:srgbClr val="FFFFFF"/>
                </a:solidFill>
              </a:rPr>
              <a:t>Redukce hmotnosti včetně inkretinů je metabolicky silnější než CPAP; u OSA populace ale bez tvrdých KV outcomes a bez přímého srovnání s CPAP.</a:t>
            </a:r>
            <a:endParaRPr lang="en-US" sz="1300" dirty="0"/>
          </a:p>
          <a:p>
            <a:pPr indent="0" marL="0">
              <a:buNone/>
            </a:pPr>
            <a:r>
              <a:rPr lang="en-US" sz="950" i="1" dirty="0">
                <a:solidFill>
                  <a:srgbClr val="8D99AE"/>
                </a:solidFill>
              </a:rPr>
              <a:t>Chirinos 2014; Malhotra 2024/2026</a:t>
            </a:r>
            <a:endParaRPr lang="en-US" sz="1300" dirty="0"/>
          </a:p>
        </p:txBody>
      </p:sp>
      <p:sp>
        <p:nvSpPr>
          <p:cNvPr id="17" name="th-dot-4"/>
          <p:cNvSpPr/>
          <p:nvPr/>
        </p:nvSpPr>
        <p:spPr>
          <a:xfrm>
            <a:off x="457200" y="4544568"/>
            <a:ext cx="457200" cy="457200"/>
          </a:xfrm>
          <a:prstGeom prst="ellipse">
            <a:avLst/>
          </a:prstGeom>
          <a:solidFill>
            <a:srgbClr val="C8553D"/>
          </a:solidFill>
          <a:ln w="12700">
            <a:solidFill>
              <a:srgbClr val="C8553D"/>
            </a:solidFill>
            <a:prstDash val="solid"/>
          </a:ln>
        </p:spPr>
      </p:sp>
      <p:sp>
        <p:nvSpPr>
          <p:cNvPr id="18" name="th-n-4"/>
          <p:cNvSpPr txBox="1"/>
          <p:nvPr/>
        </p:nvSpPr>
        <p:spPr>
          <a:xfrm>
            <a:off x="457200" y="4544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th-t-4"/>
          <p:cNvSpPr txBox="1"/>
          <p:nvPr/>
        </p:nvSpPr>
        <p:spPr>
          <a:xfrm>
            <a:off x="1097280" y="4471416"/>
            <a:ext cx="6949440" cy="749808"/>
          </a:xfrm>
          <a:prstGeom prst="rect">
            <a:avLst/>
          </a:prstGeom>
          <a:noFill/>
          <a:ln/>
        </p:spPr>
        <p:txBody>
          <a:bodyPr wrap="square" lIns="0" tIns="0" rIns="0" bIns="0" rtlCol="0" anchor="ctr"/>
          <a:lstStyle/>
          <a:p>
            <a:pPr indent="0" marL="0">
              <a:buNone/>
            </a:pPr>
            <a:r>
              <a:rPr lang="en-US" sz="1300" dirty="0">
                <a:solidFill>
                  <a:srgbClr val="FFFFFF"/>
                </a:solidFill>
              </a:rPr>
              <a:t>Screenovat cíleně, dotazníkem vylučovat, testem potvrzovat; u srdečního selhání rovnou PSG; nespoléhat na spavost.</a:t>
            </a:r>
            <a:endParaRPr lang="en-US" sz="1300" dirty="0"/>
          </a:p>
          <a:p>
            <a:pPr indent="0" marL="0">
              <a:buNone/>
            </a:pPr>
            <a:r>
              <a:rPr lang="en-US" sz="950" i="1" dirty="0">
                <a:solidFill>
                  <a:srgbClr val="8D99AE"/>
                </a:solidFill>
              </a:rPr>
              <a:t>Nagappa 2015; Kapur 2017; Foster 2009</a:t>
            </a:r>
            <a:endParaRPr lang="en-US" sz="1300" dirty="0"/>
          </a:p>
        </p:txBody>
      </p:sp>
      <p:sp>
        <p:nvSpPr>
          <p:cNvPr id="20" name="box-Otevřené otázky / gap v evidenci"/>
          <p:cNvSpPr/>
          <p:nvPr/>
        </p:nvSpPr>
        <p:spPr>
          <a:xfrm>
            <a:off x="8321040" y="1325880"/>
            <a:ext cx="3429000" cy="3931920"/>
          </a:xfrm>
          <a:prstGeom prst="roundRect">
            <a:avLst>
              <a:gd name="adj" fmla="val 2667"/>
            </a:avLst>
          </a:prstGeom>
          <a:solidFill>
            <a:srgbClr val="3D5A80"/>
          </a:solidFill>
          <a:ln w="12700">
            <a:solidFill>
              <a:srgbClr val="3D5A80"/>
            </a:solidFill>
            <a:prstDash val="solid"/>
          </a:ln>
        </p:spPr>
      </p:sp>
      <p:sp>
        <p:nvSpPr>
          <p:cNvPr id="21" name="box-title-Otevřené otázky / gap v evidenci"/>
          <p:cNvSpPr txBox="1"/>
          <p:nvPr/>
        </p:nvSpPr>
        <p:spPr>
          <a:xfrm>
            <a:off x="8458200" y="1417320"/>
            <a:ext cx="3154680" cy="329184"/>
          </a:xfrm>
          <a:prstGeom prst="rect">
            <a:avLst/>
          </a:prstGeom>
          <a:noFill/>
          <a:ln/>
        </p:spPr>
        <p:txBody>
          <a:bodyPr wrap="square" lIns="0" tIns="0" rIns="0" bIns="0" rtlCol="0" anchor="t"/>
          <a:lstStyle/>
          <a:p>
            <a:pPr indent="0" marL="0">
              <a:buNone/>
            </a:pPr>
            <a:r>
              <a:rPr lang="en-US" sz="1250" b="1" dirty="0">
                <a:solidFill>
                  <a:srgbClr val="FFFFFF"/>
                </a:solidFill>
              </a:rPr>
              <a:t>Otevřené otázky / gap v evidenci</a:t>
            </a:r>
            <a:endParaRPr lang="en-US" sz="1250" dirty="0"/>
          </a:p>
        </p:txBody>
      </p:sp>
      <p:sp>
        <p:nvSpPr>
          <p:cNvPr id="22" name="box-body-Otevřené otázky / gap v evidenci"/>
          <p:cNvSpPr txBox="1"/>
          <p:nvPr/>
        </p:nvSpPr>
        <p:spPr>
          <a:xfrm>
            <a:off x="8458200" y="1764792"/>
            <a:ext cx="3154680" cy="3401568"/>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FFFFFF"/>
                </a:solidFill>
              </a:rPr>
              <a:t>Které fenotypy OSA (spaví, vysoký hypoxic burden) profitují z léčby na KV outcomy? – RCT u spavých eticky obtížné</a:t>
            </a:r>
            <a:endParaRPr lang="en-US" sz="1000" dirty="0"/>
          </a:p>
          <a:p>
            <a:pPr marL="127000" indent="-127000">
              <a:spcAft>
                <a:spcPts val="300"/>
              </a:spcAft>
              <a:buSzPct val="100000"/>
              <a:buChar char="•"/>
            </a:pPr>
            <a:r>
              <a:rPr lang="en-US" sz="1000" dirty="0">
                <a:solidFill>
                  <a:srgbClr val="FFFFFF"/>
                </a:solidFill>
              </a:rPr>
              <a:t>Je hypoxic burden lepší cíl a kritérium zařazení než AHI? – pro DM2 jediná prospektivní studie</a:t>
            </a:r>
            <a:endParaRPr lang="en-US" sz="1000" dirty="0"/>
          </a:p>
          <a:p>
            <a:pPr marL="127000" indent="-127000">
              <a:spcAft>
                <a:spcPts val="300"/>
              </a:spcAft>
              <a:buSzPct val="100000"/>
              <a:buChar char="•"/>
            </a:pPr>
            <a:r>
              <a:rPr lang="en-US" sz="1000" dirty="0">
                <a:solidFill>
                  <a:srgbClr val="FFFFFF"/>
                </a:solidFill>
              </a:rPr>
              <a:t>Jaká je prahová dávka CPAP pro metabolický efekt (≥ 7 h?) – pouze meta-regrese a malé in-lab studie</a:t>
            </a:r>
            <a:endParaRPr lang="en-US" sz="1000" dirty="0"/>
          </a:p>
          <a:p>
            <a:pPr marL="127000" indent="-127000">
              <a:spcAft>
                <a:spcPts val="300"/>
              </a:spcAft>
              <a:buSzPct val="100000"/>
              <a:buChar char="•"/>
            </a:pPr>
            <a:r>
              <a:rPr lang="en-US" sz="1000" dirty="0">
                <a:solidFill>
                  <a:srgbClr val="FFFFFF"/>
                </a:solidFill>
              </a:rPr>
              <a:t>Inkretiny vs. CPAP head-to-head; tvrdé KV outcomy inkretinů u OSA</a:t>
            </a:r>
            <a:endParaRPr lang="en-US" sz="1000" dirty="0"/>
          </a:p>
          <a:p>
            <a:pPr marL="127000" indent="-127000">
              <a:spcAft>
                <a:spcPts val="300"/>
              </a:spcAft>
              <a:buSzPct val="100000"/>
              <a:buChar char="•"/>
            </a:pPr>
            <a:r>
              <a:rPr lang="en-US" sz="1000" dirty="0">
                <a:solidFill>
                  <a:srgbClr val="FFFFFF"/>
                </a:solidFill>
              </a:rPr>
              <a:t>Třídy doporučení ESC/ADA k OSA – doplnit z plných textů</a:t>
            </a:r>
            <a:endParaRPr lang="en-US" sz="1000" dirty="0"/>
          </a:p>
        </p:txBody>
      </p:sp>
      <p:sp>
        <p:nvSpPr>
          <p:cNvPr id="23" name="diky"/>
          <p:cNvSpPr txBox="1"/>
          <p:nvPr/>
        </p:nvSpPr>
        <p:spPr>
          <a:xfrm>
            <a:off x="457200" y="5394960"/>
            <a:ext cx="7589520" cy="457200"/>
          </a:xfrm>
          <a:prstGeom prst="rect">
            <a:avLst/>
          </a:prstGeom>
          <a:noFill/>
          <a:ln/>
        </p:spPr>
        <p:txBody>
          <a:bodyPr wrap="square" lIns="0" tIns="0" rIns="0" bIns="0" rtlCol="0" anchor="ctr"/>
          <a:lstStyle/>
          <a:p>
            <a:pPr indent="0" marL="0">
              <a:buNone/>
            </a:pPr>
            <a:r>
              <a:rPr lang="en-US" sz="1600" i="1" dirty="0">
                <a:solidFill>
                  <a:srgbClr val="E9C46A"/>
                </a:solidFill>
              </a:rPr>
              <a:t>Děkuji za pozornost.</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Literatura (1/7) – Vancouver, PMID / DOI</a:t>
            </a:r>
            <a:endParaRPr lang="en-US" sz="2500" dirty="0"/>
          </a:p>
        </p:txBody>
      </p:sp>
      <p:sp>
        <p:nvSpPr>
          <p:cNvPr id="3" name="tag-rešerše PubMed 25. 10. 2026"/>
          <p:cNvSpPr/>
          <p:nvPr/>
        </p:nvSpPr>
        <p:spPr>
          <a:xfrm>
            <a:off x="8558784" y="384048"/>
            <a:ext cx="3191256" cy="310896"/>
          </a:xfrm>
          <a:prstGeom prst="roundRect">
            <a:avLst>
              <a:gd name="adj" fmla="val 23529"/>
            </a:avLst>
          </a:prstGeom>
          <a:solidFill>
            <a:srgbClr val="8D99AE"/>
          </a:solidFill>
          <a:ln w="12700">
            <a:solidFill>
              <a:srgbClr val="8D99AE"/>
            </a:solidFill>
            <a:prstDash val="solid"/>
          </a:ln>
        </p:spPr>
      </p:sp>
      <p:sp>
        <p:nvSpPr>
          <p:cNvPr id="4" name="tag-text-rešerše PubMed 25. 10. 2026"/>
          <p:cNvSpPr txBox="1"/>
          <p:nvPr/>
        </p:nvSpPr>
        <p:spPr>
          <a:xfrm>
            <a:off x="8558784" y="384048"/>
            <a:ext cx="3191256" cy="310896"/>
          </a:xfrm>
          <a:prstGeom prst="rect">
            <a:avLst/>
          </a:prstGeom>
          <a:noFill/>
          <a:ln/>
        </p:spPr>
        <p:txBody>
          <a:bodyPr wrap="square" lIns="0" tIns="0" rIns="0" bIns="0" rtlCol="0" anchor="ctr"/>
          <a:lstStyle/>
          <a:p>
            <a:pPr algn="ctr" indent="0" marL="0">
              <a:buNone/>
            </a:pPr>
            <a:r>
              <a:rPr lang="en-US" sz="1000" b="1" dirty="0">
                <a:solidFill>
                  <a:srgbClr val="FFFFFF"/>
                </a:solidFill>
              </a:rPr>
              <a:t>rešerše PubMed 25. 10. 2026</a:t>
            </a:r>
            <a:endParaRPr lang="en-US" sz="1000" dirty="0"/>
          </a:p>
        </p:txBody>
      </p:sp>
      <p:sp>
        <p:nvSpPr>
          <p:cNvPr id="5" name="refs-0-0"/>
          <p:cNvSpPr txBox="1"/>
          <p:nvPr/>
        </p:nvSpPr>
        <p:spPr>
          <a:xfrm>
            <a:off x="457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1. Benjafield AV, Ayas NT, Eastwood PR, Heinzer R, Ip MSM, Morrell MJ, et al. Estimation of the global prevalence and burden of obstructive sleep apnoea: a literature-based analysis. Lancet Respir Med. 2019;7(8):687-698. PMID: 31300334. doi: 10.1016/S2213-2600(19)30198-5</a:t>
            </a:r>
            <a:endParaRPr lang="en-US" sz="900" dirty="0"/>
          </a:p>
          <a:p>
            <a:pPr indent="0" marL="0">
              <a:spcAft>
                <a:spcPts val="300"/>
              </a:spcAft>
              <a:buNone/>
            </a:pPr>
            <a:r>
              <a:rPr lang="en-US" sz="900" dirty="0">
                <a:solidFill>
                  <a:srgbClr val="1B2A41"/>
                </a:solidFill>
              </a:rPr>
              <a:t>2. Peppard PE, Young T, Barnet JH, Palta M, Hagen EW, Hla KM. Increased prevalence of sleep-disordered breathing in adults. Am J Epidemiol. 2013;177(9):1006-14. PMID: 23589584. doi: 10.1093/aje/kws342</a:t>
            </a:r>
            <a:endParaRPr lang="en-US" sz="900" dirty="0"/>
          </a:p>
          <a:p>
            <a:pPr indent="0" marL="0">
              <a:spcAft>
                <a:spcPts val="300"/>
              </a:spcAft>
              <a:buNone/>
            </a:pPr>
            <a:r>
              <a:rPr lang="en-US" sz="900" dirty="0">
                <a:solidFill>
                  <a:srgbClr val="1B2A41"/>
                </a:solidFill>
              </a:rPr>
              <a:t>3. Young T, Evans L, Finn L, Palta M. Estimation of the clinically diagnosed proportion of sleep apnea syndrome in middle-aged men and women. Sleep. 1997;20(9):705-6. PMID: 9406321. doi: 10.1093/sleep/20.9.705</a:t>
            </a:r>
            <a:endParaRPr lang="en-US" sz="900" dirty="0"/>
          </a:p>
          <a:p>
            <a:pPr indent="0" marL="0">
              <a:spcAft>
                <a:spcPts val="300"/>
              </a:spcAft>
              <a:buNone/>
            </a:pPr>
            <a:r>
              <a:rPr lang="en-US" sz="900" dirty="0">
                <a:solidFill>
                  <a:srgbClr val="1B2A41"/>
                </a:solidFill>
              </a:rPr>
              <a:t>4. Yeghiazarians Y, Jneid H, Tietjens JR, Redline S, Brown DL, El-Sherif N, et al. Obstructive Sleep Apnea and Cardiovascular Disease: A Scientific Statement From the American Heart Association. Circulation. 2021;144(3):e56-e67. PMID: 34148375. doi: 10.1161/CIR.0000000000000988</a:t>
            </a:r>
            <a:endParaRPr lang="en-US" sz="900" dirty="0"/>
          </a:p>
          <a:p>
            <a:pPr indent="0" marL="0">
              <a:spcAft>
                <a:spcPts val="300"/>
              </a:spcAft>
              <a:buNone/>
            </a:pPr>
            <a:r>
              <a:rPr lang="en-US" sz="900" dirty="0">
                <a:solidFill>
                  <a:srgbClr val="1B2A41"/>
                </a:solidFill>
              </a:rPr>
              <a:t>5. Pedrosa RP, Drager LF, Gonzaga CC, Sousa MG, de Paula LK, Amaro AC, et al. Obstructive sleep apnea: the most common secondary cause of hypertension associated with resistant hypertension. Hypertension. 2011;58(5):811-7. PMID: 21968750. doi: 10.1161/HYPERTENSIONAHA.111.179788</a:t>
            </a:r>
            <a:endParaRPr lang="en-US" sz="900" dirty="0"/>
          </a:p>
          <a:p>
            <a:pPr indent="0" marL="0">
              <a:spcAft>
                <a:spcPts val="300"/>
              </a:spcAft>
              <a:buNone/>
            </a:pPr>
            <a:r>
              <a:rPr lang="en-US" sz="900" dirty="0">
                <a:solidFill>
                  <a:srgbClr val="1B2A41"/>
                </a:solidFill>
              </a:rPr>
              <a:t>6. Logan AG, Perlikowski SM, Mente A, Tisler A, Tkacova R, Niroumand M, et al. High prevalence of unrecognized sleep apnoea in drug-resistant hypertension. J Hypertens. 2001;19(12):2271-7. PMID: 11725173. doi: 10.1097/00004872-200112000-00022</a:t>
            </a:r>
            <a:endParaRPr lang="en-US" sz="900" dirty="0"/>
          </a:p>
          <a:p>
            <a:pPr indent="0" marL="0">
              <a:spcAft>
                <a:spcPts val="300"/>
              </a:spcAft>
              <a:buNone/>
            </a:pPr>
            <a:r>
              <a:rPr lang="en-US" sz="900" dirty="0">
                <a:solidFill>
                  <a:srgbClr val="1B2A41"/>
                </a:solidFill>
              </a:rPr>
              <a:t>7. Gami AS, Pressman G, Caples SM, Kanagala R, Gard JJ, Davison DE, et al. Association of atrial fibrillation and obstructive sleep apnea. Circulation. 2004;110(4):364-7. PMID: 15249509. doi: 10.1161/01.CIR.0000136587.68725.8E</a:t>
            </a:r>
            <a:endParaRPr lang="en-US" sz="900" dirty="0"/>
          </a:p>
          <a:p>
            <a:pPr indent="0" marL="0">
              <a:spcAft>
                <a:spcPts val="300"/>
              </a:spcAft>
              <a:buNone/>
            </a:pPr>
            <a:r>
              <a:rPr lang="en-US" sz="900" dirty="0">
                <a:solidFill>
                  <a:srgbClr val="1B2A41"/>
                </a:solidFill>
              </a:rPr>
              <a:t>8. Oldenburg O, Lamp B, Faber L, Teschler H, Horstkotte D, Töpfer V. Sleep-disordered breathing in patients with symptomatic heart failure: a contemporary study of prevalence in and characteristics of 700 patients. Eur J Heart Fail. 2006;9(3):251-7. PMID: 17027333. doi: 10.1016/j.ejheart.2006.08.003</a:t>
            </a:r>
            <a:endParaRPr lang="en-US" sz="900" dirty="0"/>
          </a:p>
          <a:p>
            <a:pPr indent="0" marL="0">
              <a:spcAft>
                <a:spcPts val="300"/>
              </a:spcAft>
              <a:buNone/>
            </a:pPr>
            <a:r>
              <a:rPr lang="en-US" sz="900" dirty="0">
                <a:solidFill>
                  <a:srgbClr val="1B2A41"/>
                </a:solidFill>
              </a:rPr>
              <a:t>9. Foster GD, Sanders MH, Millman R, Zammit G, Borradaile KE, Newman AB, et al. Obstructive sleep apnea among obese patients with type 2 diabetes. Diabetes Care. 2009;32(6):1017-9. PMID: 19279303. doi: 10.2337/dc08-1776</a:t>
            </a:r>
            <a:endParaRPr lang="en-US" sz="900" dirty="0"/>
          </a:p>
        </p:txBody>
      </p:sp>
      <p:sp>
        <p:nvSpPr>
          <p:cNvPr id="6" name="refs-0-1"/>
          <p:cNvSpPr txBox="1"/>
          <p:nvPr/>
        </p:nvSpPr>
        <p:spPr>
          <a:xfrm>
            <a:off x="6172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10. Einhorn D, Stewart DA, Erman MK, Gordon N, Philis-Tsimikas A, Casal E. Prevalence of sleep apnea in a population of adults with type 2 diabetes mellitus. Endocr Pract. 2007;13(4):355-62. PMID: 17669711. doi: 10.4158/EP.13.4.355</a:t>
            </a:r>
            <a:endParaRPr lang="en-US" sz="900" dirty="0"/>
          </a:p>
          <a:p>
            <a:pPr indent="0" marL="0">
              <a:spcAft>
                <a:spcPts val="300"/>
              </a:spcAft>
              <a:buNone/>
            </a:pPr>
            <a:r>
              <a:rPr lang="en-US" sz="900" dirty="0">
                <a:solidFill>
                  <a:srgbClr val="1B2A41"/>
                </a:solidFill>
              </a:rPr>
              <a:t>11. Sun P, He M, Su W. Global Prevalence and Risk Factors of Obstructive Sleep Apnea in People With Diabetes: A Systematic Review and Meta-Regression. Can J Diabetes. 2026 [online]. PMID: 42607927. doi: 10.1016/j.jcjd.2026.07.005</a:t>
            </a:r>
            <a:endParaRPr lang="en-US" sz="900" dirty="0"/>
          </a:p>
          <a:p>
            <a:pPr indent="0" marL="0">
              <a:spcAft>
                <a:spcPts val="300"/>
              </a:spcAft>
              <a:buNone/>
            </a:pPr>
            <a:r>
              <a:rPr lang="en-US" sz="900" dirty="0">
                <a:solidFill>
                  <a:srgbClr val="1B2A41"/>
                </a:solidFill>
              </a:rPr>
              <a:t>12. Huang H, Chen Z. Association between obstructive sleep apnea syndrome and type1/type2 diabetes mellitus: A systematic review and meta-analysis. J Diabetes Investig. 2024;16(3):521-534. PMID: 39705149. doi: 10.1111/jdi.14354</a:t>
            </a:r>
            <a:endParaRPr lang="en-US" sz="900" dirty="0"/>
          </a:p>
          <a:p>
            <a:pPr indent="0" marL="0">
              <a:spcAft>
                <a:spcPts val="300"/>
              </a:spcAft>
              <a:buNone/>
            </a:pPr>
            <a:r>
              <a:rPr lang="en-US" sz="900" dirty="0">
                <a:solidFill>
                  <a:srgbClr val="1B2A41"/>
                </a:solidFill>
              </a:rPr>
              <a:t>13. Resnick HE, Redline S, Shahar E, Gilpin A, Newman A, Walter R, et al. Diabetes and sleep disturbances: findings from the Sleep Heart Health Study. Diabetes Care. 2003;26(3):702-9. PMID: 12610025. doi: 10.2337/diacare.26.3.702</a:t>
            </a:r>
            <a:endParaRPr lang="en-US" sz="900" dirty="0"/>
          </a:p>
          <a:p>
            <a:pPr indent="0" marL="0">
              <a:spcAft>
                <a:spcPts val="300"/>
              </a:spcAft>
              <a:buNone/>
            </a:pPr>
            <a:r>
              <a:rPr lang="en-US" sz="900" dirty="0">
                <a:solidFill>
                  <a:srgbClr val="1B2A41"/>
                </a:solidFill>
              </a:rPr>
              <a:t>14. West SD, Nicoll DJ, Stradling JR. Prevalence of obstructive sleep apnoea in men with type 2 diabetes. Thorax. 2006;61(11):945-50. PMID: 16928713. doi: 10.1136/thx.2005.057745</a:t>
            </a:r>
            <a:endParaRPr lang="en-US" sz="900" dirty="0"/>
          </a:p>
          <a:p>
            <a:pPr indent="0" marL="0">
              <a:spcAft>
                <a:spcPts val="300"/>
              </a:spcAft>
              <a:buNone/>
            </a:pPr>
            <a:r>
              <a:rPr lang="en-US" sz="900" dirty="0">
                <a:solidFill>
                  <a:srgbClr val="1B2A41"/>
                </a:solidFill>
              </a:rPr>
              <a:t>15. Seicean S, Kirchner HL, Gottlieb DJ, Punjabi NM, Resnick H, Sanders M, et al. Sleep-disordered breathing and impaired glucose metabolism in normal-weight and overweight/obese individuals: the Sleep Heart Health Study. Diabetes Care. 2008;31(5):1001-6. PMID: 18268072. doi: 10.2337/dc07-2003</a:t>
            </a:r>
            <a:endParaRPr lang="en-US" sz="900" dirty="0"/>
          </a:p>
          <a:p>
            <a:pPr indent="0" marL="0">
              <a:spcAft>
                <a:spcPts val="300"/>
              </a:spcAft>
              <a:buNone/>
            </a:pPr>
            <a:r>
              <a:rPr lang="en-US" sz="900" dirty="0">
                <a:solidFill>
                  <a:srgbClr val="1B2A41"/>
                </a:solidFill>
              </a:rPr>
              <a:t>16. Reutrakul S, Mokhlesi B. Obstructive Sleep Apnea and Diabetes: A State of the Art Review. Chest. 2017;152(5):1070-1086. PMID: 28527878. doi: 10.1016/j.chest.2017.05.009</a:t>
            </a:r>
            <a:endParaRPr lang="en-US" sz="900" dirty="0"/>
          </a:p>
          <a:p>
            <a:pPr indent="0" marL="0">
              <a:spcAft>
                <a:spcPts val="300"/>
              </a:spcAft>
              <a:buNone/>
            </a:pPr>
            <a:r>
              <a:rPr lang="en-US" sz="900" dirty="0">
                <a:solidFill>
                  <a:srgbClr val="1B2A41"/>
                </a:solidFill>
              </a:rPr>
              <a:t>17. Shaw JE, Punjabi NM, Wilding JP, Alberti KG, Zimmet PZ. Sleep-disordered breathing and type 2 diabetes: a report from the International Diabetes Federation Taskforce on Epidemiology and Prevention. Diabetes Res Clin Pract. 2008;81(1):2-12. PMID: 18544448. doi: 10.1016/j.diabres.2008.04.025</a:t>
            </a:r>
            <a:endParaRPr lang="en-US" sz="900" dirty="0"/>
          </a:p>
          <a:p>
            <a:pPr indent="0" marL="0">
              <a:spcAft>
                <a:spcPts val="300"/>
              </a:spcAft>
              <a:buNone/>
            </a:pPr>
            <a:r>
              <a:rPr lang="en-US" sz="900" dirty="0">
                <a:solidFill>
                  <a:srgbClr val="1B2A41"/>
                </a:solidFill>
              </a:rPr>
              <a:t>18. Heinzer R, Vat S, Marques-Vidal P, Marti-Soler H, Andries D, Tobback N, et al. Prevalence of sleep-disordered breathing in the general population: the HypnoLaus study. Lancet Respir Med. 2015;3(4):310-8. PMID: 25682233. doi: 10.1016/S2213-2600(15)00043-0</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Literatura (2/7) – Vancouver, PMID / DOI</a:t>
            </a:r>
            <a:endParaRPr lang="en-US" sz="2500" dirty="0"/>
          </a:p>
        </p:txBody>
      </p:sp>
      <p:sp>
        <p:nvSpPr>
          <p:cNvPr id="3" name="refs-1-0"/>
          <p:cNvSpPr txBox="1"/>
          <p:nvPr/>
        </p:nvSpPr>
        <p:spPr>
          <a:xfrm>
            <a:off x="457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19. Louis M, Punjabi NM. Effects of acute intermittent hypoxia on glucose metabolism in awake healthy volunteers. J Appl Physiol (1985). 2009;106(5):1538-44. PMID: 19265062. doi: 10.1152/japplphysiol.91523.2008</a:t>
            </a:r>
            <a:endParaRPr lang="en-US" sz="900" dirty="0"/>
          </a:p>
          <a:p>
            <a:pPr indent="0" marL="0">
              <a:spcAft>
                <a:spcPts val="300"/>
              </a:spcAft>
              <a:buNone/>
            </a:pPr>
            <a:r>
              <a:rPr lang="en-US" sz="900" dirty="0">
                <a:solidFill>
                  <a:srgbClr val="1B2A41"/>
                </a:solidFill>
              </a:rPr>
              <a:t>20. Stamatakis KA, Punjabi NM. Effects of sleep fragmentation on glucose metabolism in normal subjects. Chest. 2009;137(1):95-101. PMID: 19542260. doi: 10.1378/chest.09-0791</a:t>
            </a:r>
            <a:endParaRPr lang="en-US" sz="900" dirty="0"/>
          </a:p>
          <a:p>
            <a:pPr indent="0" marL="0">
              <a:spcAft>
                <a:spcPts val="300"/>
              </a:spcAft>
              <a:buNone/>
            </a:pPr>
            <a:r>
              <a:rPr lang="en-US" sz="900" dirty="0">
                <a:solidFill>
                  <a:srgbClr val="1B2A41"/>
                </a:solidFill>
              </a:rPr>
              <a:t>21. Tasali E, Leproult R, Ehrmann DA, Van Cauter E. Slow-wave sleep and the risk of type 2 diabetes in humans. Proc Natl Acad Sci U S A. 2008;105(3):1044-9. PMID: 18172212. doi: 10.1073/pnas.0706446105</a:t>
            </a:r>
            <a:endParaRPr lang="en-US" sz="900" dirty="0"/>
          </a:p>
          <a:p>
            <a:pPr indent="0" marL="0">
              <a:spcAft>
                <a:spcPts val="300"/>
              </a:spcAft>
              <a:buNone/>
            </a:pPr>
            <a:r>
              <a:rPr lang="en-US" sz="900" dirty="0">
                <a:solidFill>
                  <a:srgbClr val="1B2A41"/>
                </a:solidFill>
              </a:rPr>
              <a:t>22. Iiyori N, Alonso LC, Li J, Sanders MH, Garcia-Ocana A, O'Doherty RM, et al. Intermittent hypoxia causes insulin resistance in lean mice independent of autonomic activity. Am J Respir Crit Care Med. 2007;175(8):851-7. PMID: 17272786. doi: 10.1164/rccm.200610-1527OC</a:t>
            </a:r>
            <a:endParaRPr lang="en-US" sz="900" dirty="0"/>
          </a:p>
          <a:p>
            <a:pPr indent="0" marL="0">
              <a:spcAft>
                <a:spcPts val="300"/>
              </a:spcAft>
              <a:buNone/>
            </a:pPr>
            <a:r>
              <a:rPr lang="en-US" sz="900" dirty="0">
                <a:solidFill>
                  <a:srgbClr val="1B2A41"/>
                </a:solidFill>
              </a:rPr>
              <a:t>23. Somers VK, Dyken ME, Clary MP, Abboud FM. Sympathetic neural mechanisms in obstructive sleep apnea. J Clin Invest. 1995;96(4):1897-904. PMID: 7560081. doi: 10.1172/JCI118235</a:t>
            </a:r>
            <a:endParaRPr lang="en-US" sz="900" dirty="0"/>
          </a:p>
          <a:p>
            <a:pPr indent="0" marL="0">
              <a:spcAft>
                <a:spcPts val="300"/>
              </a:spcAft>
              <a:buNone/>
            </a:pPr>
            <a:r>
              <a:rPr lang="en-US" sz="900" dirty="0">
                <a:solidFill>
                  <a:srgbClr val="1B2A41"/>
                </a:solidFill>
              </a:rPr>
              <a:t>24. Narkiewicz K, van de Borne PJ, Cooley RL, Dyken ME, Somers VK. Sympathetic activity in obese subjects with and without obstructive sleep apnea. Circulation. 1998;98(8):772-6. PMID: 9727547. doi: 10.1161/01.cir.98.8.772</a:t>
            </a:r>
            <a:endParaRPr lang="en-US" sz="900" dirty="0"/>
          </a:p>
          <a:p>
            <a:pPr indent="0" marL="0">
              <a:spcAft>
                <a:spcPts val="300"/>
              </a:spcAft>
              <a:buNone/>
            </a:pPr>
            <a:r>
              <a:rPr lang="en-US" sz="900" dirty="0">
                <a:solidFill>
                  <a:srgbClr val="1B2A41"/>
                </a:solidFill>
              </a:rPr>
              <a:t>25. Kritikou I, Basta M, Vgontzas AN, Pejovic S, Fernandez-Mendoza J, Liao D, et al. Sleep apnoea and the hypothalamic-pituitary-adrenal axis in men and women: effects of continuous positive airway pressure. Eur Respir J. 2016;47(2):531-40. PMID: 26541531. doi: 10.1183/13993003.00319-2015</a:t>
            </a:r>
            <a:endParaRPr lang="en-US" sz="900" dirty="0"/>
          </a:p>
          <a:p>
            <a:pPr indent="0" marL="0">
              <a:spcAft>
                <a:spcPts val="300"/>
              </a:spcAft>
              <a:buNone/>
            </a:pPr>
            <a:r>
              <a:rPr lang="en-US" sz="900" dirty="0">
                <a:solidFill>
                  <a:srgbClr val="1B2A41"/>
                </a:solidFill>
              </a:rPr>
              <a:t>26. Ken-Dror G, Fry CH, Murray P, Fluck D, Han TS. Changes in cortisol levels by continuous positive airway pressure in patients with obstructive sleep apnoea: Meta-analysis of 637 individuals. Clin Endocrinol (Oxf). 2021;95(6):909-917. PMID: 34323304. doi: 10.1111/cen.14573</a:t>
            </a:r>
            <a:endParaRPr lang="en-US" sz="900" dirty="0"/>
          </a:p>
          <a:p>
            <a:pPr indent="0" marL="0">
              <a:spcAft>
                <a:spcPts val="300"/>
              </a:spcAft>
              <a:buNone/>
            </a:pPr>
            <a:r>
              <a:rPr lang="en-US" sz="900" dirty="0">
                <a:solidFill>
                  <a:srgbClr val="1B2A41"/>
                </a:solidFill>
              </a:rPr>
              <a:t>27. Chopra S, Rathore A, Younas H, Pham LV, Gu C, Beselman A, et al. Obstructive Sleep Apnea Dynamically Increases Nocturnal Plasma Free Fatty Acids, Glucose, and Cortisol During Sleep. J Clin Endocrinol Metab. 2017;102(9):3172-3181. PMID: 28595341. doi: 10.1210/jc.2017-00619</a:t>
            </a:r>
            <a:endParaRPr lang="en-US" sz="900" dirty="0"/>
          </a:p>
        </p:txBody>
      </p:sp>
      <p:sp>
        <p:nvSpPr>
          <p:cNvPr id="4" name="refs-1-1"/>
          <p:cNvSpPr txBox="1"/>
          <p:nvPr/>
        </p:nvSpPr>
        <p:spPr>
          <a:xfrm>
            <a:off x="6172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28. Ryan S, Taylor CT, McNicholas WT. Selective activation of inflammatory pathways by intermittent hypoxia in obstructive sleep apnea syndrome. Circulation. 2005;112(17):2660-7. PMID: 16246965. doi: 10.1161/CIRCULATIONAHA.105.556746</a:t>
            </a:r>
            <a:endParaRPr lang="en-US" sz="900" dirty="0"/>
          </a:p>
          <a:p>
            <a:pPr indent="0" marL="0">
              <a:spcAft>
                <a:spcPts val="300"/>
              </a:spcAft>
              <a:buNone/>
            </a:pPr>
            <a:r>
              <a:rPr lang="en-US" sz="900" dirty="0">
                <a:solidFill>
                  <a:srgbClr val="1B2A41"/>
                </a:solidFill>
              </a:rPr>
              <a:t>29. Nadeem R, Molnar J, Madbouly EM, Nida M, Aggarwal S, Sajid H, et al. Serum inflammatory markers in obstructive sleep apnea: a meta-analysis. J Clin Sleep Med. 2013;9(10):1003-12. PMID: 24127144. doi: 10.5664/jcsm.3070</a:t>
            </a:r>
            <a:endParaRPr lang="en-US" sz="900" dirty="0"/>
          </a:p>
          <a:p>
            <a:pPr indent="0" marL="0">
              <a:spcAft>
                <a:spcPts val="300"/>
              </a:spcAft>
              <a:buNone/>
            </a:pPr>
            <a:r>
              <a:rPr lang="en-US" sz="900" dirty="0">
                <a:solidFill>
                  <a:srgbClr val="1B2A41"/>
                </a:solidFill>
              </a:rPr>
              <a:t>30. Phillips BG, Kato M, Narkiewicz K, Choe I, Somers VK. Increases in leptin levels, sympathetic drive, and weight gain in obstructive sleep apnea. Am J Physiol Heart Circ Physiol. 2000;279(1):H234-7. PMID: 10899061. doi: 10.1152/ajpheart.2000.279.1.H234</a:t>
            </a:r>
            <a:endParaRPr lang="en-US" sz="900" dirty="0"/>
          </a:p>
          <a:p>
            <a:pPr indent="0" marL="0">
              <a:spcAft>
                <a:spcPts val="300"/>
              </a:spcAft>
              <a:buNone/>
            </a:pPr>
            <a:r>
              <a:rPr lang="en-US" sz="900" dirty="0">
                <a:solidFill>
                  <a:srgbClr val="1B2A41"/>
                </a:solidFill>
              </a:rPr>
              <a:t>31. Lu M, Fang F, Wang Z, Wei P, Hu C, Wei Y. Association between serum/plasma levels of adiponectin and obstructive sleep apnea hypopnea syndrome: a meta-analysis. Lipids Health Dis. 2019;18(1):30. PMID: 30684961. doi: 10.1186/s12944-019-0973-z</a:t>
            </a:r>
            <a:endParaRPr lang="en-US" sz="900" dirty="0"/>
          </a:p>
          <a:p>
            <a:pPr indent="0" marL="0">
              <a:spcAft>
                <a:spcPts val="300"/>
              </a:spcAft>
              <a:buNone/>
            </a:pPr>
            <a:r>
              <a:rPr lang="en-US" sz="900" dirty="0">
                <a:solidFill>
                  <a:srgbClr val="1B2A41"/>
                </a:solidFill>
              </a:rPr>
              <a:t>32. Musso G, Cassader M, Olivetti C, Rosina F, Carbone G, Gambino R. Association of obstructive sleep apnoea with the presence and severity of non-alcoholic fatty liver disease. A systematic review and meta-analysis. Obes Rev. 2013;14(5):417-31. PMID: 23387384. doi: 10.1111/obr.12020</a:t>
            </a:r>
            <a:endParaRPr lang="en-US" sz="900" dirty="0"/>
          </a:p>
          <a:p>
            <a:pPr indent="0" marL="0">
              <a:spcAft>
                <a:spcPts val="300"/>
              </a:spcAft>
              <a:buNone/>
            </a:pPr>
            <a:r>
              <a:rPr lang="en-US" sz="900" dirty="0">
                <a:solidFill>
                  <a:srgbClr val="1B2A41"/>
                </a:solidFill>
              </a:rPr>
              <a:t>33. Mesarwi OA, Loomba R, Malhotra A. Obstructive Sleep Apnea, Hypoxia, and Nonalcoholic Fatty Liver Disease. Am J Respir Crit Care Med. 2019;199(7):830-841. PMID: 30422676. doi: 10.1164/rccm.201806-1109TR</a:t>
            </a:r>
            <a:endParaRPr lang="en-US" sz="900" dirty="0"/>
          </a:p>
          <a:p>
            <a:pPr indent="0" marL="0">
              <a:spcAft>
                <a:spcPts val="300"/>
              </a:spcAft>
              <a:buNone/>
            </a:pPr>
            <a:r>
              <a:rPr lang="en-US" sz="900" dirty="0">
                <a:solidFill>
                  <a:srgbClr val="1B2A41"/>
                </a:solidFill>
              </a:rPr>
              <a:t>34. Punjabi NM, Sorkin JD, Katzel LI, Goldberg AP, Schwartz AR, Smith PL. Sleep-disordered breathing and insulin resistance in middle-aged and overweight men. Am J Respir Crit Care Med. 2002;165(5):677-82. PMID: 11874813. doi: 10.1164/ajrccm.165.5.2104087</a:t>
            </a:r>
            <a:endParaRPr lang="en-US" sz="900" dirty="0"/>
          </a:p>
          <a:p>
            <a:pPr indent="0" marL="0">
              <a:spcAft>
                <a:spcPts val="300"/>
              </a:spcAft>
              <a:buNone/>
            </a:pPr>
            <a:r>
              <a:rPr lang="en-US" sz="900" dirty="0">
                <a:solidFill>
                  <a:srgbClr val="1B2A41"/>
                </a:solidFill>
              </a:rPr>
              <a:t>35. Ip MS, Lam B, Ng MM, Lam WK, Tsang KW, Lam KS. Obstructive sleep apnea is independently associated with insulin resistance. Am J Respir Crit Care Med. 2002;165(5):670-6. PMID: 11874812. doi: 10.1164/ajrccm.165.5.2103001</a:t>
            </a:r>
            <a:endParaRPr lang="en-US" sz="900" dirty="0"/>
          </a:p>
          <a:p>
            <a:pPr indent="0" marL="0">
              <a:spcAft>
                <a:spcPts val="300"/>
              </a:spcAft>
              <a:buNone/>
            </a:pPr>
            <a:r>
              <a:rPr lang="en-US" sz="900" dirty="0">
                <a:solidFill>
                  <a:srgbClr val="1B2A41"/>
                </a:solidFill>
              </a:rPr>
              <a:t>36. Peppard PE, Young T, Palta M, Dempsey J, Skatrud J. Longitudinal study of moderate weight change and sleep-disordered breathing. JAMA. 2000;284(23):3015-21. PMID: 11122588. doi: 10.1001/jama.284.23.3015</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Literatura (3/7) – Vancouver, PMID / DOI</a:t>
            </a:r>
            <a:endParaRPr lang="en-US" sz="2500" dirty="0"/>
          </a:p>
        </p:txBody>
      </p:sp>
      <p:sp>
        <p:nvSpPr>
          <p:cNvPr id="3" name="refs-2-0"/>
          <p:cNvSpPr txBox="1"/>
          <p:nvPr/>
        </p:nvSpPr>
        <p:spPr>
          <a:xfrm>
            <a:off x="457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37. Strausz S, Ruotsalainen S, Ollila HM, Karjalainen J, Kiiskinen T, Reeve M, et al. Genetic analysis of obstructive sleep apnoea discovers a strong association with cardiometabolic health. Eur Respir J. 2021;57(5). PMID: 33243845. doi: 10.1183/13993003.03091-2020</a:t>
            </a:r>
            <a:endParaRPr lang="en-US" sz="900" dirty="0"/>
          </a:p>
          <a:p>
            <a:pPr indent="0" marL="0">
              <a:spcAft>
                <a:spcPts val="300"/>
              </a:spcAft>
              <a:buNone/>
            </a:pPr>
            <a:r>
              <a:rPr lang="en-US" sz="900" dirty="0">
                <a:solidFill>
                  <a:srgbClr val="1B2A41"/>
                </a:solidFill>
              </a:rPr>
              <a:t>38. Huang T, Lin BM, Stampfer MJ, Tworoger SS, Hu FB, Redline S. A Population-Based Study of the Bidirectional Association Between Obstructive Sleep Apnea and Type 2 Diabetes in Three Prospective U.S. Cohorts. Diabetes Care. 2018;41(10):2111-2119. PMID: 30072403. doi: 10.2337/dc18-0675</a:t>
            </a:r>
            <a:endParaRPr lang="en-US" sz="900" dirty="0"/>
          </a:p>
          <a:p>
            <a:pPr indent="0" marL="0">
              <a:spcAft>
                <a:spcPts val="300"/>
              </a:spcAft>
              <a:buNone/>
            </a:pPr>
            <a:r>
              <a:rPr lang="en-US" sz="900" dirty="0">
                <a:solidFill>
                  <a:srgbClr val="1B2A41"/>
                </a:solidFill>
              </a:rPr>
              <a:t>39. Bottini P, Dottorini ML, Cristina Cordoni M, Casucci G, Tantucci C. Sleep-disordered breathing in nonobese diabetic subjects with autonomic neuropathy. Eur Respir J. 2003;22(4):654-60. PMID: 14582920. doi: 10.1183/09031936.03.00070402</a:t>
            </a:r>
            <a:endParaRPr lang="en-US" sz="900" dirty="0"/>
          </a:p>
          <a:p>
            <a:pPr indent="0" marL="0">
              <a:spcAft>
                <a:spcPts val="300"/>
              </a:spcAft>
              <a:buNone/>
            </a:pPr>
            <a:r>
              <a:rPr lang="en-US" sz="900" dirty="0">
                <a:solidFill>
                  <a:srgbClr val="1B2A41"/>
                </a:solidFill>
              </a:rPr>
              <a:t>40. Ficker JH, Dertinger SH, Siegfried W, König HJ, Pentz M, Sailer D, et al. Obstructive sleep apnoea and diabetes mellitus: the role of cardiovascular autonomic neuropathy. Eur Respir J. 1998;11(1):14-9. PMID: 9543264. doi: 10.1183/09031936.98.11010014</a:t>
            </a:r>
            <a:endParaRPr lang="en-US" sz="900" dirty="0"/>
          </a:p>
          <a:p>
            <a:pPr indent="0" marL="0">
              <a:spcAft>
                <a:spcPts val="300"/>
              </a:spcAft>
              <a:buNone/>
            </a:pPr>
            <a:r>
              <a:rPr lang="en-US" sz="900" dirty="0">
                <a:solidFill>
                  <a:srgbClr val="1B2A41"/>
                </a:solidFill>
              </a:rPr>
              <a:t>41. Hrytsenko Y, Spitzer BW, Wang H, Bertisch SM, Taylor KD, Garcia-Bedoya O, et al. Obstructive sleep apnea mediates genetic risk of Diabetes Mellitus in Hispanic and Latino communities. Commun Med (Lond). 2025;5(1):398. PMID: 40999017. doi: 10.1038/s43856-025-01107-y</a:t>
            </a:r>
            <a:endParaRPr lang="en-US" sz="900" dirty="0"/>
          </a:p>
          <a:p>
            <a:pPr indent="0" marL="0">
              <a:spcAft>
                <a:spcPts val="300"/>
              </a:spcAft>
              <a:buNone/>
            </a:pPr>
            <a:r>
              <a:rPr lang="en-US" sz="900" dirty="0">
                <a:solidFill>
                  <a:srgbClr val="1B2A41"/>
                </a:solidFill>
              </a:rPr>
              <a:t>42. Ding X, Zhao L, Cui X, Qi L, Chen Y. Mendelian randomization reveals no associations of genetically-predicted obstructive sleep apnea with the risk of type 2 diabetes, nonalcoholic fatty liver disease, and coronary heart disease. Front Psychiatry. 2023;14:1068756. PMID: 36846222. doi: 10.3389/fpsyt.2023.1068756</a:t>
            </a:r>
            <a:endParaRPr lang="en-US" sz="900" dirty="0"/>
          </a:p>
          <a:p>
            <a:pPr indent="0" marL="0">
              <a:spcAft>
                <a:spcPts val="300"/>
              </a:spcAft>
              <a:buNone/>
            </a:pPr>
            <a:r>
              <a:rPr lang="en-US" sz="900" dirty="0">
                <a:solidFill>
                  <a:srgbClr val="1B2A41"/>
                </a:solidFill>
              </a:rPr>
              <a:t>43. Wang X, Bi Y, Zhang Q, Pan F. Obstructive sleep apnoea and the risk of type 2 diabetes: a meta-analysis of prospective cohort studies. Respirology. 2013;18(1):140-6. PMID: 22988888. doi: 10.1111/j.1440-1843.2012.02267.x</a:t>
            </a:r>
            <a:endParaRPr lang="en-US" sz="900" dirty="0"/>
          </a:p>
          <a:p>
            <a:pPr indent="0" marL="0">
              <a:spcAft>
                <a:spcPts val="300"/>
              </a:spcAft>
              <a:buNone/>
            </a:pPr>
            <a:r>
              <a:rPr lang="en-US" sz="900" dirty="0">
                <a:solidFill>
                  <a:srgbClr val="1B2A41"/>
                </a:solidFill>
              </a:rPr>
              <a:t>44. Anothaisintawee T, Reutrakul S, Van Cauter E, Thakkinstian A. Sleep disturbances compared to traditional risk factors for diabetes development: Systematic review and meta-analysis. Sleep Med Rev. 2015;30:11-24. PMID: 26687279. doi: 10.1016/j.smrv.2015.10.002</a:t>
            </a:r>
            <a:endParaRPr lang="en-US" sz="900" dirty="0"/>
          </a:p>
          <a:p>
            <a:pPr indent="0" marL="0">
              <a:spcAft>
                <a:spcPts val="300"/>
              </a:spcAft>
              <a:buNone/>
            </a:pPr>
            <a:r>
              <a:rPr lang="en-US" sz="900" dirty="0">
                <a:solidFill>
                  <a:srgbClr val="1B2A41"/>
                </a:solidFill>
              </a:rPr>
              <a:t>45. Qie R, Zhang D, Liu L, Ren Y, Zhao Y, Liu D, et al. Obstructive sleep apnea and risk of type 2 diabetes mellitus: A systematic review and dose-response meta-analysis of cohort studies. J Diabetes. 2020;12(6):455-464. PMID: 31872550. doi: 10.1111/1753-0407.13017</a:t>
            </a:r>
            <a:endParaRPr lang="en-US" sz="900" dirty="0"/>
          </a:p>
        </p:txBody>
      </p:sp>
      <p:sp>
        <p:nvSpPr>
          <p:cNvPr id="4" name="refs-2-1"/>
          <p:cNvSpPr txBox="1"/>
          <p:nvPr/>
        </p:nvSpPr>
        <p:spPr>
          <a:xfrm>
            <a:off x="6172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46. Nagayoshi M, Punjabi NM, Selvin E, Pankow JS, Shahar E, Iso H, et al. Obstructive sleep apnea and incident type 2 diabetes. Sleep Med. 2016;25:156-161. PMID: 27810258. doi: 10.1016/j.sleep.2016.05.009</a:t>
            </a:r>
            <a:endParaRPr lang="en-US" sz="900" dirty="0"/>
          </a:p>
          <a:p>
            <a:pPr indent="0" marL="0">
              <a:spcAft>
                <a:spcPts val="300"/>
              </a:spcAft>
              <a:buNone/>
            </a:pPr>
            <a:r>
              <a:rPr lang="en-US" sz="900" dirty="0">
                <a:solidFill>
                  <a:srgbClr val="1B2A41"/>
                </a:solidFill>
              </a:rPr>
              <a:t>47. Priou P, Le Vaillant M, Meslier N, Chollet S, Masson P, Humeau MP, et al. Independent association between obstructive sleep apnea severity and glycated hemoglobin in adults without diabetes. Diabetes Care. 2012;35(9):1902-6. PMID: 22688546. doi: 10.2337/dc11-2538</a:t>
            </a:r>
            <a:endParaRPr lang="en-US" sz="900" dirty="0"/>
          </a:p>
          <a:p>
            <a:pPr indent="0" marL="0">
              <a:spcAft>
                <a:spcPts val="300"/>
              </a:spcAft>
              <a:buNone/>
            </a:pPr>
            <a:r>
              <a:rPr lang="en-US" sz="900" dirty="0">
                <a:solidFill>
                  <a:srgbClr val="1B2A41"/>
                </a:solidFill>
              </a:rPr>
              <a:t>48. Punjabi NM, Beamer BA. Alterations in Glucose Disposal in Sleep-disordered Breathing. Am J Respir Crit Care Med. 2009;179(3):235-40. PMID: 19011148. doi: 10.1164/rccm.200809-1392OC</a:t>
            </a:r>
            <a:endParaRPr lang="en-US" sz="900" dirty="0"/>
          </a:p>
          <a:p>
            <a:pPr indent="0" marL="0">
              <a:spcAft>
                <a:spcPts val="300"/>
              </a:spcAft>
              <a:buNone/>
            </a:pPr>
            <a:r>
              <a:rPr lang="en-US" sz="900" dirty="0">
                <a:solidFill>
                  <a:srgbClr val="1B2A41"/>
                </a:solidFill>
              </a:rPr>
              <a:t>49. Reichmuth KJ, Austin D, Skatrud JB, Young T. Association of sleep apnea and type II diabetes: a population-based study. Am J Respir Crit Care Med. 2005;172(12):1590-5. PMID: 16192452. doi: 10.1164/rccm.200504-637OC</a:t>
            </a:r>
            <a:endParaRPr lang="en-US" sz="900" dirty="0"/>
          </a:p>
          <a:p>
            <a:pPr indent="0" marL="0">
              <a:spcAft>
                <a:spcPts val="300"/>
              </a:spcAft>
              <a:buNone/>
            </a:pPr>
            <a:r>
              <a:rPr lang="en-US" sz="900" dirty="0">
                <a:solidFill>
                  <a:srgbClr val="1B2A41"/>
                </a:solidFill>
              </a:rPr>
              <a:t>50. Azarbarzin A, Sands SA, Stone KL, Taranto-Montemurro L, Messineo L, Terrill PI, et al. The hypoxic burden of sleep apnoea predicts cardiovascular disease-related mortality: the Osteoporotic Fractures in Men Study and the Sleep Heart Health Study. Eur Heart J. 2019;40(14):1149-1157. PMID: 30376054. doi: 10.1093/eurheartj/ehy624</a:t>
            </a:r>
            <a:endParaRPr lang="en-US" sz="900" dirty="0"/>
          </a:p>
          <a:p>
            <a:pPr indent="0" marL="0">
              <a:spcAft>
                <a:spcPts val="300"/>
              </a:spcAft>
              <a:buNone/>
            </a:pPr>
            <a:r>
              <a:rPr lang="en-US" sz="900" dirty="0">
                <a:solidFill>
                  <a:srgbClr val="1B2A41"/>
                </a:solidFill>
              </a:rPr>
              <a:t>51. Kendzerska T, Gershon AS, Hawker G, Tomlinson G, Leung RS. Obstructive sleep apnea and incident diabetes. A historical cohort study. Am J Respir Crit Care Med. 2014;190(2):218-25. PMID: 24897551. doi: 10.1164/rccm.201312-2209OC</a:t>
            </a:r>
            <a:endParaRPr lang="en-US" sz="900" dirty="0"/>
          </a:p>
          <a:p>
            <a:pPr indent="0" marL="0">
              <a:spcAft>
                <a:spcPts val="300"/>
              </a:spcAft>
              <a:buNone/>
            </a:pPr>
            <a:r>
              <a:rPr lang="en-US" sz="900" dirty="0">
                <a:solidFill>
                  <a:srgbClr val="1B2A41"/>
                </a:solidFill>
              </a:rPr>
              <a:t>52. Wojeck BS, Inzucchi SE, Qin L, Yaggi HK. Polysomnographic predictors of incident diabetes and pre-diabetes: an analysis of the DREAM study. J Clin Sleep Med. 2023;19(4):703-710. PMID: 36689314. doi: 10.5664/jcsm.10414</a:t>
            </a:r>
            <a:endParaRPr lang="en-US" sz="900" dirty="0"/>
          </a:p>
          <a:p>
            <a:pPr indent="0" marL="0">
              <a:spcAft>
                <a:spcPts val="300"/>
              </a:spcAft>
              <a:buNone/>
            </a:pPr>
            <a:r>
              <a:rPr lang="en-US" sz="900" dirty="0">
                <a:solidFill>
                  <a:srgbClr val="1B2A41"/>
                </a:solidFill>
              </a:rPr>
              <a:t>53. Appleton SL, Naik G, Nguyen DP, Toson B, Lechat B, Loffler K, et al. Associations of polysomnographic measures of obstructive sleep apnea, and nocturnal oxygen saturation with incident type 2 diabetes mellitus in middle-aged and older men. J Sleep Res. 2024;34(3):e14357. PMID: 39349356. doi: 10.1111/jsr.14357</a:t>
            </a:r>
            <a:endParaRPr lang="en-US" sz="900" dirty="0"/>
          </a:p>
          <a:p>
            <a:pPr indent="0" marL="0">
              <a:spcAft>
                <a:spcPts val="300"/>
              </a:spcAft>
              <a:buNone/>
            </a:pPr>
            <a:r>
              <a:rPr lang="en-US" sz="900" dirty="0">
                <a:solidFill>
                  <a:srgbClr val="1B2A41"/>
                </a:solidFill>
              </a:rPr>
              <a:t>54. Lindberg E, Theorell-Haglöw J, Svensson M, Gislason T, Berne C, Janson C. Sleep apnea and glucose metabolism: a long-term follow-up in a community-based sample. Chest. 2012;142(4):935-942. PMID: 22499826. doi: 10.1378/chest.11-1844</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Literatura (4/7) – Vancouver, PMID / DOI</a:t>
            </a:r>
            <a:endParaRPr lang="en-US" sz="2500" dirty="0"/>
          </a:p>
        </p:txBody>
      </p:sp>
      <p:sp>
        <p:nvSpPr>
          <p:cNvPr id="3" name="refs-3-0"/>
          <p:cNvSpPr txBox="1"/>
          <p:nvPr/>
        </p:nvSpPr>
        <p:spPr>
          <a:xfrm>
            <a:off x="457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55. Punjabi NM, Shahar E, Redline S, Gottlieb DJ, Givelber R, Resnick HE. Sleep-disordered breathing, glucose intolerance, and insulin resistance: the Sleep Heart Health Study. Am J Epidemiol. 2004;160(6):521-30. PMID: 15353412. doi: 10.1093/aje/kwh261</a:t>
            </a:r>
            <a:endParaRPr lang="en-US" sz="900" dirty="0"/>
          </a:p>
          <a:p>
            <a:pPr indent="0" marL="0">
              <a:spcAft>
                <a:spcPts val="300"/>
              </a:spcAft>
              <a:buNone/>
            </a:pPr>
            <a:r>
              <a:rPr lang="en-US" sz="900" dirty="0">
                <a:solidFill>
                  <a:srgbClr val="1B2A41"/>
                </a:solidFill>
              </a:rPr>
              <a:t>56. Iftikhar IH, Khan MF, Das A, Magalang UJ. Meta-analysis: continuous positive airway pressure improves insulin resistance in patients with sleep apnea without diabetes. Ann Am Thorac Soc. 2013;10(2):115-20. PMID: 23607839. doi: 10.1513/AnnalsATS.201209-081OC</a:t>
            </a:r>
            <a:endParaRPr lang="en-US" sz="900" dirty="0"/>
          </a:p>
          <a:p>
            <a:pPr indent="0" marL="0">
              <a:spcAft>
                <a:spcPts val="300"/>
              </a:spcAft>
              <a:buNone/>
            </a:pPr>
            <a:r>
              <a:rPr lang="en-US" sz="900" dirty="0">
                <a:solidFill>
                  <a:srgbClr val="1B2A41"/>
                </a:solidFill>
              </a:rPr>
              <a:t>57. Iftikhar IH, Hoyos CM, Phillips CL, Magalang UJ. Meta-analyses of the Association of Sleep Apnea with Insulin Resistance, and the Effects of CPAP on HOMA-IR, Adiponectin, and Visceral Adipose Fat. J Clin Sleep Med. 2015;11(4):475-85. PMID: 25700870. doi: 10.5664/jcsm.4610</a:t>
            </a:r>
            <a:endParaRPr lang="en-US" sz="900" dirty="0"/>
          </a:p>
          <a:p>
            <a:pPr indent="0" marL="0">
              <a:spcAft>
                <a:spcPts val="300"/>
              </a:spcAft>
              <a:buNone/>
            </a:pPr>
            <a:r>
              <a:rPr lang="en-US" sz="900" dirty="0">
                <a:solidFill>
                  <a:srgbClr val="1B2A41"/>
                </a:solidFill>
              </a:rPr>
              <a:t>58. Yang D, Liu Z, Yang H, Luo Q. Effects of continuous positive airway pressure on glycemic control and insulin resistance in patients with obstructive sleep apnea: a meta-analysis. Sleep Breath. 2012;17(1):33-8. PMID: 22411171. doi: 10.1007/s11325-012-0680-8</a:t>
            </a:r>
            <a:endParaRPr lang="en-US" sz="900" dirty="0"/>
          </a:p>
          <a:p>
            <a:pPr indent="0" marL="0">
              <a:spcAft>
                <a:spcPts val="300"/>
              </a:spcAft>
              <a:buNone/>
            </a:pPr>
            <a:r>
              <a:rPr lang="en-US" sz="900" dirty="0">
                <a:solidFill>
                  <a:srgbClr val="1B2A41"/>
                </a:solidFill>
              </a:rPr>
              <a:t>59. Abud R, Salgueiro M, Drake L, Reyes T, Jorquera J, Labarca G. Efficacy of continuous positive airway pressure (CPAP) preventing type 2 diabetes mellitus in patients with obstructive sleep apnea hypopnea syndrome (OSAHS) and insulin resistance: a systematic review and meta-analysis. Sleep Med. 2019;62:14-21. PMID: 31518943. doi: 10.1016/j.sleep.2018.12.017</a:t>
            </a:r>
            <a:endParaRPr lang="en-US" sz="900" dirty="0"/>
          </a:p>
          <a:p>
            <a:pPr indent="0" marL="0">
              <a:spcAft>
                <a:spcPts val="300"/>
              </a:spcAft>
              <a:buNone/>
            </a:pPr>
            <a:r>
              <a:rPr lang="en-US" sz="900" dirty="0">
                <a:solidFill>
                  <a:srgbClr val="1B2A41"/>
                </a:solidFill>
              </a:rPr>
              <a:t>60. Hoyos CM, Murugan SM, Melehan KL, Yee BJ, Phillips CL, Killick R, et al. Dose-dependent effects of continuous positive airway pressure for sleep apnea on weight or metabolic function: Individual patient-level clinical trial meta-analysis. J Sleep Res. 2018;28(5):e12788. PMID: 30450787. doi: 10.1111/jsr.12788</a:t>
            </a:r>
            <a:endParaRPr lang="en-US" sz="900" dirty="0"/>
          </a:p>
          <a:p>
            <a:pPr indent="0" marL="0">
              <a:spcAft>
                <a:spcPts val="300"/>
              </a:spcAft>
              <a:buNone/>
            </a:pPr>
            <a:r>
              <a:rPr lang="en-US" sz="900" dirty="0">
                <a:solidFill>
                  <a:srgbClr val="1B2A41"/>
                </a:solidFill>
              </a:rPr>
              <a:t>61. Chirinos JA, Gurubhagavatula I, Teff K, Rader DJ, Wadden TA, Townsend R, et al. CPAP, weight loss, or both for obstructive sleep apnea. N Engl J Med. 2014;370(24):2265-75. PMID: 24918371. doi: 10.1056/NEJMoa1306187</a:t>
            </a:r>
            <a:endParaRPr lang="en-US" sz="900" dirty="0"/>
          </a:p>
          <a:p>
            <a:pPr indent="0" marL="0">
              <a:spcAft>
                <a:spcPts val="300"/>
              </a:spcAft>
              <a:buNone/>
            </a:pPr>
            <a:r>
              <a:rPr lang="en-US" sz="900" dirty="0">
                <a:solidFill>
                  <a:srgbClr val="1B2A41"/>
                </a:solidFill>
              </a:rPr>
              <a:t>62. Zhu B, Ma C, Chaiard J, Shi C. Effect of continuous positive airway pressure on glucose metabolism in adults with type 2 diabetes: a systematic review and meta-analysis of randomized controlled trials. Sleep Breath. 2017;22(2):287-295. PMID: 28812180. doi: 10.1007/s11325-017-1554-x</a:t>
            </a:r>
            <a:endParaRPr lang="en-US" sz="900" dirty="0"/>
          </a:p>
          <a:p>
            <a:pPr indent="0" marL="0">
              <a:spcAft>
                <a:spcPts val="300"/>
              </a:spcAft>
              <a:buNone/>
            </a:pPr>
            <a:r>
              <a:rPr lang="en-US" sz="900" dirty="0">
                <a:solidFill>
                  <a:srgbClr val="1B2A41"/>
                </a:solidFill>
              </a:rPr>
              <a:t>63. Labarca G, Reyes T, Jorquera J, Dreyse J, Drake L. CPAP in patients with obstructive sleep apnea and type 2 diabetes mellitus: Systematic review and meta-analysis. Clin Respir J. 2018;12(8):2361-2368. PMID: 30073792. doi: 10.1111/crj.12915</a:t>
            </a:r>
            <a:endParaRPr lang="en-US" sz="900" dirty="0"/>
          </a:p>
        </p:txBody>
      </p:sp>
      <p:sp>
        <p:nvSpPr>
          <p:cNvPr id="4" name="refs-3-1"/>
          <p:cNvSpPr txBox="1"/>
          <p:nvPr/>
        </p:nvSpPr>
        <p:spPr>
          <a:xfrm>
            <a:off x="6172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64. Shang W, Zhang Y, Wang G, Han D. Benefits of continuous positive airway pressure on glycaemic control and insulin resistance in patients with type 2 diabetes and obstructive sleep apnoea: A meta-analysis. Diabetes Obes Metab. 2020;23(2):540-548. PMID: 33146450. doi: 10.1111/dom.14247</a:t>
            </a:r>
            <a:endParaRPr lang="en-US" sz="900" dirty="0"/>
          </a:p>
          <a:p>
            <a:pPr indent="0" marL="0">
              <a:spcAft>
                <a:spcPts val="300"/>
              </a:spcAft>
              <a:buNone/>
            </a:pPr>
            <a:r>
              <a:rPr lang="en-US" sz="900" dirty="0">
                <a:solidFill>
                  <a:srgbClr val="1B2A41"/>
                </a:solidFill>
              </a:rPr>
              <a:t>65. Herth J, Sievi NA, Schmidt F, Kohler M. Effects of continuous positive airway pressure therapy on glucose metabolism in patients with obstructive sleep apnoea and type 2 diabetes: a systematic review and meta-analysis. Eur Respir Rev. 2023;32(169). PMID: 37673425. doi: 10.1183/16000617.0083-2023</a:t>
            </a:r>
            <a:endParaRPr lang="en-US" sz="900" dirty="0"/>
          </a:p>
          <a:p>
            <a:pPr indent="0" marL="0">
              <a:spcAft>
                <a:spcPts val="300"/>
              </a:spcAft>
              <a:buNone/>
            </a:pPr>
            <a:r>
              <a:rPr lang="en-US" sz="900" dirty="0">
                <a:solidFill>
                  <a:srgbClr val="1B2A41"/>
                </a:solidFill>
              </a:rPr>
              <a:t>66. Wu Y, Chen Z, Cheng Z, Yu Z, Li B, Xu J. Effects of continuous positive airway pressure therapy duration on patients with obstructive sleep apnoea and type 2 diabetes mellitus: a systematic review and meta-analysis. BMJ Open Respir Res. 2026;13(1). PMID: 41825890. doi: 10.1136/bmjresp-2025-003324</a:t>
            </a:r>
            <a:endParaRPr lang="en-US" sz="900" dirty="0"/>
          </a:p>
          <a:p>
            <a:pPr indent="0" marL="0">
              <a:spcAft>
                <a:spcPts val="300"/>
              </a:spcAft>
              <a:buNone/>
            </a:pPr>
            <a:r>
              <a:rPr lang="en-US" sz="900" dirty="0">
                <a:solidFill>
                  <a:srgbClr val="1B2A41"/>
                </a:solidFill>
              </a:rPr>
              <a:t>67. Shaw JE, Punjabi NM, Naughton MT, Willes L, Bergenstal RM, Cistulli PA, et al. The Effect of Treatment of Obstructive Sleep Apnea on Glycemic Control in Type 2 Diabetes. Am J Respir Crit Care Med. 2016;194(4):486-92. PMID: 26926656. doi: 10.1164/rccm.201511-2260OC</a:t>
            </a:r>
            <a:endParaRPr lang="en-US" sz="900" dirty="0"/>
          </a:p>
          <a:p>
            <a:pPr indent="0" marL="0">
              <a:spcAft>
                <a:spcPts val="300"/>
              </a:spcAft>
              <a:buNone/>
            </a:pPr>
            <a:r>
              <a:rPr lang="en-US" sz="900" dirty="0">
                <a:solidFill>
                  <a:srgbClr val="1B2A41"/>
                </a:solidFill>
              </a:rPr>
              <a:t>68. Loffler KA, Heeley E, Freed R, Meng R, Bittencourt LR, Gonzaga Carvalho CC, et al. Continuous Positive Airway Pressure Treatment, Glycemia, and Diabetes Risk in Obstructive Sleep Apnea and Comorbid Cardiovascular Disease. Diabetes Care. 2020;43(8):1859-1867. PMID: 32291275. doi: 10.2337/dc19-2006</a:t>
            </a:r>
            <a:endParaRPr lang="en-US" sz="900" dirty="0"/>
          </a:p>
          <a:p>
            <a:pPr indent="0" marL="0">
              <a:spcAft>
                <a:spcPts val="300"/>
              </a:spcAft>
              <a:buNone/>
            </a:pPr>
            <a:r>
              <a:rPr lang="en-US" sz="900" dirty="0">
                <a:solidFill>
                  <a:srgbClr val="1B2A41"/>
                </a:solidFill>
              </a:rPr>
              <a:t>69. Aurora RN, Rooney MR, Wang D, Selvin E, Punjabi NM. Effects of Positive Airway Pressure Therapy on Glycemic Variability in Patients With Type 2 Diabetes and OSA: A Randomized Controlled Trial. Chest. 2023;164(4):1057-1067. PMID: 37062349. doi: 10.1016/j.chest.2023.04.017</a:t>
            </a:r>
            <a:endParaRPr lang="en-US" sz="900" dirty="0"/>
          </a:p>
          <a:p>
            <a:pPr indent="0" marL="0">
              <a:spcAft>
                <a:spcPts val="300"/>
              </a:spcAft>
              <a:buNone/>
            </a:pPr>
            <a:r>
              <a:rPr lang="en-US" sz="900" dirty="0">
                <a:solidFill>
                  <a:srgbClr val="1B2A41"/>
                </a:solidFill>
              </a:rPr>
              <a:t>70. Banghøj AM, Krogager C, Kristensen PL, Hansen KW, Laugesen E, Fleischer J, et al. Effect of 12-week continuous positive airway pressure therapy on glucose levels assessed by continuous glucose monitoring in people with type 2 diabetes and obstructive sleep apnoea; a randomized controlled trial. Endocrinol Diabetes Metab. 2020;4(2):e00148. PMID: 33855195. doi: 10.1002/edm2.148</a:t>
            </a:r>
            <a:endParaRPr lang="en-US" sz="900" dirty="0"/>
          </a:p>
          <a:p>
            <a:pPr indent="0" marL="0">
              <a:spcAft>
                <a:spcPts val="300"/>
              </a:spcAft>
              <a:buNone/>
            </a:pPr>
            <a:r>
              <a:rPr lang="en-US" sz="900" dirty="0">
                <a:solidFill>
                  <a:srgbClr val="1B2A41"/>
                </a:solidFill>
              </a:rPr>
              <a:t>71. West SD, Nicoll DJ, Wallace TM, Matthews DR, Stradling JR. Effect of CPAP on insulin resistance and HbA1c in men with obstructive sleep apnoea and type 2 diabetes. Thorax. 2007;62(11):969-74. PMID: 17557769. doi: 10.1136/thx.2006.074351</a:t>
            </a:r>
            <a:endParaRPr lang="en-US" sz="900" dirty="0"/>
          </a:p>
          <a:p>
            <a:pPr indent="0" marL="0">
              <a:spcAft>
                <a:spcPts val="300"/>
              </a:spcAft>
              <a:buNone/>
            </a:pPr>
            <a:r>
              <a:rPr lang="en-US" sz="900" dirty="0">
                <a:solidFill>
                  <a:srgbClr val="1B2A41"/>
                </a:solidFill>
              </a:rPr>
              <a:t>72. Lam JCM, Lai AYK, Tam TCC, Yuen MMA, Lam KSL, Ip MSM. CPAP therapy for patients with sleep apnea and type 2 diabetes mellitus improves control of blood pressure. Sleep Breath. 2017;21(2):377-386. PMID: 27817148. doi: 10.1007/s11325-016-1428-7</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Literatura (5/7) – Vancouver, PMID / DOI</a:t>
            </a:r>
            <a:endParaRPr lang="en-US" sz="2500" dirty="0"/>
          </a:p>
        </p:txBody>
      </p:sp>
      <p:sp>
        <p:nvSpPr>
          <p:cNvPr id="3" name="refs-4-0"/>
          <p:cNvSpPr txBox="1"/>
          <p:nvPr/>
        </p:nvSpPr>
        <p:spPr>
          <a:xfrm>
            <a:off x="457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73. Martínez-Cerón E, Barquiel B, Bezos AM, Casitas R, Galera R, García-Benito C, et al. Effect of Continuous Positive Airway Pressure on Glycemic Control in Patients with Obstructive Sleep Apnea and Type 2 Diabetes. A Randomized Clinical Trial. Am J Respir Crit Care Med. 2016;194(4):476-85. PMID: 26910598. doi: 10.1164/rccm.201510-1942OC</a:t>
            </a:r>
            <a:endParaRPr lang="en-US" sz="900" dirty="0"/>
          </a:p>
          <a:p>
            <a:pPr indent="0" marL="0">
              <a:spcAft>
                <a:spcPts val="300"/>
              </a:spcAft>
              <a:buNone/>
            </a:pPr>
            <a:r>
              <a:rPr lang="en-US" sz="900" dirty="0">
                <a:solidFill>
                  <a:srgbClr val="1B2A41"/>
                </a:solidFill>
              </a:rPr>
              <a:t>74. Chasens ER, Korytkowski M, Burke LE, Strollo PJ, Stansbury R, Bizhanova Z, et al. Effect of Treatment of OSA With CPAP on Glycemic Control in Adults With Type 2 Diabetes: The Diabetes Sleep Treatment Trial (DSTT). Endocr Pract. 2022;28(4):364-371. PMID: 35131440. doi: 10.1016/j.eprac.2022.01.015</a:t>
            </a:r>
            <a:endParaRPr lang="en-US" sz="900" dirty="0"/>
          </a:p>
          <a:p>
            <a:pPr indent="0" marL="0">
              <a:spcAft>
                <a:spcPts val="300"/>
              </a:spcAft>
              <a:buNone/>
            </a:pPr>
            <a:r>
              <a:rPr lang="en-US" sz="900" dirty="0">
                <a:solidFill>
                  <a:srgbClr val="1B2A41"/>
                </a:solidFill>
              </a:rPr>
              <a:t>75. Mokhlesi B, Grimaldi D, Beccuti G, Van Cauter E. Effect of one week of CPAP treatment of obstructive sleep apnoea on 24-hour profiles of glucose, insulin and counter-regulatory hormones in type 2 diabetes. Diabetes Obes Metab. 2016;19(3):452-456. PMID: 27860160. doi: 10.1111/dom.12823</a:t>
            </a:r>
            <a:endParaRPr lang="en-US" sz="900" dirty="0"/>
          </a:p>
          <a:p>
            <a:pPr indent="0" marL="0">
              <a:spcAft>
                <a:spcPts val="300"/>
              </a:spcAft>
              <a:buNone/>
            </a:pPr>
            <a:r>
              <a:rPr lang="en-US" sz="900" dirty="0">
                <a:solidFill>
                  <a:srgbClr val="1B2A41"/>
                </a:solidFill>
              </a:rPr>
              <a:t>76. Pamidi S, Wroblewski K, Stepien M, Sharif-Sidi K, Kilkus J, Whitmore H, et al. Eight Hours of Nightly Continuous Positive Airway Pressure Treatment of Obstructive Sleep Apnea Improves Glucose Metabolism in Patients with Prediabetes. A Randomized Controlled Trial. Am J Respir Crit Care Med. 2015;192(1):96-105. PMID: 25897569. doi: 10.1164/rccm.201408-1564OC</a:t>
            </a:r>
            <a:endParaRPr lang="en-US" sz="900" dirty="0"/>
          </a:p>
          <a:p>
            <a:pPr indent="0" marL="0">
              <a:spcAft>
                <a:spcPts val="300"/>
              </a:spcAft>
              <a:buNone/>
            </a:pPr>
            <a:r>
              <a:rPr lang="en-US" sz="900" dirty="0">
                <a:solidFill>
                  <a:srgbClr val="1B2A41"/>
                </a:solidFill>
              </a:rPr>
              <a:t>77. Foster GD, Borradaile KE, Sanders MH, Millman R, Zammit G, Newman AB, et al. A randomized study on the effect of weight loss on obstructive sleep apnea among obese patients with type 2 diabetes: the Sleep AHEAD study. Arch Intern Med. 2009;169(17):1619-26. PMID: 19786682. doi: 10.1001/archinternmed.2009.266</a:t>
            </a:r>
            <a:endParaRPr lang="en-US" sz="900" dirty="0"/>
          </a:p>
          <a:p>
            <a:pPr indent="0" marL="0">
              <a:spcAft>
                <a:spcPts val="300"/>
              </a:spcAft>
              <a:buNone/>
            </a:pPr>
            <a:r>
              <a:rPr lang="en-US" sz="900" dirty="0">
                <a:solidFill>
                  <a:srgbClr val="1B2A41"/>
                </a:solidFill>
              </a:rPr>
              <a:t>78. Kuna ST, Reboussin DM, Borradaile KE, Sanders MH, Millman RP, Zammit G, et al. Long-term effect of weight loss on obstructive sleep apnea severity in obese patients with type 2 diabetes. Sleep. 2013;36(5):641-649A. PMID: 23633746. doi: 10.5665/sleep.2618</a:t>
            </a:r>
            <a:endParaRPr lang="en-US" sz="900" dirty="0"/>
          </a:p>
          <a:p>
            <a:pPr indent="0" marL="0">
              <a:spcAft>
                <a:spcPts val="300"/>
              </a:spcAft>
              <a:buNone/>
            </a:pPr>
            <a:r>
              <a:rPr lang="en-US" sz="900" dirty="0">
                <a:solidFill>
                  <a:srgbClr val="1B2A41"/>
                </a:solidFill>
              </a:rPr>
              <a:t>79. Johansson K, Neovius M, Lagerros YT, Harlid R, Rössner S, Granath F, et al. Effect of a very low energy diet on moderate and severe obstructive sleep apnoea in obese men: a randomised controlled trial. BMJ. 2009;339:b4609. PMID: 19959590. doi: 10.1136/bmj.b4609</a:t>
            </a:r>
            <a:endParaRPr lang="en-US" sz="900" dirty="0"/>
          </a:p>
          <a:p>
            <a:pPr indent="0" marL="0">
              <a:spcAft>
                <a:spcPts val="300"/>
              </a:spcAft>
              <a:buNone/>
            </a:pPr>
            <a:r>
              <a:rPr lang="en-US" sz="900" dirty="0">
                <a:solidFill>
                  <a:srgbClr val="1B2A41"/>
                </a:solidFill>
              </a:rPr>
              <a:t>80. Araghi MH, Chen YF, Jagielski A, Choudhury S, Banerjee D, Hussain S, et al. Effectiveness of lifestyle interventions on obstructive sleep apnea (OSA): systematic review and meta-analysis. Sleep. 2013;36(10):1553-62, 1562A-1562E. PMID: 24082315. doi: 10.5665/sleep.3056</a:t>
            </a:r>
            <a:endParaRPr lang="en-US" sz="900" dirty="0"/>
          </a:p>
          <a:p>
            <a:pPr indent="0" marL="0">
              <a:spcAft>
                <a:spcPts val="300"/>
              </a:spcAft>
              <a:buNone/>
            </a:pPr>
            <a:r>
              <a:rPr lang="en-US" sz="900" dirty="0">
                <a:solidFill>
                  <a:srgbClr val="1B2A41"/>
                </a:solidFill>
              </a:rPr>
              <a:t>81. Mitchell LJ, Davidson ZE, Bonham M, O'Driscoll DM, Hamilton GS, Truby H. Weight loss from lifestyle interventions and severity of sleep apnoea: a systematic review and meta-analysis. Sleep Med. 2014;15(10):1173-83. PMID: 25192671. doi: 10.1016/j.sleep.2014.05.012</a:t>
            </a:r>
            <a:endParaRPr lang="en-US" sz="900" dirty="0"/>
          </a:p>
        </p:txBody>
      </p:sp>
      <p:sp>
        <p:nvSpPr>
          <p:cNvPr id="4" name="refs-4-1"/>
          <p:cNvSpPr txBox="1"/>
          <p:nvPr/>
        </p:nvSpPr>
        <p:spPr>
          <a:xfrm>
            <a:off x="6172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82. Greenburg DL, Lettieri CJ, Eliasson AH. Effects of surgical weight loss on measures of obstructive sleep apnea: a meta-analysis. Am J Med. 2009;122(6):535-42. PMID: 19486716. doi: 10.1016/j.amjmed.2008.10.037</a:t>
            </a:r>
            <a:endParaRPr lang="en-US" sz="900" dirty="0"/>
          </a:p>
          <a:p>
            <a:pPr indent="0" marL="0">
              <a:spcAft>
                <a:spcPts val="300"/>
              </a:spcAft>
              <a:buNone/>
            </a:pPr>
            <a:r>
              <a:rPr lang="en-US" sz="900" dirty="0">
                <a:solidFill>
                  <a:srgbClr val="1B2A41"/>
                </a:solidFill>
              </a:rPr>
              <a:t>83. Dixon JB, Schachter LM, O'Brien PE, Jones K, Grima M, Lambert G, et al. Surgical vs conventional therapy for weight loss treatment of obstructive sleep apnea: a randomized controlled trial. JAMA. 2012;308(11):1142-9. PMID: 22990273. doi: 10.1001/2012.jama.11580</a:t>
            </a:r>
            <a:endParaRPr lang="en-US" sz="900" dirty="0"/>
          </a:p>
          <a:p>
            <a:pPr indent="0" marL="0">
              <a:spcAft>
                <a:spcPts val="300"/>
              </a:spcAft>
              <a:buNone/>
            </a:pPr>
            <a:r>
              <a:rPr lang="en-US" sz="900" dirty="0">
                <a:solidFill>
                  <a:srgbClr val="1B2A41"/>
                </a:solidFill>
              </a:rPr>
              <a:t>84. Blackman A, Foster GD, Zammit G, Rosenberg R, Aronne L, Wadden T, et al. Effect of liraglutide 3.0 mg in individuals with obesity and moderate or severe obstructive sleep apnea: the SCALE Sleep Apnea randomized clinical trial. Int J Obes (Lond). 2016;40(8):1310-9. PMID: 27005405. doi: 10.1038/ijo.2016.52</a:t>
            </a:r>
            <a:endParaRPr lang="en-US" sz="900" dirty="0"/>
          </a:p>
          <a:p>
            <a:pPr indent="0" marL="0">
              <a:spcAft>
                <a:spcPts val="300"/>
              </a:spcAft>
              <a:buNone/>
            </a:pPr>
            <a:r>
              <a:rPr lang="en-US" sz="900" dirty="0">
                <a:solidFill>
                  <a:srgbClr val="1B2A41"/>
                </a:solidFill>
              </a:rPr>
              <a:t>85. Malhotra A, Grunstein RR, Fietze I, Weaver TE, Redline S, Azarbarzin A, et al. Tirzepatide for the Treatment of Obstructive Sleep Apnea and Obesity. N Engl J Med. 2024;391(13):1193-1205. PMID: 38912654. doi: 10.1056/NEJMoa2404881</a:t>
            </a:r>
            <a:endParaRPr lang="en-US" sz="900" dirty="0"/>
          </a:p>
          <a:p>
            <a:pPr indent="0" marL="0">
              <a:spcAft>
                <a:spcPts val="300"/>
              </a:spcAft>
              <a:buNone/>
            </a:pPr>
            <a:r>
              <a:rPr lang="en-US" sz="900" dirty="0">
                <a:solidFill>
                  <a:srgbClr val="1B2A41"/>
                </a:solidFill>
              </a:rPr>
              <a:t>86. Malhotra A, Grunstein R, Azarbarzin A, Sands S, Somers VK, Aronne LJ, et al. Tirzepatide on obstructive sleep apnea-related cardiometabolic risk: secondary outcomes of the SURMOUNT-OSA randomized trial. Nat Med. 2026;32(2):653-659. PMID: 41540105. doi: 10.1038/s41591-025-04071-1</a:t>
            </a:r>
            <a:endParaRPr lang="en-US" sz="900" dirty="0"/>
          </a:p>
          <a:p>
            <a:pPr indent="0" marL="0">
              <a:spcAft>
                <a:spcPts val="300"/>
              </a:spcAft>
              <a:buNone/>
            </a:pPr>
            <a:r>
              <a:rPr lang="en-US" sz="900" dirty="0">
                <a:solidFill>
                  <a:srgbClr val="1B2A41"/>
                </a:solidFill>
              </a:rPr>
              <a:t>87. Malhotra A, Grunstein RR, Azarbarzin A, Sands SA, Dang X, Chakladar S, et al. Tirzepatide for sleep-disordered breathing in SURMOUNT-OSA: Time course and association with body weight. Sleep Med. 2025;136:106853. PMID: 41135142. doi: 10.1016/j.sleep.2025.106853</a:t>
            </a:r>
            <a:endParaRPr lang="en-US" sz="900" dirty="0"/>
          </a:p>
          <a:p>
            <a:pPr indent="0" marL="0">
              <a:spcAft>
                <a:spcPts val="300"/>
              </a:spcAft>
              <a:buNone/>
            </a:pPr>
            <a:r>
              <a:rPr lang="en-US" sz="900" dirty="0">
                <a:solidFill>
                  <a:srgbClr val="1B2A41"/>
                </a:solidFill>
              </a:rPr>
              <a:t>88. Grunstein RR, Somers VK, Azarbarzin A, Malhotra A, Sands SA, Lucey BP, et al. Retatrutide Once Weekly for Treatment of Obstructive Sleep Apnea. N Engl J Med. 2026 [online]. PMID: 42904878. doi: 10.1056/NEJMoa2611477</a:t>
            </a:r>
            <a:endParaRPr lang="en-US" sz="900" dirty="0"/>
          </a:p>
          <a:p>
            <a:pPr indent="0" marL="0">
              <a:spcAft>
                <a:spcPts val="300"/>
              </a:spcAft>
              <a:buNone/>
            </a:pPr>
            <a:r>
              <a:rPr lang="en-US" sz="900" dirty="0">
                <a:solidFill>
                  <a:srgbClr val="1B2A41"/>
                </a:solidFill>
              </a:rPr>
              <a:t>89. Carvalhal G, Mora MMR, Peralta-Jiménez GA, Ayasa L, Barrera V, Advani K, et al. GLP-1 receptor agonists for obstructive sleep apnea: a meta-analysis of randomized controlled trials. Sleep Breath. 2026;30(5). PMID: 42837024. doi: 10.1007/s11325-026-03826-5</a:t>
            </a:r>
            <a:endParaRPr lang="en-US" sz="900" dirty="0"/>
          </a:p>
          <a:p>
            <a:pPr indent="0" marL="0">
              <a:spcAft>
                <a:spcPts val="300"/>
              </a:spcAft>
              <a:buNone/>
            </a:pPr>
            <a:r>
              <a:rPr lang="en-US" sz="900" dirty="0">
                <a:solidFill>
                  <a:srgbClr val="1B2A41"/>
                </a:solidFill>
              </a:rPr>
              <a:t>90. Pack A, Grunstein R, Mokhlesi B, Ryan S, Schwab R, Gozal D. What will the impact be of use of tirzepatide in patients with obstructive sleep apnea (OSA)?. Sleep. 2025;48(6). PMID: 40184186. doi: 10.1093/sleep/zsaf045</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Literatura (6/7) – Vancouver, PMID / DOI</a:t>
            </a:r>
            <a:endParaRPr lang="en-US" sz="2500" dirty="0"/>
          </a:p>
        </p:txBody>
      </p:sp>
      <p:sp>
        <p:nvSpPr>
          <p:cNvPr id="3" name="refs-5-0"/>
          <p:cNvSpPr txBox="1"/>
          <p:nvPr/>
        </p:nvSpPr>
        <p:spPr>
          <a:xfrm>
            <a:off x="457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91. McEvoy RD, Antic NA, Heeley E, Luo Y, Ou Q, Zhang X, et al. CPAP for Prevention of Cardiovascular Events in Obstructive Sleep Apnea. N Engl J Med. 2016;375(10):919-31. PMID: 27571048. doi: 10.1056/NEJMoa1606599</a:t>
            </a:r>
            <a:endParaRPr lang="en-US" sz="900" dirty="0"/>
          </a:p>
          <a:p>
            <a:pPr indent="0" marL="0">
              <a:spcAft>
                <a:spcPts val="300"/>
              </a:spcAft>
              <a:buNone/>
            </a:pPr>
            <a:r>
              <a:rPr lang="en-US" sz="900" dirty="0">
                <a:solidFill>
                  <a:srgbClr val="1B2A41"/>
                </a:solidFill>
              </a:rPr>
              <a:t>92. Sánchez-de-la-Torre M, Sánchez-de-la-Torre A, Bertran S, Abad J, Duran-Cantolla J, Cabriada V, et al. Effect of obstructive sleep apnoea and its treatment with continuous positive airway pressure on the prevalence of cardiovascular events in patients with acute coronary syndrome (ISAACC study): a randomised controlled trial. Lancet Respir Med. 2019;8(4):359-367. PMID: 31839558. doi: 10.1016/S2213-2600(19)30271-1</a:t>
            </a:r>
            <a:endParaRPr lang="en-US" sz="900" dirty="0"/>
          </a:p>
          <a:p>
            <a:pPr indent="0" marL="0">
              <a:spcAft>
                <a:spcPts val="300"/>
              </a:spcAft>
              <a:buNone/>
            </a:pPr>
            <a:r>
              <a:rPr lang="en-US" sz="900" dirty="0">
                <a:solidFill>
                  <a:srgbClr val="1B2A41"/>
                </a:solidFill>
              </a:rPr>
              <a:t>93. Peker Y, Glantz H, Eulenburg C, Wegscheider K, Herlitz J, Thunström E. Effect of Positive Airway Pressure on Cardiovascular Outcomes in Coronary Artery Disease Patients with Nonsleepy Obstructive Sleep Apnea. The RICCADSA Randomized Controlled Trial. Am J Respir Crit Care Med. 2016;194(5):613-20. PMID: 26914592. doi: 10.1164/rccm.201601-0088OC</a:t>
            </a:r>
            <a:endParaRPr lang="en-US" sz="900" dirty="0"/>
          </a:p>
          <a:p>
            <a:pPr indent="0" marL="0">
              <a:spcAft>
                <a:spcPts val="300"/>
              </a:spcAft>
              <a:buNone/>
            </a:pPr>
            <a:r>
              <a:rPr lang="en-US" sz="900" dirty="0">
                <a:solidFill>
                  <a:srgbClr val="1B2A41"/>
                </a:solidFill>
              </a:rPr>
              <a:t>94. Yu J, Zhou Z, McEvoy RD, Anderson CS, Rodgers A, Perkovic V, et al. Association of Positive Airway Pressure With Cardiovascular Events and Death in Adults With Sleep Apnea: A Systematic Review and Meta-analysis. JAMA. 2017;318(2):156-166. PMID: 28697252. doi: 10.1001/jama.2017.7967</a:t>
            </a:r>
            <a:endParaRPr lang="en-US" sz="900" dirty="0"/>
          </a:p>
          <a:p>
            <a:pPr indent="0" marL="0">
              <a:spcAft>
                <a:spcPts val="300"/>
              </a:spcAft>
              <a:buNone/>
            </a:pPr>
            <a:r>
              <a:rPr lang="en-US" sz="900" dirty="0">
                <a:solidFill>
                  <a:srgbClr val="1B2A41"/>
                </a:solidFill>
              </a:rPr>
              <a:t>95. Khan SU, Duran CA, Rahman H, Lekkala M, Saleem MA, Kaluski E. A meta-analysis of continuous positive airway pressure therapy in prevention of cardiovascular events in patients with obstructive sleep apnoea. Eur Heart J. 2018;39(24):2291-2297. PMID: 29069399. doi: 10.1093/eurheartj/ehx597</a:t>
            </a:r>
            <a:endParaRPr lang="en-US" sz="900" dirty="0"/>
          </a:p>
          <a:p>
            <a:pPr indent="0" marL="0">
              <a:spcAft>
                <a:spcPts val="300"/>
              </a:spcAft>
              <a:buNone/>
            </a:pPr>
            <a:r>
              <a:rPr lang="en-US" sz="900" dirty="0">
                <a:solidFill>
                  <a:srgbClr val="1B2A41"/>
                </a:solidFill>
              </a:rPr>
              <a:t>96. Labarca G, Dreyse J, Drake L, Jorquera J, Barbe F. Efficacy of continuous positive airway pressure (CPAP) in the prevention of cardiovascular events in patients with obstructive sleep apnea: Systematic review and meta-analysis. Sleep Med Rev. 2020;52:101312. PMID: 32248026. doi: 10.1016/j.smrv.2020.101312</a:t>
            </a:r>
            <a:endParaRPr lang="en-US" sz="900" dirty="0"/>
          </a:p>
          <a:p>
            <a:pPr indent="0" marL="0">
              <a:spcAft>
                <a:spcPts val="300"/>
              </a:spcAft>
              <a:buNone/>
            </a:pPr>
            <a:r>
              <a:rPr lang="en-US" sz="900" dirty="0">
                <a:solidFill>
                  <a:srgbClr val="1B2A41"/>
                </a:solidFill>
              </a:rPr>
              <a:t>97. Sánchez-de-la-Torre M, Gracia-Lavedan E, Benitez ID, Sánchez-de-la-Torre A, Moncusí-Moix A, Torres G, et al. Adherence to CPAP Treatment and the Risk of Recurrent Cardiovascular Events: A Meta-Analysis. JAMA. 2023;330(13):1255-1265. PMID: 37787793. doi: 10.1001/jama.2023.17465</a:t>
            </a:r>
            <a:endParaRPr lang="en-US" sz="900" dirty="0"/>
          </a:p>
          <a:p>
            <a:pPr indent="0" marL="0">
              <a:spcAft>
                <a:spcPts val="300"/>
              </a:spcAft>
              <a:buNone/>
            </a:pPr>
            <a:r>
              <a:rPr lang="en-US" sz="900" dirty="0">
                <a:solidFill>
                  <a:srgbClr val="1B2A41"/>
                </a:solidFill>
              </a:rPr>
              <a:t>98. Almuzainy S, Lemine M, Aljubeh R, Alilo A, Altaher M, Almuzainy M, et al. Role of Continuous Positive Airway Pressure in the Prevention of Cardiovascular Events in Patients With Obstructive Sleep Apnea: A Systematic Review and Meta-analysis of Randomized Clinical Trials. J Saudi Heart Assoc. 2026;38(1):8. PMID: 42110829. doi: 10.37616/2212-5043.1479</a:t>
            </a:r>
            <a:endParaRPr lang="en-US" sz="900" dirty="0"/>
          </a:p>
          <a:p>
            <a:pPr indent="0" marL="0">
              <a:spcAft>
                <a:spcPts val="300"/>
              </a:spcAft>
              <a:buNone/>
            </a:pPr>
            <a:r>
              <a:rPr lang="en-US" sz="900" dirty="0">
                <a:solidFill>
                  <a:srgbClr val="1B2A41"/>
                </a:solidFill>
              </a:rPr>
              <a:t>99. Marin JM, Carrizo SJ, Vicente E, Agusti AG. Long-term cardiovascular outcomes in men with obstructive sleep apnoea-hypopnoea with or without treatment with continuous positive airway pressure: an observational study. Lancet. 2005;365(9464):1046-53. PMID: 15781100. doi: 10.1016/S0140-6736(05)71141-7</a:t>
            </a:r>
            <a:endParaRPr lang="en-US" sz="900" dirty="0"/>
          </a:p>
        </p:txBody>
      </p:sp>
      <p:sp>
        <p:nvSpPr>
          <p:cNvPr id="4" name="refs-5-1"/>
          <p:cNvSpPr txBox="1"/>
          <p:nvPr/>
        </p:nvSpPr>
        <p:spPr>
          <a:xfrm>
            <a:off x="6172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100. Gervès-Pinquié C, Bailly S, Goupil F, Pigeanne T, Launois S, Leclair-Visonneau L, et al. Positive Airway Pressure Adherence, Mortality, and Cardiovascular Events in Patients with Sleep Apnea. Am J Respir Crit Care Med. 2022;206(11):1393-1404. PMID: 35816570. doi: 10.1164/rccm.202202-0366OC</a:t>
            </a:r>
            <a:endParaRPr lang="en-US" sz="900" dirty="0"/>
          </a:p>
          <a:p>
            <a:pPr indent="0" marL="0">
              <a:spcAft>
                <a:spcPts val="300"/>
              </a:spcAft>
              <a:buNone/>
            </a:pPr>
            <a:r>
              <a:rPr lang="en-US" sz="900" dirty="0">
                <a:solidFill>
                  <a:srgbClr val="1B2A41"/>
                </a:solidFill>
              </a:rPr>
              <a:t>101. Reynor A, McArdle N, Shenoy B, Dhaliwal SS, Rea SC, Walsh J, et al. Continuous positive airway pressure and adverse cardiovascular events in obstructive sleep apnea: are participants of randomized trials representative of sleep clinic patients?. Sleep. 2022;45(4). PMID: 34739082. doi: 10.1093/sleep/zsab264</a:t>
            </a:r>
            <a:endParaRPr lang="en-US" sz="900" dirty="0"/>
          </a:p>
          <a:p>
            <a:pPr indent="0" marL="0">
              <a:spcAft>
                <a:spcPts val="300"/>
              </a:spcAft>
              <a:buNone/>
            </a:pPr>
            <a:r>
              <a:rPr lang="en-US" sz="900" dirty="0">
                <a:solidFill>
                  <a:srgbClr val="1B2A41"/>
                </a:solidFill>
              </a:rPr>
              <a:t>102. Mazzotti DR, Keenan BT, Lim DC, Gottlieb DJ, Kim J, Pack AI. Symptom Subtypes of Obstructive Sleep Apnea Predict Incidence of Cardiovascular Outcomes. Am J Respir Crit Care Med. 2019;200(4):493-506. PMID: 30764637. doi: 10.1164/rccm.201808-1509OC</a:t>
            </a:r>
            <a:endParaRPr lang="en-US" sz="900" dirty="0"/>
          </a:p>
          <a:p>
            <a:pPr indent="0" marL="0">
              <a:spcAft>
                <a:spcPts val="300"/>
              </a:spcAft>
              <a:buNone/>
            </a:pPr>
            <a:r>
              <a:rPr lang="en-US" sz="900" dirty="0">
                <a:solidFill>
                  <a:srgbClr val="1B2A41"/>
                </a:solidFill>
              </a:rPr>
              <a:t>103. Trzepizur W, Blanchard M, Ganem T, Balusson F, Feuilloy M, Girault JM, et al. Sleep Apnea-Specific Hypoxic Burden, Symptom Subtypes, and Risk of Cardiovascular Events and All-Cause Mortality. Am J Respir Crit Care Med. 2022;205(1):108-117. PMID: 34648724. doi: 10.1164/rccm.202105-1274OC</a:t>
            </a:r>
            <a:endParaRPr lang="en-US" sz="900" dirty="0"/>
          </a:p>
          <a:p>
            <a:pPr indent="0" marL="0">
              <a:spcAft>
                <a:spcPts val="300"/>
              </a:spcAft>
              <a:buNone/>
            </a:pPr>
            <a:r>
              <a:rPr lang="en-US" sz="900" dirty="0">
                <a:solidFill>
                  <a:srgbClr val="1B2A41"/>
                </a:solidFill>
              </a:rPr>
              <a:t>104. Pack AI, Magalang UJ, Singh B, Kuna ST, Keenan BT, Maislin G. Randomized clinical trials of cardiovascular disease in obstructive sleep apnea: understanding and overcoming bias. Sleep. 2021;44(2):zsaa229. PMID: 33165616. doi: 10.1093/sleep/zsaa229</a:t>
            </a:r>
            <a:endParaRPr lang="en-US" sz="900" dirty="0"/>
          </a:p>
          <a:p>
            <a:pPr indent="0" marL="0">
              <a:spcAft>
                <a:spcPts val="300"/>
              </a:spcAft>
              <a:buNone/>
            </a:pPr>
            <a:r>
              <a:rPr lang="en-US" sz="900" dirty="0">
                <a:solidFill>
                  <a:srgbClr val="1B2A41"/>
                </a:solidFill>
              </a:rPr>
              <a:t>105. Patil SP, Ayappa IA, Caples SM, Kimoff RJ, Patel SR, Harrod CG. Treatment of Adult Obstructive Sleep Apnea with Positive Airway Pressure: An American Academy of Sleep Medicine Clinical Practice Guideline. J Clin Sleep Med. 2019;15(2):335-343. PMID: 30736887. doi: 10.5664/jcsm.7640</a:t>
            </a:r>
            <a:endParaRPr lang="en-US" sz="900" dirty="0"/>
          </a:p>
          <a:p>
            <a:pPr indent="0" marL="0">
              <a:spcAft>
                <a:spcPts val="300"/>
              </a:spcAft>
              <a:buNone/>
            </a:pPr>
            <a:r>
              <a:rPr lang="en-US" sz="900" dirty="0">
                <a:solidFill>
                  <a:srgbClr val="1B2A41"/>
                </a:solidFill>
              </a:rPr>
              <a:t>106. McEvoy JW, McCarthy CP, Bruno RM, Brouwers S, Canavan MD, Ceconi C, et al. 2024 ESC Guidelines for the management of elevated blood pressure and hypertension. Eur Heart J. 2024;45(38):3912-4018. PMID: 39210715. doi: 10.1093/eurheartj/ehae178</a:t>
            </a:r>
            <a:endParaRPr lang="en-US" sz="900" dirty="0"/>
          </a:p>
          <a:p>
            <a:pPr indent="0" marL="0">
              <a:spcAft>
                <a:spcPts val="300"/>
              </a:spcAft>
              <a:buNone/>
            </a:pPr>
            <a:r>
              <a:rPr lang="en-US" sz="900" dirty="0">
                <a:solidFill>
                  <a:srgbClr val="1B2A41"/>
                </a:solidFill>
              </a:rPr>
              <a:t>107. Van Gelder IC, Rienstra M, Bunting KV, Casado-Arroyo R, Caso V, Crijns HJGM, et al. 2024 ESC Guidelines for the management of atrial fibrillation developed in collaboration with the European Association for Cardio-Thoracic Surgery (EACTS). Eur Heart J. 2024;45(36):3314-3414. PMID: 39210723. doi: 10.1093/eurheartj/ehae176</a:t>
            </a:r>
            <a:endParaRPr lang="en-US" sz="900" dirty="0"/>
          </a:p>
          <a:p>
            <a:pPr indent="0" marL="0">
              <a:spcAft>
                <a:spcPts val="300"/>
              </a:spcAft>
              <a:buNone/>
            </a:pPr>
            <a:r>
              <a:rPr lang="en-US" sz="900" dirty="0">
                <a:solidFill>
                  <a:srgbClr val="1B2A41"/>
                </a:solidFill>
              </a:rPr>
              <a:t>108. American Diabetes Association Professional Practice Committee. 4. Comprehensive Medical Evaluation and Assessment of Comorbidities: Standards of Care in Diabetes-2026. Diabetes Care. 2026;49(Supplement_1):S61-S88. PMID: 41358897. doi: 10.2337/dc26-S004</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138160" cy="868680"/>
          </a:xfrm>
          <a:prstGeom prst="rect">
            <a:avLst/>
          </a:prstGeom>
          <a:noFill/>
          <a:ln/>
        </p:spPr>
        <p:txBody>
          <a:bodyPr wrap="square" lIns="0" tIns="0" rIns="0" bIns="0" rtlCol="0" anchor="ctr"/>
          <a:lstStyle/>
          <a:p>
            <a:pPr algn="l" indent="0" marL="0">
              <a:buNone/>
            </a:pPr>
            <a:r>
              <a:rPr lang="en-US" sz="2500" b="1" dirty="0">
                <a:solidFill>
                  <a:srgbClr val="1B2A41"/>
                </a:solidFill>
              </a:rPr>
              <a:t>Literatura (7/7) – Vancouver, PMID / DOI</a:t>
            </a:r>
            <a:endParaRPr lang="en-US" sz="2500" dirty="0"/>
          </a:p>
        </p:txBody>
      </p:sp>
      <p:sp>
        <p:nvSpPr>
          <p:cNvPr id="3" name="refs-6-0"/>
          <p:cNvSpPr txBox="1"/>
          <p:nvPr/>
        </p:nvSpPr>
        <p:spPr>
          <a:xfrm>
            <a:off x="457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109. Chung F, Yegneswaran B, Liao P, Chung SA, Vairavanathan S, Islam S, et al. STOP questionnaire: a tool to screen patients for obstructive sleep apnea. Anesthesiology. 2008;108(5):812-21. PMID: 18431116. doi: 10.1097/ALN.0b013e31816d83e4</a:t>
            </a:r>
            <a:endParaRPr lang="en-US" sz="900" dirty="0"/>
          </a:p>
          <a:p>
            <a:pPr indent="0" marL="0">
              <a:spcAft>
                <a:spcPts val="300"/>
              </a:spcAft>
              <a:buNone/>
            </a:pPr>
            <a:r>
              <a:rPr lang="en-US" sz="900" dirty="0">
                <a:solidFill>
                  <a:srgbClr val="1B2A41"/>
                </a:solidFill>
              </a:rPr>
              <a:t>110. Chung F, Abdullah HR, Liao P. STOP-Bang Questionnaire: A Practical Approach to Screen for Obstructive Sleep Apnea. Chest. 2016;149(3):631-8. PMID: 26378880. doi: 10.1378/chest.15-0903</a:t>
            </a:r>
            <a:endParaRPr lang="en-US" sz="900" dirty="0"/>
          </a:p>
          <a:p>
            <a:pPr indent="0" marL="0">
              <a:spcAft>
                <a:spcPts val="300"/>
              </a:spcAft>
              <a:buNone/>
            </a:pPr>
            <a:r>
              <a:rPr lang="en-US" sz="900" dirty="0">
                <a:solidFill>
                  <a:srgbClr val="1B2A41"/>
                </a:solidFill>
              </a:rPr>
              <a:t>111. Nagappa M, Liao P, Wong J, Auckley D, Ramachandran SK, Memtsoudis S, et al. Validation of the STOP-Bang Questionnaire as a Screening Tool for Obstructive Sleep Apnea among Different Populations: A Systematic Review and Meta-Analysis. PLoS One. 2015;10(12):e0143697. PMID: 26658438. doi: 10.1371/journal.pone.0143697</a:t>
            </a:r>
            <a:endParaRPr lang="en-US" sz="900" dirty="0"/>
          </a:p>
        </p:txBody>
      </p:sp>
      <p:sp>
        <p:nvSpPr>
          <p:cNvPr id="4" name="refs-6-1"/>
          <p:cNvSpPr txBox="1"/>
          <p:nvPr/>
        </p:nvSpPr>
        <p:spPr>
          <a:xfrm>
            <a:off x="6172200" y="1234440"/>
            <a:ext cx="5577840" cy="5120640"/>
          </a:xfrm>
          <a:prstGeom prst="rect">
            <a:avLst/>
          </a:prstGeom>
          <a:noFill/>
          <a:ln/>
        </p:spPr>
        <p:txBody>
          <a:bodyPr wrap="square" lIns="0" tIns="0" rIns="0" bIns="0" rtlCol="0" anchor="t"/>
          <a:lstStyle/>
          <a:p>
            <a:pPr indent="0" marL="0">
              <a:spcAft>
                <a:spcPts val="300"/>
              </a:spcAft>
              <a:buNone/>
            </a:pPr>
            <a:r>
              <a:rPr lang="en-US" sz="900" dirty="0">
                <a:solidFill>
                  <a:srgbClr val="1B2A41"/>
                </a:solidFill>
              </a:rPr>
              <a:t>112. Kapur VK, Auckley DH, Chowdhuri S, Kuhlmann DC, Mehra R, Ramar K, et al. Clinical Practice Guideline for Diagnostic Testing for Adult Obstructive Sleep Apnea: An American Academy of Sleep Medicine Clinical Practice Guideline. J Clin Sleep Med. 2017;13(3):479-504. PMID: 28162150. doi: 10.5664/jcsm.6506</a:t>
            </a:r>
            <a:endParaRPr lang="en-US" sz="900" dirty="0"/>
          </a:p>
          <a:p>
            <a:pPr indent="0" marL="0">
              <a:spcAft>
                <a:spcPts val="300"/>
              </a:spcAft>
              <a:buNone/>
            </a:pPr>
            <a:r>
              <a:rPr lang="en-US" sz="900" dirty="0">
                <a:solidFill>
                  <a:srgbClr val="1B2A41"/>
                </a:solidFill>
              </a:rPr>
              <a:t>113. Johns MW. A new method for measuring daytime sleepiness: the Epworth sleepiness scale. Sleep. 1991;14(6):540-5. PMID: 1798888. doi: 10.1093/sleep/14.6.540</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SA IR Kardiologie">
  <a:themeElements>
    <a:clrScheme name="OSA IR Kardiologie">
      <a:dk1>
        <a:srgbClr val="1B2A41"/>
      </a:dk1>
      <a:lt1>
        <a:srgbClr val="FFFFFF"/>
      </a:lt1>
      <a:dk2>
        <a:srgbClr val="3D5A80"/>
      </a:dk2>
      <a:lt2>
        <a:srgbClr val="EEF2F7"/>
      </a:lt2>
      <a:accent1>
        <a:srgbClr val="C8553D"/>
      </a:accent1>
      <a:accent2>
        <a:srgbClr val="2A9D8F"/>
      </a:accent2>
      <a:accent3>
        <a:srgbClr val="E9C46A"/>
      </a:accent3>
      <a:accent4>
        <a:srgbClr val="8D99AE"/>
      </a:accent4>
      <a:accent5>
        <a:srgbClr val="6B4C9A"/>
      </a:accent5>
      <a:accent6>
        <a:srgbClr val="264653"/>
      </a:accent6>
      <a:hlink>
        <a:srgbClr val="2A9D8F"/>
      </a:hlink>
      <a:folHlink>
        <a:srgbClr val="6B4C9A"/>
      </a:folHlink>
    </a:clrScheme>
    <a:fontScheme name="OSA IR Kardiologi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OSA a inzulinová rezistence: mechanismy, evidence a klinické důsledky pro kardiologa</dc:title>
  <dc:subject>PptxGenJS Presentation</dc:subject>
  <dc:creator>Centrum preventivní medicíny</dc:creator>
  <cp:lastModifiedBy>Centrum preventivní medicíny</cp:lastModifiedBy>
  <cp:revision>1</cp:revision>
  <dcterms:created xsi:type="dcterms:W3CDTF">2026-10-25T20:22:33Z</dcterms:created>
  <dcterms:modified xsi:type="dcterms:W3CDTF">2026-10-25T20:22:33Z</dcterms:modified>
</cp:coreProperties>
</file>